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B2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9C1D26"/>
          </a:solidFill>
          <a:ln/>
        </p:spPr>
      </p:sp>
      <p:sp>
        <p:nvSpPr>
          <p:cNvPr id="3" name="Shape 1"/>
          <p:cNvSpPr/>
          <p:nvPr/>
        </p:nvSpPr>
        <p:spPr>
          <a:xfrm>
            <a:off x="0" y="5065776"/>
            <a:ext cx="9144000" cy="73152"/>
          </a:xfrm>
          <a:prstGeom prst="rect">
            <a:avLst/>
          </a:prstGeom>
          <a:solidFill>
            <a:srgbClr val="9C1D26"/>
          </a:solidFill>
          <a:ln/>
        </p:spPr>
      </p:sp>
      <p:sp>
        <p:nvSpPr>
          <p:cNvPr id="4" name="Text 2"/>
          <p:cNvSpPr/>
          <p:nvPr/>
        </p:nvSpPr>
        <p:spPr>
          <a:xfrm>
            <a:off x="731520" y="365760"/>
            <a:ext cx="7315200" cy="731520"/>
          </a:xfrm>
          <a:prstGeom prst="rect">
            <a:avLst/>
          </a:prstGeom>
          <a:noFill/>
          <a:ln/>
        </p:spPr>
        <p:txBody>
          <a:bodyPr wrap="square" rtlCol="0" anchor="ctr"/>
          <a:lstStyle/>
          <a:p>
            <a:pPr indent="0" marL="0">
              <a:buNone/>
            </a:pPr>
            <a:r>
              <a:rPr lang="en-US" sz="1400" b="1" spc="600" kern="0" dirty="0">
                <a:solidFill>
                  <a:srgbClr val="9C1D26"/>
                </a:solidFill>
              </a:rPr>
              <a:t>IDFC FIRST Bank</a:t>
            </a:r>
            <a:endParaRPr lang="en-US" sz="1400" dirty="0"/>
          </a:p>
          <a:p>
            <a:pPr indent="0" marL="0">
              <a:buNone/>
            </a:pPr>
            <a:r>
              <a:rPr lang="en-US" sz="1000" dirty="0">
                <a:solidFill>
                  <a:srgbClr val="94A3B8"/>
                </a:solidFill>
              </a:rPr>
              <a:t>Technology &amp; Digital Banking Division</a:t>
            </a:r>
            <a:endParaRPr lang="en-US" sz="1400" dirty="0"/>
          </a:p>
        </p:txBody>
      </p:sp>
      <p:sp>
        <p:nvSpPr>
          <p:cNvPr id="5" name="Text 3"/>
          <p:cNvSpPr/>
          <p:nvPr/>
        </p:nvSpPr>
        <p:spPr>
          <a:xfrm>
            <a:off x="731520" y="1554480"/>
            <a:ext cx="7315200" cy="914400"/>
          </a:xfrm>
          <a:prstGeom prst="rect">
            <a:avLst/>
          </a:prstGeom>
          <a:noFill/>
          <a:ln/>
        </p:spPr>
        <p:txBody>
          <a:bodyPr wrap="square" rtlCol="0" anchor="ctr"/>
          <a:lstStyle/>
          <a:p>
            <a:pPr indent="0" marL="0">
              <a:buNone/>
            </a:pPr>
            <a:r>
              <a:rPr lang="en-US" sz="4200" b="1" dirty="0">
                <a:solidFill>
                  <a:srgbClr val="FFFFFF"/>
                </a:solidFill>
                <a:latin typeface="Arial" pitchFamily="34" charset="0"/>
                <a:ea typeface="Arial" pitchFamily="34" charset="-122"/>
                <a:cs typeface="Arial" pitchFamily="34" charset="-120"/>
              </a:rPr>
              <a:t>AI Agent Platform</a:t>
            </a:r>
            <a:endParaRPr lang="en-US" sz="4200" dirty="0"/>
          </a:p>
        </p:txBody>
      </p:sp>
      <p:sp>
        <p:nvSpPr>
          <p:cNvPr id="6" name="Text 4"/>
          <p:cNvSpPr/>
          <p:nvPr/>
        </p:nvSpPr>
        <p:spPr>
          <a:xfrm>
            <a:off x="731520" y="2377440"/>
            <a:ext cx="7315200" cy="457200"/>
          </a:xfrm>
          <a:prstGeom prst="rect">
            <a:avLst/>
          </a:prstGeom>
          <a:noFill/>
          <a:ln/>
        </p:spPr>
        <p:txBody>
          <a:bodyPr wrap="square" rtlCol="0" anchor="ctr"/>
          <a:lstStyle/>
          <a:p>
            <a:pPr indent="0" marL="0">
              <a:buNone/>
            </a:pPr>
            <a:r>
              <a:rPr lang="en-US" sz="2000" dirty="0">
                <a:solidFill>
                  <a:srgbClr val="94A3B8"/>
                </a:solidFill>
              </a:rPr>
              <a:t>Safe. Governed. Auditable. Feasible.</a:t>
            </a:r>
            <a:endParaRPr lang="en-US" sz="2000" dirty="0"/>
          </a:p>
        </p:txBody>
      </p:sp>
      <p:sp>
        <p:nvSpPr>
          <p:cNvPr id="7" name="Text 5"/>
          <p:cNvSpPr/>
          <p:nvPr/>
        </p:nvSpPr>
        <p:spPr>
          <a:xfrm>
            <a:off x="731520" y="2926080"/>
            <a:ext cx="6400800" cy="457200"/>
          </a:xfrm>
          <a:prstGeom prst="rect">
            <a:avLst/>
          </a:prstGeom>
          <a:noFill/>
          <a:ln/>
        </p:spPr>
        <p:txBody>
          <a:bodyPr wrap="square" rtlCol="0" anchor="ctr"/>
          <a:lstStyle/>
          <a:p>
            <a:pPr indent="0" marL="0">
              <a:buNone/>
            </a:pPr>
            <a:r>
              <a:rPr lang="en-US" sz="1200" dirty="0">
                <a:solidFill>
                  <a:srgbClr val="666666"/>
                </a:solidFill>
              </a:rPr>
              <a:t>How AI agents can serve customers without compromising compliance, security, or ethics</a:t>
            </a:r>
            <a:endParaRPr lang="en-US" sz="1200" dirty="0"/>
          </a:p>
        </p:txBody>
      </p:sp>
      <p:sp>
        <p:nvSpPr>
          <p:cNvPr id="8" name="Shape 6"/>
          <p:cNvSpPr/>
          <p:nvPr/>
        </p:nvSpPr>
        <p:spPr>
          <a:xfrm>
            <a:off x="731520" y="3474720"/>
            <a:ext cx="1097280" cy="36576"/>
          </a:xfrm>
          <a:prstGeom prst="rect">
            <a:avLst/>
          </a:prstGeom>
          <a:solidFill>
            <a:srgbClr val="9C1D26"/>
          </a:solidFill>
          <a:ln/>
        </p:spPr>
      </p:sp>
      <p:sp>
        <p:nvSpPr>
          <p:cNvPr id="9" name="Text 7"/>
          <p:cNvSpPr/>
          <p:nvPr/>
        </p:nvSpPr>
        <p:spPr>
          <a:xfrm>
            <a:off x="731520" y="4389120"/>
            <a:ext cx="5486400" cy="365760"/>
          </a:xfrm>
          <a:prstGeom prst="rect">
            <a:avLst/>
          </a:prstGeom>
          <a:noFill/>
          <a:ln/>
        </p:spPr>
        <p:txBody>
          <a:bodyPr wrap="square" rtlCol="0" anchor="ctr"/>
          <a:lstStyle/>
          <a:p>
            <a:pPr indent="0" marL="0">
              <a:buNone/>
            </a:pPr>
            <a:r>
              <a:rPr lang="en-US" sz="1000" dirty="0">
                <a:solidFill>
                  <a:srgbClr val="555555"/>
                </a:solidFill>
              </a:rPr>
              <a:t>Management Presentation  |  March 2026  |  Confidential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1B2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9C1D26"/>
          </a:solidFill>
          <a:ln/>
        </p:spPr>
      </p:sp>
      <p:sp>
        <p:nvSpPr>
          <p:cNvPr id="3" name="Text 1"/>
          <p:cNvSpPr/>
          <p:nvPr/>
        </p:nvSpPr>
        <p:spPr>
          <a:xfrm>
            <a:off x="7132320" y="137160"/>
            <a:ext cx="1828800" cy="274320"/>
          </a:xfrm>
          <a:prstGeom prst="rect">
            <a:avLst/>
          </a:prstGeom>
          <a:noFill/>
          <a:ln/>
        </p:spPr>
        <p:txBody>
          <a:bodyPr wrap="square" rtlCol="0" anchor="ctr"/>
          <a:lstStyle/>
          <a:p>
            <a:pPr algn="r" indent="0" marL="0">
              <a:buNone/>
            </a:pPr>
            <a:r>
              <a:rPr lang="en-US" sz="900" b="1" dirty="0">
                <a:solidFill>
                  <a:srgbClr val="9C1D26"/>
                </a:solidFill>
              </a:rPr>
              <a:t>IDFC </a:t>
            </a:r>
            <a:pPr algn="r" indent="0" marL="0">
              <a:buNone/>
            </a:pPr>
            <a:r>
              <a:rPr lang="en-US" sz="900" b="1" dirty="0">
                <a:solidFill>
                  <a:srgbClr val="9C1D26"/>
                </a:solidFill>
              </a:rPr>
              <a:t>FIRST </a:t>
            </a:r>
            <a:pPr algn="r" indent="0" marL="0">
              <a:buNone/>
            </a:pPr>
            <a:r>
              <a:rPr lang="en-US" sz="900" dirty="0">
                <a:solidFill>
                  <a:srgbClr val="888888"/>
                </a:solidFill>
              </a:rPr>
              <a:t>Bank</a:t>
            </a:r>
            <a:endParaRPr lang="en-US" sz="900" dirty="0"/>
          </a:p>
        </p:txBody>
      </p:sp>
      <p:sp>
        <p:nvSpPr>
          <p:cNvPr id="4" name="Text 2"/>
          <p:cNvSpPr/>
          <p:nvPr/>
        </p:nvSpPr>
        <p:spPr>
          <a:xfrm>
            <a:off x="8503920" y="4754880"/>
            <a:ext cx="457200" cy="274320"/>
          </a:xfrm>
          <a:prstGeom prst="rect">
            <a:avLst/>
          </a:prstGeom>
          <a:noFill/>
          <a:ln/>
        </p:spPr>
        <p:txBody>
          <a:bodyPr wrap="square" rtlCol="0" anchor="ctr"/>
          <a:lstStyle/>
          <a:p>
            <a:pPr algn="r" indent="0" marL="0">
              <a:buNone/>
            </a:pPr>
            <a:r>
              <a:rPr lang="en-US" sz="800" dirty="0">
                <a:solidFill>
                  <a:srgbClr val="555555"/>
                </a:solidFill>
              </a:rPr>
              <a:t>1</a:t>
            </a:r>
            <a:endParaRPr lang="en-US" sz="800" dirty="0"/>
          </a:p>
        </p:txBody>
      </p:sp>
      <p:sp>
        <p:nvSpPr>
          <p:cNvPr id="5" name="Text 3"/>
          <p:cNvSpPr/>
          <p:nvPr/>
        </p:nvSpPr>
        <p:spPr>
          <a:xfrm>
            <a:off x="548640" y="365760"/>
            <a:ext cx="7315200" cy="457200"/>
          </a:xfrm>
          <a:prstGeom prst="rect">
            <a:avLst/>
          </a:prstGeom>
          <a:noFill/>
          <a:ln/>
        </p:spPr>
        <p:txBody>
          <a:bodyPr wrap="square" rtlCol="0" anchor="ctr"/>
          <a:lstStyle/>
          <a:p>
            <a:pPr indent="0" marL="0">
              <a:buNone/>
            </a:pPr>
            <a:r>
              <a:rPr lang="en-US" sz="2800" b="1" dirty="0">
                <a:solidFill>
                  <a:srgbClr val="FFFFFF"/>
                </a:solidFill>
              </a:rPr>
              <a:t>The Real Question</a:t>
            </a:r>
            <a:endParaRPr lang="en-US" sz="2800" dirty="0"/>
          </a:p>
        </p:txBody>
      </p:sp>
      <p:sp>
        <p:nvSpPr>
          <p:cNvPr id="6" name="Shape 4"/>
          <p:cNvSpPr/>
          <p:nvPr/>
        </p:nvSpPr>
        <p:spPr>
          <a:xfrm>
            <a:off x="548640" y="804672"/>
            <a:ext cx="731520" cy="36576"/>
          </a:xfrm>
          <a:prstGeom prst="rect">
            <a:avLst/>
          </a:prstGeom>
          <a:solidFill>
            <a:srgbClr val="9C1D26"/>
          </a:solidFill>
          <a:ln/>
        </p:spPr>
      </p:sp>
      <p:sp>
        <p:nvSpPr>
          <p:cNvPr id="7" name="Shape 5"/>
          <p:cNvSpPr/>
          <p:nvPr/>
        </p:nvSpPr>
        <p:spPr>
          <a:xfrm>
            <a:off x="457200" y="1097280"/>
            <a:ext cx="8229600" cy="1097280"/>
          </a:xfrm>
          <a:prstGeom prst="rect">
            <a:avLst>
              <a:gd name="adj" fmla="val 6667"/>
            </a:avLst>
          </a:prstGeom>
          <a:solidFill>
            <a:srgbClr val="2D2D44"/>
          </a:solidFill>
          <a:ln/>
        </p:spPr>
      </p:sp>
      <p:sp>
        <p:nvSpPr>
          <p:cNvPr id="8" name="Text 6"/>
          <p:cNvSpPr/>
          <p:nvPr/>
        </p:nvSpPr>
        <p:spPr>
          <a:xfrm>
            <a:off x="731520" y="1188720"/>
            <a:ext cx="7680960" cy="914400"/>
          </a:xfrm>
          <a:prstGeom prst="rect">
            <a:avLst/>
          </a:prstGeom>
          <a:noFill/>
          <a:ln/>
        </p:spPr>
        <p:txBody>
          <a:bodyPr wrap="square" rtlCol="0" anchor="ctr"/>
          <a:lstStyle/>
          <a:p>
            <a:pPr indent="0" marL="0">
              <a:buNone/>
            </a:pPr>
            <a:r>
              <a:rPr lang="en-US" sz="1800" dirty="0">
                <a:solidFill>
                  <a:srgbClr val="E2E8F0"/>
                </a:solidFill>
              </a:rPr>
              <a:t>"Can we deploy AI agents in a bank </a:t>
            </a:r>
            <a:pPr indent="0" marL="0">
              <a:buNone/>
            </a:pPr>
            <a:r>
              <a:rPr lang="en-US" sz="1800" b="1" dirty="0">
                <a:solidFill>
                  <a:srgbClr val="FBBF24"/>
                </a:solidFill>
              </a:rPr>
              <a:t>without risking </a:t>
            </a:r>
            <a:pPr indent="0" marL="0">
              <a:buNone/>
            </a:pPr>
            <a:r>
              <a:rPr lang="en-US" sz="1800" dirty="0">
                <a:solidFill>
                  <a:srgbClr val="E2E8F0"/>
                </a:solidFill>
              </a:rPr>
              <a:t>compliance violations, data breaches, customer harm, or regulatory penalties?"</a:t>
            </a:r>
            <a:endParaRPr lang="en-US" sz="1800" dirty="0"/>
          </a:p>
        </p:txBody>
      </p:sp>
      <p:sp>
        <p:nvSpPr>
          <p:cNvPr id="9" name="Shape 7"/>
          <p:cNvSpPr/>
          <p:nvPr/>
        </p:nvSpPr>
        <p:spPr>
          <a:xfrm>
            <a:off x="457200" y="2377440"/>
            <a:ext cx="4023360" cy="658368"/>
          </a:xfrm>
          <a:prstGeom prst="rect">
            <a:avLst>
              <a:gd name="adj" fmla="val 8333"/>
            </a:avLst>
          </a:prstGeom>
          <a:solidFill>
            <a:srgbClr val="2D2D44"/>
          </a:solidFill>
          <a:ln w="12700">
            <a:solidFill>
              <a:srgbClr val="000000"/>
            </a:solidFill>
            <a:prstDash val="solid"/>
          </a:ln>
        </p:spPr>
      </p:sp>
      <p:sp>
        <p:nvSpPr>
          <p:cNvPr id="10" name="Text 8"/>
          <p:cNvSpPr/>
          <p:nvPr/>
        </p:nvSpPr>
        <p:spPr>
          <a:xfrm>
            <a:off x="594360" y="2377440"/>
            <a:ext cx="3749040" cy="292608"/>
          </a:xfrm>
          <a:prstGeom prst="rect">
            <a:avLst/>
          </a:prstGeom>
          <a:noFill/>
          <a:ln/>
        </p:spPr>
        <p:txBody>
          <a:bodyPr wrap="square" rtlCol="0" anchor="b"/>
          <a:lstStyle/>
          <a:p>
            <a:pPr indent="0" marL="0">
              <a:buNone/>
            </a:pPr>
            <a:r>
              <a:rPr lang="en-US" sz="1100" b="1" dirty="0">
                <a:solidFill>
                  <a:srgbClr val="FCA5A5"/>
                </a:solidFill>
              </a:rPr>
              <a:t>What if the AI gives wrong financial advice?</a:t>
            </a:r>
            <a:endParaRPr lang="en-US" sz="1100" dirty="0"/>
          </a:p>
        </p:txBody>
      </p:sp>
      <p:sp>
        <p:nvSpPr>
          <p:cNvPr id="11" name="Text 9"/>
          <p:cNvSpPr/>
          <p:nvPr/>
        </p:nvSpPr>
        <p:spPr>
          <a:xfrm>
            <a:off x="594360" y="2670048"/>
            <a:ext cx="3749040" cy="320040"/>
          </a:xfrm>
          <a:prstGeom prst="rect">
            <a:avLst/>
          </a:prstGeom>
          <a:noFill/>
          <a:ln/>
        </p:spPr>
        <p:txBody>
          <a:bodyPr wrap="square" rtlCol="0" anchor="t"/>
          <a:lstStyle/>
          <a:p>
            <a:pPr indent="0" marL="0">
              <a:buNone/>
            </a:pPr>
            <a:r>
              <a:rPr lang="en-US" sz="900" dirty="0">
                <a:solidFill>
                  <a:srgbClr val="94A3B8"/>
                </a:solidFill>
              </a:rPr>
              <a:t>Hallucination risk — agent tells customer wrong interest rate or incorrect balance</a:t>
            </a:r>
            <a:endParaRPr lang="en-US" sz="900" dirty="0"/>
          </a:p>
        </p:txBody>
      </p:sp>
      <p:sp>
        <p:nvSpPr>
          <p:cNvPr id="12" name="Shape 10"/>
          <p:cNvSpPr/>
          <p:nvPr/>
        </p:nvSpPr>
        <p:spPr>
          <a:xfrm>
            <a:off x="4663440" y="2377440"/>
            <a:ext cx="4023360" cy="658368"/>
          </a:xfrm>
          <a:prstGeom prst="rect">
            <a:avLst>
              <a:gd name="adj" fmla="val 8333"/>
            </a:avLst>
          </a:prstGeom>
          <a:solidFill>
            <a:srgbClr val="2D2D44"/>
          </a:solidFill>
          <a:ln w="12700">
            <a:solidFill>
              <a:srgbClr val="000000"/>
            </a:solidFill>
            <a:prstDash val="solid"/>
          </a:ln>
        </p:spPr>
      </p:sp>
      <p:sp>
        <p:nvSpPr>
          <p:cNvPr id="13" name="Text 11"/>
          <p:cNvSpPr/>
          <p:nvPr/>
        </p:nvSpPr>
        <p:spPr>
          <a:xfrm>
            <a:off x="4800600" y="2377440"/>
            <a:ext cx="3749040" cy="292608"/>
          </a:xfrm>
          <a:prstGeom prst="rect">
            <a:avLst/>
          </a:prstGeom>
          <a:noFill/>
          <a:ln/>
        </p:spPr>
        <p:txBody>
          <a:bodyPr wrap="square" rtlCol="0" anchor="b"/>
          <a:lstStyle/>
          <a:p>
            <a:pPr indent="0" marL="0">
              <a:buNone/>
            </a:pPr>
            <a:r>
              <a:rPr lang="en-US" sz="1100" b="1" dirty="0">
                <a:solidFill>
                  <a:srgbClr val="FCA5A5"/>
                </a:solidFill>
              </a:rPr>
              <a:t>What if it leaks customer data?</a:t>
            </a:r>
            <a:endParaRPr lang="en-US" sz="1100" dirty="0"/>
          </a:p>
        </p:txBody>
      </p:sp>
      <p:sp>
        <p:nvSpPr>
          <p:cNvPr id="14" name="Text 12"/>
          <p:cNvSpPr/>
          <p:nvPr/>
        </p:nvSpPr>
        <p:spPr>
          <a:xfrm>
            <a:off x="4800600" y="2670048"/>
            <a:ext cx="3749040" cy="320040"/>
          </a:xfrm>
          <a:prstGeom prst="rect">
            <a:avLst/>
          </a:prstGeom>
          <a:noFill/>
          <a:ln/>
        </p:spPr>
        <p:txBody>
          <a:bodyPr wrap="square" rtlCol="0" anchor="t"/>
          <a:lstStyle/>
          <a:p>
            <a:pPr indent="0" marL="0">
              <a:buNone/>
            </a:pPr>
            <a:r>
              <a:rPr lang="en-US" sz="900" dirty="0">
                <a:solidFill>
                  <a:srgbClr val="94A3B8"/>
                </a:solidFill>
              </a:rPr>
              <a:t>PII exposure — Aadhaar, PAN, card numbers in logs or responses</a:t>
            </a:r>
            <a:endParaRPr lang="en-US" sz="900" dirty="0"/>
          </a:p>
        </p:txBody>
      </p:sp>
      <p:sp>
        <p:nvSpPr>
          <p:cNvPr id="15" name="Shape 13"/>
          <p:cNvSpPr/>
          <p:nvPr/>
        </p:nvSpPr>
        <p:spPr>
          <a:xfrm>
            <a:off x="457200" y="3200400"/>
            <a:ext cx="4023360" cy="658368"/>
          </a:xfrm>
          <a:prstGeom prst="rect">
            <a:avLst>
              <a:gd name="adj" fmla="val 8333"/>
            </a:avLst>
          </a:prstGeom>
          <a:solidFill>
            <a:srgbClr val="2D2D44"/>
          </a:solidFill>
          <a:ln w="12700">
            <a:solidFill>
              <a:srgbClr val="000000"/>
            </a:solidFill>
            <a:prstDash val="solid"/>
          </a:ln>
        </p:spPr>
      </p:sp>
      <p:sp>
        <p:nvSpPr>
          <p:cNvPr id="16" name="Text 14"/>
          <p:cNvSpPr/>
          <p:nvPr/>
        </p:nvSpPr>
        <p:spPr>
          <a:xfrm>
            <a:off x="594360" y="3200400"/>
            <a:ext cx="3749040" cy="292608"/>
          </a:xfrm>
          <a:prstGeom prst="rect">
            <a:avLst/>
          </a:prstGeom>
          <a:noFill/>
          <a:ln/>
        </p:spPr>
        <p:txBody>
          <a:bodyPr wrap="square" rtlCol="0" anchor="b"/>
          <a:lstStyle/>
          <a:p>
            <a:pPr indent="0" marL="0">
              <a:buNone/>
            </a:pPr>
            <a:r>
              <a:rPr lang="en-US" sz="1100" b="1" dirty="0">
                <a:solidFill>
                  <a:srgbClr val="FCA5A5"/>
                </a:solidFill>
              </a:rPr>
              <a:t>What if it bypasses approval limits?</a:t>
            </a:r>
            <a:endParaRPr lang="en-US" sz="1100" dirty="0"/>
          </a:p>
        </p:txBody>
      </p:sp>
      <p:sp>
        <p:nvSpPr>
          <p:cNvPr id="17" name="Text 15"/>
          <p:cNvSpPr/>
          <p:nvPr/>
        </p:nvSpPr>
        <p:spPr>
          <a:xfrm>
            <a:off x="594360" y="3493008"/>
            <a:ext cx="3749040" cy="320040"/>
          </a:xfrm>
          <a:prstGeom prst="rect">
            <a:avLst/>
          </a:prstGeom>
          <a:noFill/>
          <a:ln/>
        </p:spPr>
        <p:txBody>
          <a:bodyPr wrap="square" rtlCol="0" anchor="t"/>
          <a:lstStyle/>
          <a:p>
            <a:pPr indent="0" marL="0">
              <a:buNone/>
            </a:pPr>
            <a:r>
              <a:rPr lang="en-US" sz="900" dirty="0">
                <a:solidFill>
                  <a:srgbClr val="94A3B8"/>
                </a:solidFill>
              </a:rPr>
              <a:t>Agent approves ₹15L loan when limit is ₹10L without human review</a:t>
            </a:r>
            <a:endParaRPr lang="en-US" sz="900" dirty="0"/>
          </a:p>
        </p:txBody>
      </p:sp>
      <p:sp>
        <p:nvSpPr>
          <p:cNvPr id="18" name="Shape 16"/>
          <p:cNvSpPr/>
          <p:nvPr/>
        </p:nvSpPr>
        <p:spPr>
          <a:xfrm>
            <a:off x="4663440" y="3200400"/>
            <a:ext cx="4023360" cy="658368"/>
          </a:xfrm>
          <a:prstGeom prst="rect">
            <a:avLst>
              <a:gd name="adj" fmla="val 8333"/>
            </a:avLst>
          </a:prstGeom>
          <a:solidFill>
            <a:srgbClr val="2D2D44"/>
          </a:solidFill>
          <a:ln w="12700">
            <a:solidFill>
              <a:srgbClr val="000000"/>
            </a:solidFill>
            <a:prstDash val="solid"/>
          </a:ln>
        </p:spPr>
      </p:sp>
      <p:sp>
        <p:nvSpPr>
          <p:cNvPr id="19" name="Text 17"/>
          <p:cNvSpPr/>
          <p:nvPr/>
        </p:nvSpPr>
        <p:spPr>
          <a:xfrm>
            <a:off x="4800600" y="3200400"/>
            <a:ext cx="3749040" cy="292608"/>
          </a:xfrm>
          <a:prstGeom prst="rect">
            <a:avLst/>
          </a:prstGeom>
          <a:noFill/>
          <a:ln/>
        </p:spPr>
        <p:txBody>
          <a:bodyPr wrap="square" rtlCol="0" anchor="b"/>
          <a:lstStyle/>
          <a:p>
            <a:pPr indent="0" marL="0">
              <a:buNone/>
            </a:pPr>
            <a:r>
              <a:rPr lang="en-US" sz="1100" b="1" dirty="0">
                <a:solidFill>
                  <a:srgbClr val="FCA5A5"/>
                </a:solidFill>
              </a:rPr>
              <a:t>What if it calls customers at midnight?</a:t>
            </a:r>
            <a:endParaRPr lang="en-US" sz="1100" dirty="0"/>
          </a:p>
        </p:txBody>
      </p:sp>
      <p:sp>
        <p:nvSpPr>
          <p:cNvPr id="20" name="Text 18"/>
          <p:cNvSpPr/>
          <p:nvPr/>
        </p:nvSpPr>
        <p:spPr>
          <a:xfrm>
            <a:off x="4800600" y="3493008"/>
            <a:ext cx="3749040" cy="320040"/>
          </a:xfrm>
          <a:prstGeom prst="rect">
            <a:avLst/>
          </a:prstGeom>
          <a:noFill/>
          <a:ln/>
        </p:spPr>
        <p:txBody>
          <a:bodyPr wrap="square" rtlCol="0" anchor="t"/>
          <a:lstStyle/>
          <a:p>
            <a:pPr indent="0" marL="0">
              <a:buNone/>
            </a:pPr>
            <a:r>
              <a:rPr lang="en-US" sz="900" dirty="0">
                <a:solidFill>
                  <a:srgbClr val="94A3B8"/>
                </a:solidFill>
              </a:rPr>
              <a:t>RBI fair practice violation — collections outside permitted hours</a:t>
            </a:r>
            <a:endParaRPr lang="en-US" sz="900" dirty="0"/>
          </a:p>
        </p:txBody>
      </p:sp>
      <p:sp>
        <p:nvSpPr>
          <p:cNvPr id="21" name="Shape 19"/>
          <p:cNvSpPr/>
          <p:nvPr/>
        </p:nvSpPr>
        <p:spPr>
          <a:xfrm>
            <a:off x="457200" y="4023360"/>
            <a:ext cx="4023360" cy="658368"/>
          </a:xfrm>
          <a:prstGeom prst="rect">
            <a:avLst>
              <a:gd name="adj" fmla="val 8333"/>
            </a:avLst>
          </a:prstGeom>
          <a:solidFill>
            <a:srgbClr val="2D2D44"/>
          </a:solidFill>
          <a:ln w="12700">
            <a:solidFill>
              <a:srgbClr val="000000"/>
            </a:solidFill>
            <a:prstDash val="solid"/>
          </a:ln>
        </p:spPr>
      </p:sp>
      <p:sp>
        <p:nvSpPr>
          <p:cNvPr id="22" name="Text 20"/>
          <p:cNvSpPr/>
          <p:nvPr/>
        </p:nvSpPr>
        <p:spPr>
          <a:xfrm>
            <a:off x="594360" y="4023360"/>
            <a:ext cx="3749040" cy="292608"/>
          </a:xfrm>
          <a:prstGeom prst="rect">
            <a:avLst/>
          </a:prstGeom>
          <a:noFill/>
          <a:ln/>
        </p:spPr>
        <p:txBody>
          <a:bodyPr wrap="square" rtlCol="0" anchor="b"/>
          <a:lstStyle/>
          <a:p>
            <a:pPr indent="0" marL="0">
              <a:buNone/>
            </a:pPr>
            <a:r>
              <a:rPr lang="en-US" sz="1100" b="1" dirty="0">
                <a:solidFill>
                  <a:srgbClr val="FCA5A5"/>
                </a:solidFill>
              </a:rPr>
              <a:t>What if someone manipulates the AI?</a:t>
            </a:r>
            <a:endParaRPr lang="en-US" sz="1100" dirty="0"/>
          </a:p>
        </p:txBody>
      </p:sp>
      <p:sp>
        <p:nvSpPr>
          <p:cNvPr id="23" name="Text 21"/>
          <p:cNvSpPr/>
          <p:nvPr/>
        </p:nvSpPr>
        <p:spPr>
          <a:xfrm>
            <a:off x="594360" y="4315968"/>
            <a:ext cx="3749040" cy="320040"/>
          </a:xfrm>
          <a:prstGeom prst="rect">
            <a:avLst/>
          </a:prstGeom>
          <a:noFill/>
          <a:ln/>
        </p:spPr>
        <p:txBody>
          <a:bodyPr wrap="square" rtlCol="0" anchor="t"/>
          <a:lstStyle/>
          <a:p>
            <a:pPr indent="0" marL="0">
              <a:buNone/>
            </a:pPr>
            <a:r>
              <a:rPr lang="en-US" sz="900" dirty="0">
                <a:solidFill>
                  <a:srgbClr val="94A3B8"/>
                </a:solidFill>
              </a:rPr>
              <a:t>Prompt injection — customer tricks the agent into doing something unauthorized</a:t>
            </a:r>
            <a:endParaRPr lang="en-US" sz="900" dirty="0"/>
          </a:p>
        </p:txBody>
      </p:sp>
      <p:sp>
        <p:nvSpPr>
          <p:cNvPr id="24" name="Shape 22"/>
          <p:cNvSpPr/>
          <p:nvPr/>
        </p:nvSpPr>
        <p:spPr>
          <a:xfrm>
            <a:off x="4663440" y="4023360"/>
            <a:ext cx="4023360" cy="658368"/>
          </a:xfrm>
          <a:prstGeom prst="rect">
            <a:avLst>
              <a:gd name="adj" fmla="val 8333"/>
            </a:avLst>
          </a:prstGeom>
          <a:solidFill>
            <a:srgbClr val="2D2D44"/>
          </a:solidFill>
          <a:ln w="12700">
            <a:solidFill>
              <a:srgbClr val="000000"/>
            </a:solidFill>
            <a:prstDash val="solid"/>
          </a:ln>
        </p:spPr>
      </p:sp>
      <p:sp>
        <p:nvSpPr>
          <p:cNvPr id="25" name="Text 23"/>
          <p:cNvSpPr/>
          <p:nvPr/>
        </p:nvSpPr>
        <p:spPr>
          <a:xfrm>
            <a:off x="4800600" y="4023360"/>
            <a:ext cx="3749040" cy="292608"/>
          </a:xfrm>
          <a:prstGeom prst="rect">
            <a:avLst/>
          </a:prstGeom>
          <a:noFill/>
          <a:ln/>
        </p:spPr>
        <p:txBody>
          <a:bodyPr wrap="square" rtlCol="0" anchor="b"/>
          <a:lstStyle/>
          <a:p>
            <a:pPr indent="0" marL="0">
              <a:buNone/>
            </a:pPr>
            <a:r>
              <a:rPr lang="en-US" sz="1100" b="1" dirty="0">
                <a:solidFill>
                  <a:srgbClr val="FCA5A5"/>
                </a:solidFill>
              </a:rPr>
              <a:t>What if we can't prove what happened?</a:t>
            </a:r>
            <a:endParaRPr lang="en-US" sz="1100" dirty="0"/>
          </a:p>
        </p:txBody>
      </p:sp>
      <p:sp>
        <p:nvSpPr>
          <p:cNvPr id="26" name="Text 24"/>
          <p:cNvSpPr/>
          <p:nvPr/>
        </p:nvSpPr>
        <p:spPr>
          <a:xfrm>
            <a:off x="4800600" y="4315968"/>
            <a:ext cx="3749040" cy="320040"/>
          </a:xfrm>
          <a:prstGeom prst="rect">
            <a:avLst/>
          </a:prstGeom>
          <a:noFill/>
          <a:ln/>
        </p:spPr>
        <p:txBody>
          <a:bodyPr wrap="square" rtlCol="0" anchor="t"/>
          <a:lstStyle/>
          <a:p>
            <a:pPr indent="0" marL="0">
              <a:buNone/>
            </a:pPr>
            <a:r>
              <a:rPr lang="en-US" sz="900" dirty="0">
                <a:solidFill>
                  <a:srgbClr val="94A3B8"/>
                </a:solidFill>
              </a:rPr>
              <a:t>Audit trail — RBI asks why a decision was made, we have no record</a:t>
            </a:r>
            <a:endParaRPr lang="en-US" sz="900" dirty="0"/>
          </a:p>
        </p:txBody>
      </p:sp>
      <p:sp>
        <p:nvSpPr>
          <p:cNvPr id="27" name="Text 25"/>
          <p:cNvSpPr/>
          <p:nvPr/>
        </p:nvSpPr>
        <p:spPr>
          <a:xfrm>
            <a:off x="548640" y="4709160"/>
            <a:ext cx="7315200" cy="274320"/>
          </a:xfrm>
          <a:prstGeom prst="rect">
            <a:avLst/>
          </a:prstGeom>
          <a:noFill/>
          <a:ln/>
        </p:spPr>
        <p:txBody>
          <a:bodyPr wrap="square" rtlCol="0" anchor="ctr"/>
          <a:lstStyle/>
          <a:p>
            <a:pPr indent="0" marL="0">
              <a:buNone/>
            </a:pPr>
            <a:r>
              <a:rPr lang="en-US" sz="1100" b="1" dirty="0">
                <a:solidFill>
                  <a:srgbClr val="0F6E56"/>
                </a:solidFill>
              </a:rPr>
              <a:t>This platform answers every one of these concerns architecturally.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9C1D26"/>
          </a:solidFill>
          <a:ln/>
        </p:spPr>
      </p:sp>
      <p:sp>
        <p:nvSpPr>
          <p:cNvPr id="3" name="Text 1"/>
          <p:cNvSpPr/>
          <p:nvPr/>
        </p:nvSpPr>
        <p:spPr>
          <a:xfrm>
            <a:off x="7132320" y="137160"/>
            <a:ext cx="1828800" cy="274320"/>
          </a:xfrm>
          <a:prstGeom prst="rect">
            <a:avLst/>
          </a:prstGeom>
          <a:noFill/>
          <a:ln/>
        </p:spPr>
        <p:txBody>
          <a:bodyPr wrap="square" rtlCol="0" anchor="ctr"/>
          <a:lstStyle/>
          <a:p>
            <a:pPr algn="r" indent="0" marL="0">
              <a:buNone/>
            </a:pPr>
            <a:r>
              <a:rPr lang="en-US" sz="900" b="1" dirty="0">
                <a:solidFill>
                  <a:srgbClr val="9C1D26"/>
                </a:solidFill>
              </a:rPr>
              <a:t>IDFC </a:t>
            </a:r>
            <a:pPr algn="r" indent="0" marL="0">
              <a:buNone/>
            </a:pPr>
            <a:r>
              <a:rPr lang="en-US" sz="900" b="1" dirty="0">
                <a:solidFill>
                  <a:srgbClr val="9C1D26"/>
                </a:solidFill>
              </a:rPr>
              <a:t>FIRST </a:t>
            </a:r>
            <a:pPr algn="r" indent="0" marL="0">
              <a:buNone/>
            </a:pPr>
            <a:r>
              <a:rPr lang="en-US" sz="900" dirty="0">
                <a:solidFill>
                  <a:srgbClr val="666666"/>
                </a:solidFill>
              </a:rPr>
              <a:t>Bank</a:t>
            </a:r>
            <a:endParaRPr lang="en-US" sz="900" dirty="0"/>
          </a:p>
        </p:txBody>
      </p:sp>
      <p:sp>
        <p:nvSpPr>
          <p:cNvPr id="4" name="Text 2"/>
          <p:cNvSpPr/>
          <p:nvPr/>
        </p:nvSpPr>
        <p:spPr>
          <a:xfrm>
            <a:off x="8503920" y="4754880"/>
            <a:ext cx="457200" cy="274320"/>
          </a:xfrm>
          <a:prstGeom prst="rect">
            <a:avLst/>
          </a:prstGeom>
          <a:noFill/>
          <a:ln/>
        </p:spPr>
        <p:txBody>
          <a:bodyPr wrap="square" rtlCol="0" anchor="ctr"/>
          <a:lstStyle/>
          <a:p>
            <a:pPr algn="r" indent="0" marL="0">
              <a:buNone/>
            </a:pPr>
            <a:r>
              <a:rPr lang="en-US" sz="800" dirty="0">
                <a:solidFill>
                  <a:srgbClr val="AAAAAA"/>
                </a:solidFill>
              </a:rPr>
              <a:t>2</a:t>
            </a:r>
            <a:endParaRPr lang="en-US" sz="800" dirty="0"/>
          </a:p>
        </p:txBody>
      </p:sp>
      <p:sp>
        <p:nvSpPr>
          <p:cNvPr id="5" name="Text 3"/>
          <p:cNvSpPr/>
          <p:nvPr/>
        </p:nvSpPr>
        <p:spPr>
          <a:xfrm>
            <a:off x="548640" y="365760"/>
            <a:ext cx="7315200" cy="457200"/>
          </a:xfrm>
          <a:prstGeom prst="rect">
            <a:avLst/>
          </a:prstGeom>
          <a:noFill/>
          <a:ln/>
        </p:spPr>
        <p:txBody>
          <a:bodyPr wrap="square" rtlCol="0" anchor="ctr"/>
          <a:lstStyle/>
          <a:p>
            <a:pPr indent="0" marL="0">
              <a:buNone/>
            </a:pPr>
            <a:r>
              <a:rPr lang="en-US" sz="2400" b="1" dirty="0">
                <a:solidFill>
                  <a:srgbClr val="1B1B2F"/>
                </a:solidFill>
              </a:rPr>
              <a:t>The Answer: Governed AI Architecture</a:t>
            </a:r>
            <a:endParaRPr lang="en-US" sz="2400" dirty="0"/>
          </a:p>
        </p:txBody>
      </p:sp>
      <p:sp>
        <p:nvSpPr>
          <p:cNvPr id="6" name="Shape 4"/>
          <p:cNvSpPr/>
          <p:nvPr/>
        </p:nvSpPr>
        <p:spPr>
          <a:xfrm>
            <a:off x="548640" y="777240"/>
            <a:ext cx="731520" cy="36576"/>
          </a:xfrm>
          <a:prstGeom prst="rect">
            <a:avLst/>
          </a:prstGeom>
          <a:solidFill>
            <a:srgbClr val="9C1D26"/>
          </a:solidFill>
          <a:ln/>
        </p:spPr>
      </p:sp>
      <p:sp>
        <p:nvSpPr>
          <p:cNvPr id="7" name="Text 5"/>
          <p:cNvSpPr/>
          <p:nvPr/>
        </p:nvSpPr>
        <p:spPr>
          <a:xfrm>
            <a:off x="548640" y="868680"/>
            <a:ext cx="7315200" cy="274320"/>
          </a:xfrm>
          <a:prstGeom prst="rect">
            <a:avLst/>
          </a:prstGeom>
          <a:noFill/>
          <a:ln/>
        </p:spPr>
        <p:txBody>
          <a:bodyPr wrap="square" rtlCol="0" anchor="ctr"/>
          <a:lstStyle/>
          <a:p>
            <a:pPr indent="0" marL="0">
              <a:buNone/>
            </a:pPr>
            <a:r>
              <a:rPr lang="en-US" sz="1100" dirty="0">
                <a:solidFill>
                  <a:srgbClr val="94A3B8"/>
                </a:solidFill>
              </a:rPr>
              <a:t>Every AI action passes through a mandatory security checkpoint — Agentic Vault</a:t>
            </a:r>
            <a:endParaRPr lang="en-US" sz="1100" dirty="0"/>
          </a:p>
        </p:txBody>
      </p:sp>
      <p:sp>
        <p:nvSpPr>
          <p:cNvPr id="8" name="Shape 6"/>
          <p:cNvSpPr/>
          <p:nvPr/>
        </p:nvSpPr>
        <p:spPr>
          <a:xfrm>
            <a:off x="548640" y="1097280"/>
            <a:ext cx="8046720" cy="548640"/>
          </a:xfrm>
          <a:prstGeom prst="rect">
            <a:avLst>
              <a:gd name="adj" fmla="val 10000"/>
            </a:avLst>
          </a:prstGeom>
          <a:solidFill>
            <a:srgbClr val="E6F1FB"/>
          </a:solidFill>
          <a:ln w="12700">
            <a:solidFill>
              <a:srgbClr val="185FA5"/>
            </a:solidFill>
            <a:prstDash val="solid"/>
          </a:ln>
        </p:spPr>
      </p:sp>
      <p:sp>
        <p:nvSpPr>
          <p:cNvPr id="9" name="Text 7"/>
          <p:cNvSpPr/>
          <p:nvPr/>
        </p:nvSpPr>
        <p:spPr>
          <a:xfrm>
            <a:off x="731520" y="1097280"/>
            <a:ext cx="2194560" cy="548640"/>
          </a:xfrm>
          <a:prstGeom prst="rect">
            <a:avLst/>
          </a:prstGeom>
          <a:noFill/>
          <a:ln/>
        </p:spPr>
        <p:txBody>
          <a:bodyPr wrap="square" rtlCol="0" anchor="ctr"/>
          <a:lstStyle/>
          <a:p>
            <a:pPr indent="0" marL="0">
              <a:buNone/>
            </a:pPr>
            <a:r>
              <a:rPr lang="en-US" sz="1100" b="1" dirty="0">
                <a:solidFill>
                  <a:srgbClr val="185FA5"/>
                </a:solidFill>
              </a:rPr>
              <a:t>Customer Channels</a:t>
            </a:r>
            <a:endParaRPr lang="en-US" sz="1100" dirty="0"/>
          </a:p>
        </p:txBody>
      </p:sp>
      <p:sp>
        <p:nvSpPr>
          <p:cNvPr id="10" name="Text 8"/>
          <p:cNvSpPr/>
          <p:nvPr/>
        </p:nvSpPr>
        <p:spPr>
          <a:xfrm>
            <a:off x="2926080" y="1097280"/>
            <a:ext cx="5486400" cy="548640"/>
          </a:xfrm>
          <a:prstGeom prst="rect">
            <a:avLst/>
          </a:prstGeom>
          <a:noFill/>
          <a:ln/>
        </p:spPr>
        <p:txBody>
          <a:bodyPr wrap="square" rtlCol="0" anchor="ctr"/>
          <a:lstStyle/>
          <a:p>
            <a:pPr indent="0" marL="0">
              <a:buNone/>
            </a:pPr>
            <a:r>
              <a:rPr lang="en-US" sz="1000" dirty="0">
                <a:solidFill>
                  <a:srgbClr val="475569"/>
                </a:solidFill>
              </a:rPr>
              <a:t>Voice  |  Mobile App  |  Web  |  WhatsApp  |  Branch</a:t>
            </a:r>
            <a:endParaRPr lang="en-US" sz="1000" dirty="0"/>
          </a:p>
        </p:txBody>
      </p:sp>
      <p:sp>
        <p:nvSpPr>
          <p:cNvPr id="11" name="Text 9"/>
          <p:cNvSpPr/>
          <p:nvPr/>
        </p:nvSpPr>
        <p:spPr>
          <a:xfrm>
            <a:off x="4297680" y="1572768"/>
            <a:ext cx="548640" cy="256032"/>
          </a:xfrm>
          <a:prstGeom prst="rect">
            <a:avLst/>
          </a:prstGeom>
          <a:noFill/>
          <a:ln/>
        </p:spPr>
        <p:txBody>
          <a:bodyPr wrap="square" rtlCol="0" anchor="ctr"/>
          <a:lstStyle/>
          <a:p>
            <a:pPr algn="ctr" indent="0" marL="0">
              <a:buNone/>
            </a:pPr>
            <a:r>
              <a:rPr lang="en-US" sz="1000" dirty="0">
                <a:solidFill>
                  <a:srgbClr val="94A3B8"/>
                </a:solidFill>
              </a:rPr>
              <a:t>▼</a:t>
            </a:r>
            <a:endParaRPr lang="en-US" sz="1000" dirty="0"/>
          </a:p>
        </p:txBody>
      </p:sp>
      <p:sp>
        <p:nvSpPr>
          <p:cNvPr id="12" name="Shape 10"/>
          <p:cNvSpPr/>
          <p:nvPr/>
        </p:nvSpPr>
        <p:spPr>
          <a:xfrm>
            <a:off x="548640" y="1810512"/>
            <a:ext cx="8046720" cy="548640"/>
          </a:xfrm>
          <a:prstGeom prst="rect">
            <a:avLst>
              <a:gd name="adj" fmla="val 10000"/>
            </a:avLst>
          </a:prstGeom>
          <a:solidFill>
            <a:srgbClr val="EDE9FE"/>
          </a:solidFill>
          <a:ln w="12700">
            <a:solidFill>
              <a:srgbClr val="6D28D9"/>
            </a:solidFill>
            <a:prstDash val="solid"/>
          </a:ln>
        </p:spPr>
      </p:sp>
      <p:sp>
        <p:nvSpPr>
          <p:cNvPr id="13" name="Text 11"/>
          <p:cNvSpPr/>
          <p:nvPr/>
        </p:nvSpPr>
        <p:spPr>
          <a:xfrm>
            <a:off x="731520" y="1810512"/>
            <a:ext cx="2194560" cy="548640"/>
          </a:xfrm>
          <a:prstGeom prst="rect">
            <a:avLst/>
          </a:prstGeom>
          <a:noFill/>
          <a:ln/>
        </p:spPr>
        <p:txBody>
          <a:bodyPr wrap="square" rtlCol="0" anchor="ctr"/>
          <a:lstStyle/>
          <a:p>
            <a:pPr indent="0" marL="0">
              <a:buNone/>
            </a:pPr>
            <a:r>
              <a:rPr lang="en-US" sz="1100" b="1" dirty="0">
                <a:solidFill>
                  <a:srgbClr val="6D28D9"/>
                </a:solidFill>
              </a:rPr>
              <a:t>API Gateway</a:t>
            </a:r>
            <a:endParaRPr lang="en-US" sz="1100" dirty="0"/>
          </a:p>
        </p:txBody>
      </p:sp>
      <p:sp>
        <p:nvSpPr>
          <p:cNvPr id="14" name="Text 12"/>
          <p:cNvSpPr/>
          <p:nvPr/>
        </p:nvSpPr>
        <p:spPr>
          <a:xfrm>
            <a:off x="2926080" y="1810512"/>
            <a:ext cx="5486400" cy="548640"/>
          </a:xfrm>
          <a:prstGeom prst="rect">
            <a:avLst/>
          </a:prstGeom>
          <a:noFill/>
          <a:ln/>
        </p:spPr>
        <p:txBody>
          <a:bodyPr wrap="square" rtlCol="0" anchor="ctr"/>
          <a:lstStyle/>
          <a:p>
            <a:pPr indent="0" marL="0">
              <a:buNone/>
            </a:pPr>
            <a:r>
              <a:rPr lang="en-US" sz="1000" dirty="0">
                <a:solidFill>
                  <a:srgbClr val="475569"/>
                </a:solidFill>
              </a:rPr>
              <a:t>Rate limiting  |  Authentication  |  Vault policy interception</a:t>
            </a:r>
            <a:endParaRPr lang="en-US" sz="1000" dirty="0"/>
          </a:p>
        </p:txBody>
      </p:sp>
      <p:sp>
        <p:nvSpPr>
          <p:cNvPr id="15" name="Text 13"/>
          <p:cNvSpPr/>
          <p:nvPr/>
        </p:nvSpPr>
        <p:spPr>
          <a:xfrm>
            <a:off x="4297680" y="2286000"/>
            <a:ext cx="548640" cy="256032"/>
          </a:xfrm>
          <a:prstGeom prst="rect">
            <a:avLst/>
          </a:prstGeom>
          <a:noFill/>
          <a:ln/>
        </p:spPr>
        <p:txBody>
          <a:bodyPr wrap="square" rtlCol="0" anchor="ctr"/>
          <a:lstStyle/>
          <a:p>
            <a:pPr algn="ctr" indent="0" marL="0">
              <a:buNone/>
            </a:pPr>
            <a:r>
              <a:rPr lang="en-US" sz="1000" dirty="0">
                <a:solidFill>
                  <a:srgbClr val="94A3B8"/>
                </a:solidFill>
              </a:rPr>
              <a:t>▼</a:t>
            </a:r>
            <a:endParaRPr lang="en-US" sz="1000" dirty="0"/>
          </a:p>
        </p:txBody>
      </p:sp>
      <p:sp>
        <p:nvSpPr>
          <p:cNvPr id="16" name="Shape 14"/>
          <p:cNvSpPr/>
          <p:nvPr/>
        </p:nvSpPr>
        <p:spPr>
          <a:xfrm>
            <a:off x="548640" y="2523744"/>
            <a:ext cx="8046720" cy="548640"/>
          </a:xfrm>
          <a:prstGeom prst="rect">
            <a:avLst>
              <a:gd name="adj" fmla="val 10000"/>
            </a:avLst>
          </a:prstGeom>
          <a:solidFill>
            <a:srgbClr val="FEF2F2"/>
          </a:solidFill>
          <a:ln w="31750">
            <a:solidFill>
              <a:srgbClr val="9C1D26"/>
            </a:solidFill>
            <a:prstDash val="solid"/>
          </a:ln>
        </p:spPr>
      </p:sp>
      <p:sp>
        <p:nvSpPr>
          <p:cNvPr id="17" name="Text 15"/>
          <p:cNvSpPr/>
          <p:nvPr/>
        </p:nvSpPr>
        <p:spPr>
          <a:xfrm>
            <a:off x="731520" y="2523744"/>
            <a:ext cx="2194560" cy="548640"/>
          </a:xfrm>
          <a:prstGeom prst="rect">
            <a:avLst/>
          </a:prstGeom>
          <a:noFill/>
          <a:ln/>
        </p:spPr>
        <p:txBody>
          <a:bodyPr wrap="square" rtlCol="0" anchor="ctr"/>
          <a:lstStyle/>
          <a:p>
            <a:pPr indent="0" marL="0">
              <a:buNone/>
            </a:pPr>
            <a:r>
              <a:rPr lang="en-US" sz="1200" b="1" dirty="0">
                <a:solidFill>
                  <a:srgbClr val="9C1D26"/>
                </a:solidFill>
              </a:rPr>
              <a:t>AGENTIC VAULT</a:t>
            </a:r>
            <a:endParaRPr lang="en-US" sz="1200" dirty="0"/>
          </a:p>
        </p:txBody>
      </p:sp>
      <p:sp>
        <p:nvSpPr>
          <p:cNvPr id="18" name="Text 16"/>
          <p:cNvSpPr/>
          <p:nvPr/>
        </p:nvSpPr>
        <p:spPr>
          <a:xfrm>
            <a:off x="2926080" y="2523744"/>
            <a:ext cx="5486400" cy="548640"/>
          </a:xfrm>
          <a:prstGeom prst="rect">
            <a:avLst/>
          </a:prstGeom>
          <a:noFill/>
          <a:ln/>
        </p:spPr>
        <p:txBody>
          <a:bodyPr wrap="square" rtlCol="0" anchor="ctr"/>
          <a:lstStyle/>
          <a:p>
            <a:pPr indent="0" marL="0">
              <a:buNone/>
            </a:pPr>
            <a:r>
              <a:rPr lang="en-US" sz="1000" dirty="0">
                <a:solidFill>
                  <a:srgbClr val="475569"/>
                </a:solidFill>
              </a:rPr>
              <a:t>Identity (mTLS)  |  Policy (OPA Rego)  |  Anomaly (Kafka Streams)  |  Audit (Immutable)</a:t>
            </a:r>
            <a:endParaRPr lang="en-US" sz="1000" dirty="0"/>
          </a:p>
        </p:txBody>
      </p:sp>
      <p:sp>
        <p:nvSpPr>
          <p:cNvPr id="19" name="Text 17"/>
          <p:cNvSpPr/>
          <p:nvPr/>
        </p:nvSpPr>
        <p:spPr>
          <a:xfrm>
            <a:off x="4297680" y="2999232"/>
            <a:ext cx="548640" cy="256032"/>
          </a:xfrm>
          <a:prstGeom prst="rect">
            <a:avLst/>
          </a:prstGeom>
          <a:noFill/>
          <a:ln/>
        </p:spPr>
        <p:txBody>
          <a:bodyPr wrap="square" rtlCol="0" anchor="ctr"/>
          <a:lstStyle/>
          <a:p>
            <a:pPr algn="ctr" indent="0" marL="0">
              <a:buNone/>
            </a:pPr>
            <a:r>
              <a:rPr lang="en-US" sz="1000" dirty="0">
                <a:solidFill>
                  <a:srgbClr val="94A3B8"/>
                </a:solidFill>
              </a:rPr>
              <a:t>▼</a:t>
            </a:r>
            <a:endParaRPr lang="en-US" sz="1000" dirty="0"/>
          </a:p>
        </p:txBody>
      </p:sp>
      <p:sp>
        <p:nvSpPr>
          <p:cNvPr id="20" name="Shape 18"/>
          <p:cNvSpPr/>
          <p:nvPr/>
        </p:nvSpPr>
        <p:spPr>
          <a:xfrm>
            <a:off x="548640" y="3236976"/>
            <a:ext cx="8046720" cy="548640"/>
          </a:xfrm>
          <a:prstGeom prst="rect">
            <a:avLst>
              <a:gd name="adj" fmla="val 10000"/>
            </a:avLst>
          </a:prstGeom>
          <a:solidFill>
            <a:srgbClr val="ECFDF5"/>
          </a:solidFill>
          <a:ln w="12700">
            <a:solidFill>
              <a:srgbClr val="0F6E56"/>
            </a:solidFill>
            <a:prstDash val="solid"/>
          </a:ln>
        </p:spPr>
      </p:sp>
      <p:sp>
        <p:nvSpPr>
          <p:cNvPr id="21" name="Text 19"/>
          <p:cNvSpPr/>
          <p:nvPr/>
        </p:nvSpPr>
        <p:spPr>
          <a:xfrm>
            <a:off x="731520" y="3236976"/>
            <a:ext cx="2194560" cy="548640"/>
          </a:xfrm>
          <a:prstGeom prst="rect">
            <a:avLst/>
          </a:prstGeom>
          <a:noFill/>
          <a:ln/>
        </p:spPr>
        <p:txBody>
          <a:bodyPr wrap="square" rtlCol="0" anchor="ctr"/>
          <a:lstStyle/>
          <a:p>
            <a:pPr indent="0" marL="0">
              <a:buNone/>
            </a:pPr>
            <a:r>
              <a:rPr lang="en-US" sz="1100" b="1" dirty="0">
                <a:solidFill>
                  <a:srgbClr val="0F6E56"/>
                </a:solidFill>
              </a:rPr>
              <a:t>AI Agents</a:t>
            </a:r>
            <a:endParaRPr lang="en-US" sz="1100" dirty="0"/>
          </a:p>
        </p:txBody>
      </p:sp>
      <p:sp>
        <p:nvSpPr>
          <p:cNvPr id="22" name="Text 20"/>
          <p:cNvSpPr/>
          <p:nvPr/>
        </p:nvSpPr>
        <p:spPr>
          <a:xfrm>
            <a:off x="2926080" y="3236976"/>
            <a:ext cx="5486400" cy="548640"/>
          </a:xfrm>
          <a:prstGeom prst="rect">
            <a:avLst/>
          </a:prstGeom>
          <a:noFill/>
          <a:ln/>
        </p:spPr>
        <p:txBody>
          <a:bodyPr wrap="square" rtlCol="0" anchor="ctr"/>
          <a:lstStyle/>
          <a:p>
            <a:pPr indent="0" marL="0">
              <a:buNone/>
            </a:pPr>
            <a:r>
              <a:rPr lang="en-US" sz="1000" dirty="0">
                <a:solidFill>
                  <a:srgbClr val="475569"/>
                </a:solidFill>
              </a:rPr>
              <a:t>Account  |  Loans  |  Cards  |  Wealth  |  Collections  |  Fraud</a:t>
            </a:r>
            <a:endParaRPr lang="en-US" sz="1000" dirty="0"/>
          </a:p>
        </p:txBody>
      </p:sp>
      <p:sp>
        <p:nvSpPr>
          <p:cNvPr id="23" name="Text 21"/>
          <p:cNvSpPr/>
          <p:nvPr/>
        </p:nvSpPr>
        <p:spPr>
          <a:xfrm>
            <a:off x="4297680" y="3712464"/>
            <a:ext cx="548640" cy="256032"/>
          </a:xfrm>
          <a:prstGeom prst="rect">
            <a:avLst/>
          </a:prstGeom>
          <a:noFill/>
          <a:ln/>
        </p:spPr>
        <p:txBody>
          <a:bodyPr wrap="square" rtlCol="0" anchor="ctr"/>
          <a:lstStyle/>
          <a:p>
            <a:pPr algn="ctr" indent="0" marL="0">
              <a:buNone/>
            </a:pPr>
            <a:r>
              <a:rPr lang="en-US" sz="1000" dirty="0">
                <a:solidFill>
                  <a:srgbClr val="94A3B8"/>
                </a:solidFill>
              </a:rPr>
              <a:t>▼</a:t>
            </a:r>
            <a:endParaRPr lang="en-US" sz="1000" dirty="0"/>
          </a:p>
        </p:txBody>
      </p:sp>
      <p:sp>
        <p:nvSpPr>
          <p:cNvPr id="24" name="Shape 22"/>
          <p:cNvSpPr/>
          <p:nvPr/>
        </p:nvSpPr>
        <p:spPr>
          <a:xfrm>
            <a:off x="548640" y="3950208"/>
            <a:ext cx="8046720" cy="548640"/>
          </a:xfrm>
          <a:prstGeom prst="rect">
            <a:avLst>
              <a:gd name="adj" fmla="val 10000"/>
            </a:avLst>
          </a:prstGeom>
          <a:solidFill>
            <a:srgbClr val="F0FDF4"/>
          </a:solidFill>
          <a:ln w="12700">
            <a:solidFill>
              <a:srgbClr val="3B6D11"/>
            </a:solidFill>
            <a:prstDash val="solid"/>
          </a:ln>
        </p:spPr>
      </p:sp>
      <p:sp>
        <p:nvSpPr>
          <p:cNvPr id="25" name="Text 23"/>
          <p:cNvSpPr/>
          <p:nvPr/>
        </p:nvSpPr>
        <p:spPr>
          <a:xfrm>
            <a:off x="731520" y="3950208"/>
            <a:ext cx="2194560" cy="548640"/>
          </a:xfrm>
          <a:prstGeom prst="rect">
            <a:avLst/>
          </a:prstGeom>
          <a:noFill/>
          <a:ln/>
        </p:spPr>
        <p:txBody>
          <a:bodyPr wrap="square" rtlCol="0" anchor="ctr"/>
          <a:lstStyle/>
          <a:p>
            <a:pPr indent="0" marL="0">
              <a:buNone/>
            </a:pPr>
            <a:r>
              <a:rPr lang="en-US" sz="1100" b="1" dirty="0">
                <a:solidFill>
                  <a:srgbClr val="3B6D11"/>
                </a:solidFill>
              </a:rPr>
              <a:t>MCP Servers → Bank Systems</a:t>
            </a:r>
            <a:endParaRPr lang="en-US" sz="1100" dirty="0"/>
          </a:p>
        </p:txBody>
      </p:sp>
      <p:sp>
        <p:nvSpPr>
          <p:cNvPr id="26" name="Text 24"/>
          <p:cNvSpPr/>
          <p:nvPr/>
        </p:nvSpPr>
        <p:spPr>
          <a:xfrm>
            <a:off x="2926080" y="3950208"/>
            <a:ext cx="5486400" cy="548640"/>
          </a:xfrm>
          <a:prstGeom prst="rect">
            <a:avLst/>
          </a:prstGeom>
          <a:noFill/>
          <a:ln/>
        </p:spPr>
        <p:txBody>
          <a:bodyPr wrap="square" rtlCol="0" anchor="ctr"/>
          <a:lstStyle/>
          <a:p>
            <a:pPr indent="0" marL="0">
              <a:buNone/>
            </a:pPr>
            <a:r>
              <a:rPr lang="en-US" sz="1000" dirty="0">
                <a:solidFill>
                  <a:srgbClr val="475569"/>
                </a:solidFill>
              </a:rPr>
              <a:t>Finacle  |  Card System  |  CIBIL  |  NPCI  |  UIDAI  |  CRM</a:t>
            </a:r>
            <a:endParaRPr lang="en-US" sz="1000" dirty="0"/>
          </a:p>
        </p:txBody>
      </p:sp>
      <p:sp>
        <p:nvSpPr>
          <p:cNvPr id="27" name="Shape 25"/>
          <p:cNvSpPr/>
          <p:nvPr/>
        </p:nvSpPr>
        <p:spPr>
          <a:xfrm>
            <a:off x="548640" y="4663440"/>
            <a:ext cx="8046720" cy="365760"/>
          </a:xfrm>
          <a:prstGeom prst="rect">
            <a:avLst>
              <a:gd name="adj" fmla="val 10000"/>
            </a:avLst>
          </a:prstGeom>
          <a:solidFill>
            <a:srgbClr val="FEF2F2"/>
          </a:solidFill>
          <a:ln/>
        </p:spPr>
      </p:sp>
      <p:sp>
        <p:nvSpPr>
          <p:cNvPr id="28" name="Text 26"/>
          <p:cNvSpPr/>
          <p:nvPr/>
        </p:nvSpPr>
        <p:spPr>
          <a:xfrm>
            <a:off x="731520" y="4663440"/>
            <a:ext cx="7680960" cy="365760"/>
          </a:xfrm>
          <a:prstGeom prst="rect">
            <a:avLst/>
          </a:prstGeom>
          <a:noFill/>
          <a:ln/>
        </p:spPr>
        <p:txBody>
          <a:bodyPr wrap="square" rtlCol="0" anchor="ctr"/>
          <a:lstStyle/>
          <a:p>
            <a:pPr indent="0" marL="0">
              <a:buNone/>
            </a:pPr>
            <a:r>
              <a:rPr lang="en-US" sz="1000" b="1" dirty="0">
                <a:solidFill>
                  <a:srgbClr val="9C1D26"/>
                </a:solidFill>
              </a:rPr>
              <a:t>No agent can reach any bank system without passing through Vault. This is enforced by infrastructure, not guidelines.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1B2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9C1D26"/>
          </a:solidFill>
          <a:ln/>
        </p:spPr>
      </p:sp>
      <p:sp>
        <p:nvSpPr>
          <p:cNvPr id="3" name="Text 1"/>
          <p:cNvSpPr/>
          <p:nvPr/>
        </p:nvSpPr>
        <p:spPr>
          <a:xfrm>
            <a:off x="7132320" y="137160"/>
            <a:ext cx="1828800" cy="274320"/>
          </a:xfrm>
          <a:prstGeom prst="rect">
            <a:avLst/>
          </a:prstGeom>
          <a:noFill/>
          <a:ln/>
        </p:spPr>
        <p:txBody>
          <a:bodyPr wrap="square" rtlCol="0" anchor="ctr"/>
          <a:lstStyle/>
          <a:p>
            <a:pPr algn="r" indent="0" marL="0">
              <a:buNone/>
            </a:pPr>
            <a:r>
              <a:rPr lang="en-US" sz="900" b="1" dirty="0">
                <a:solidFill>
                  <a:srgbClr val="9C1D26"/>
                </a:solidFill>
              </a:rPr>
              <a:t>IDFC </a:t>
            </a:r>
            <a:pPr algn="r" indent="0" marL="0">
              <a:buNone/>
            </a:pPr>
            <a:r>
              <a:rPr lang="en-US" sz="900" b="1" dirty="0">
                <a:solidFill>
                  <a:srgbClr val="9C1D26"/>
                </a:solidFill>
              </a:rPr>
              <a:t>FIRST </a:t>
            </a:r>
            <a:pPr algn="r" indent="0" marL="0">
              <a:buNone/>
            </a:pPr>
            <a:r>
              <a:rPr lang="en-US" sz="900" dirty="0">
                <a:solidFill>
                  <a:srgbClr val="888888"/>
                </a:solidFill>
              </a:rPr>
              <a:t>Bank</a:t>
            </a:r>
            <a:endParaRPr lang="en-US" sz="900" dirty="0"/>
          </a:p>
        </p:txBody>
      </p:sp>
      <p:sp>
        <p:nvSpPr>
          <p:cNvPr id="4" name="Text 2"/>
          <p:cNvSpPr/>
          <p:nvPr/>
        </p:nvSpPr>
        <p:spPr>
          <a:xfrm>
            <a:off x="8503920" y="4754880"/>
            <a:ext cx="457200" cy="274320"/>
          </a:xfrm>
          <a:prstGeom prst="rect">
            <a:avLst/>
          </a:prstGeom>
          <a:noFill/>
          <a:ln/>
        </p:spPr>
        <p:txBody>
          <a:bodyPr wrap="square" rtlCol="0" anchor="ctr"/>
          <a:lstStyle/>
          <a:p>
            <a:pPr algn="r" indent="0" marL="0">
              <a:buNone/>
            </a:pPr>
            <a:r>
              <a:rPr lang="en-US" sz="800" dirty="0">
                <a:solidFill>
                  <a:srgbClr val="555555"/>
                </a:solidFill>
              </a:rPr>
              <a:t>3</a:t>
            </a:r>
            <a:endParaRPr lang="en-US" sz="800" dirty="0"/>
          </a:p>
        </p:txBody>
      </p:sp>
      <p:sp>
        <p:nvSpPr>
          <p:cNvPr id="5" name="Text 3"/>
          <p:cNvSpPr/>
          <p:nvPr/>
        </p:nvSpPr>
        <p:spPr>
          <a:xfrm>
            <a:off x="548640" y="365760"/>
            <a:ext cx="7315200" cy="457200"/>
          </a:xfrm>
          <a:prstGeom prst="rect">
            <a:avLst/>
          </a:prstGeom>
          <a:noFill/>
          <a:ln/>
        </p:spPr>
        <p:txBody>
          <a:bodyPr wrap="square" rtlCol="0" anchor="ctr"/>
          <a:lstStyle/>
          <a:p>
            <a:pPr indent="0" marL="0">
              <a:buNone/>
            </a:pPr>
            <a:r>
              <a:rPr lang="en-US" sz="2600" b="1" dirty="0">
                <a:solidFill>
                  <a:srgbClr val="FFFFFF"/>
                </a:solidFill>
              </a:rPr>
              <a:t>Agentic Vault: The Governance Layer</a:t>
            </a:r>
            <a:endParaRPr lang="en-US" sz="2600" dirty="0"/>
          </a:p>
        </p:txBody>
      </p:sp>
      <p:sp>
        <p:nvSpPr>
          <p:cNvPr id="6" name="Shape 4"/>
          <p:cNvSpPr/>
          <p:nvPr/>
        </p:nvSpPr>
        <p:spPr>
          <a:xfrm>
            <a:off x="548640" y="804672"/>
            <a:ext cx="731520" cy="36576"/>
          </a:xfrm>
          <a:prstGeom prst="rect">
            <a:avLst/>
          </a:prstGeom>
          <a:solidFill>
            <a:srgbClr val="9C1D26"/>
          </a:solidFill>
          <a:ln/>
        </p:spPr>
      </p:sp>
      <p:sp>
        <p:nvSpPr>
          <p:cNvPr id="7" name="Text 5"/>
          <p:cNvSpPr/>
          <p:nvPr/>
        </p:nvSpPr>
        <p:spPr>
          <a:xfrm>
            <a:off x="548640" y="896112"/>
            <a:ext cx="7315200" cy="274320"/>
          </a:xfrm>
          <a:prstGeom prst="rect">
            <a:avLst/>
          </a:prstGeom>
          <a:noFill/>
          <a:ln/>
        </p:spPr>
        <p:txBody>
          <a:bodyPr wrap="square" rtlCol="0" anchor="ctr"/>
          <a:lstStyle/>
          <a:p>
            <a:pPr indent="0" marL="0">
              <a:buNone/>
            </a:pPr>
            <a:r>
              <a:rPr lang="en-US" sz="1100" dirty="0">
                <a:solidFill>
                  <a:srgbClr val="94A3B8"/>
                </a:solidFill>
              </a:rPr>
              <a:t>4 Spring Boot microservices that make AI agents safe for banking</a:t>
            </a:r>
            <a:endParaRPr lang="en-US" sz="1100" dirty="0"/>
          </a:p>
        </p:txBody>
      </p:sp>
      <p:sp>
        <p:nvSpPr>
          <p:cNvPr id="8" name="Shape 6"/>
          <p:cNvSpPr/>
          <p:nvPr/>
        </p:nvSpPr>
        <p:spPr>
          <a:xfrm>
            <a:off x="365760" y="1234440"/>
            <a:ext cx="8412480" cy="713232"/>
          </a:xfrm>
          <a:prstGeom prst="rect">
            <a:avLst>
              <a:gd name="adj" fmla="val 7692"/>
            </a:avLst>
          </a:prstGeom>
          <a:solidFill>
            <a:srgbClr val="2D2D44"/>
          </a:solidFill>
          <a:ln w="19050">
            <a:solidFill>
              <a:srgbClr val="FBBF24"/>
            </a:solidFill>
            <a:prstDash val="solid"/>
          </a:ln>
        </p:spPr>
      </p:sp>
      <p:sp>
        <p:nvSpPr>
          <p:cNvPr id="9" name="Shape 7"/>
          <p:cNvSpPr/>
          <p:nvPr/>
        </p:nvSpPr>
        <p:spPr>
          <a:xfrm>
            <a:off x="365760" y="1234440"/>
            <a:ext cx="73152" cy="713232"/>
          </a:xfrm>
          <a:prstGeom prst="rect">
            <a:avLst>
              <a:gd name="adj" fmla="val 50000"/>
            </a:avLst>
          </a:prstGeom>
          <a:solidFill>
            <a:srgbClr val="FBBF24"/>
          </a:solidFill>
          <a:ln/>
        </p:spPr>
      </p:sp>
      <p:sp>
        <p:nvSpPr>
          <p:cNvPr id="10" name="Text 8"/>
          <p:cNvSpPr/>
          <p:nvPr/>
        </p:nvSpPr>
        <p:spPr>
          <a:xfrm>
            <a:off x="594360" y="1234440"/>
            <a:ext cx="2194560" cy="274320"/>
          </a:xfrm>
          <a:prstGeom prst="rect">
            <a:avLst/>
          </a:prstGeom>
          <a:noFill/>
          <a:ln/>
        </p:spPr>
        <p:txBody>
          <a:bodyPr wrap="square" rtlCol="0" anchor="b"/>
          <a:lstStyle/>
          <a:p>
            <a:pPr indent="0" marL="0">
              <a:buNone/>
            </a:pPr>
            <a:r>
              <a:rPr lang="en-US" sz="1100" b="1" dirty="0">
                <a:solidFill>
                  <a:srgbClr val="FBBF24"/>
                </a:solidFill>
              </a:rPr>
              <a:t>vault-identity-service</a:t>
            </a:r>
            <a:endParaRPr lang="en-US" sz="1100" dirty="0"/>
          </a:p>
        </p:txBody>
      </p:sp>
      <p:sp>
        <p:nvSpPr>
          <p:cNvPr id="11" name="Text 9"/>
          <p:cNvSpPr/>
          <p:nvPr/>
        </p:nvSpPr>
        <p:spPr>
          <a:xfrm>
            <a:off x="594360" y="1508760"/>
            <a:ext cx="2194560" cy="365760"/>
          </a:xfrm>
          <a:prstGeom prst="rect">
            <a:avLst/>
          </a:prstGeom>
          <a:noFill/>
          <a:ln/>
        </p:spPr>
        <p:txBody>
          <a:bodyPr wrap="square" rtlCol="0" anchor="t"/>
          <a:lstStyle/>
          <a:p>
            <a:pPr indent="0" marL="0">
              <a:buNone/>
            </a:pPr>
            <a:r>
              <a:rPr lang="en-US" sz="900" i="1" dirty="0">
                <a:solidFill>
                  <a:srgbClr val="94A3B8"/>
                </a:solidFill>
              </a:rPr>
              <a:t>WHO is this agent? WHO is this customer?</a:t>
            </a:r>
            <a:endParaRPr lang="en-US" sz="900" dirty="0"/>
          </a:p>
        </p:txBody>
      </p:sp>
      <p:sp>
        <p:nvSpPr>
          <p:cNvPr id="12" name="Text 10"/>
          <p:cNvSpPr/>
          <p:nvPr/>
        </p:nvSpPr>
        <p:spPr>
          <a:xfrm>
            <a:off x="2926080" y="1234440"/>
            <a:ext cx="5669280" cy="713232"/>
          </a:xfrm>
          <a:prstGeom prst="rect">
            <a:avLst/>
          </a:prstGeom>
          <a:noFill/>
          <a:ln/>
        </p:spPr>
        <p:txBody>
          <a:bodyPr wrap="square" rtlCol="0" anchor="ctr"/>
          <a:lstStyle/>
          <a:p>
            <a:pPr indent="0" marL="0">
              <a:buNone/>
            </a:pPr>
            <a:r>
              <a:rPr lang="en-US" sz="950" dirty="0">
                <a:solidFill>
                  <a:srgbClr val="CBD5E1"/>
                </a:solidFill>
              </a:rPr>
              <a:t>mTLS certificate verification for every agent. Customer OTP validation. JWT tokens with scoped claims — agent-account-service gets a token that ONLY allows account operations, nothing else.</a:t>
            </a:r>
            <a:endParaRPr lang="en-US" sz="950" dirty="0"/>
          </a:p>
        </p:txBody>
      </p:sp>
      <p:sp>
        <p:nvSpPr>
          <p:cNvPr id="13" name="Shape 11"/>
          <p:cNvSpPr/>
          <p:nvPr/>
        </p:nvSpPr>
        <p:spPr>
          <a:xfrm>
            <a:off x="365760" y="2148840"/>
            <a:ext cx="8412480" cy="713232"/>
          </a:xfrm>
          <a:prstGeom prst="rect">
            <a:avLst>
              <a:gd name="adj" fmla="val 7692"/>
            </a:avLst>
          </a:prstGeom>
          <a:solidFill>
            <a:srgbClr val="2D2D44"/>
          </a:solidFill>
          <a:ln w="19050">
            <a:solidFill>
              <a:srgbClr val="F97316"/>
            </a:solidFill>
            <a:prstDash val="solid"/>
          </a:ln>
        </p:spPr>
      </p:sp>
      <p:sp>
        <p:nvSpPr>
          <p:cNvPr id="14" name="Shape 12"/>
          <p:cNvSpPr/>
          <p:nvPr/>
        </p:nvSpPr>
        <p:spPr>
          <a:xfrm>
            <a:off x="365760" y="2148840"/>
            <a:ext cx="73152" cy="713232"/>
          </a:xfrm>
          <a:prstGeom prst="rect">
            <a:avLst>
              <a:gd name="adj" fmla="val 50000"/>
            </a:avLst>
          </a:prstGeom>
          <a:solidFill>
            <a:srgbClr val="F97316"/>
          </a:solidFill>
          <a:ln/>
        </p:spPr>
      </p:sp>
      <p:sp>
        <p:nvSpPr>
          <p:cNvPr id="15" name="Text 13"/>
          <p:cNvSpPr/>
          <p:nvPr/>
        </p:nvSpPr>
        <p:spPr>
          <a:xfrm>
            <a:off x="594360" y="2148840"/>
            <a:ext cx="2194560" cy="274320"/>
          </a:xfrm>
          <a:prstGeom prst="rect">
            <a:avLst/>
          </a:prstGeom>
          <a:noFill/>
          <a:ln/>
        </p:spPr>
        <p:txBody>
          <a:bodyPr wrap="square" rtlCol="0" anchor="b"/>
          <a:lstStyle/>
          <a:p>
            <a:pPr indent="0" marL="0">
              <a:buNone/>
            </a:pPr>
            <a:r>
              <a:rPr lang="en-US" sz="1100" b="1" dirty="0">
                <a:solidFill>
                  <a:srgbClr val="F97316"/>
                </a:solidFill>
              </a:rPr>
              <a:t>vault-policy-service</a:t>
            </a:r>
            <a:endParaRPr lang="en-US" sz="1100" dirty="0"/>
          </a:p>
        </p:txBody>
      </p:sp>
      <p:sp>
        <p:nvSpPr>
          <p:cNvPr id="16" name="Text 14"/>
          <p:cNvSpPr/>
          <p:nvPr/>
        </p:nvSpPr>
        <p:spPr>
          <a:xfrm>
            <a:off x="594360" y="2423160"/>
            <a:ext cx="2194560" cy="365760"/>
          </a:xfrm>
          <a:prstGeom prst="rect">
            <a:avLst/>
          </a:prstGeom>
          <a:noFill/>
          <a:ln/>
        </p:spPr>
        <p:txBody>
          <a:bodyPr wrap="square" rtlCol="0" anchor="t"/>
          <a:lstStyle/>
          <a:p>
            <a:pPr indent="0" marL="0">
              <a:buNone/>
            </a:pPr>
            <a:r>
              <a:rPr lang="en-US" sz="900" i="1" dirty="0">
                <a:solidFill>
                  <a:srgbClr val="94A3B8"/>
                </a:solidFill>
              </a:rPr>
              <a:t>IS this action ALLOWED?</a:t>
            </a:r>
            <a:endParaRPr lang="en-US" sz="900" dirty="0"/>
          </a:p>
        </p:txBody>
      </p:sp>
      <p:sp>
        <p:nvSpPr>
          <p:cNvPr id="17" name="Text 15"/>
          <p:cNvSpPr/>
          <p:nvPr/>
        </p:nvSpPr>
        <p:spPr>
          <a:xfrm>
            <a:off x="2926080" y="2148840"/>
            <a:ext cx="5669280" cy="713232"/>
          </a:xfrm>
          <a:prstGeom prst="rect">
            <a:avLst/>
          </a:prstGeom>
          <a:noFill/>
          <a:ln/>
        </p:spPr>
        <p:txBody>
          <a:bodyPr wrap="square" rtlCol="0" anchor="ctr"/>
          <a:lstStyle/>
          <a:p>
            <a:pPr indent="0" marL="0">
              <a:buNone/>
            </a:pPr>
            <a:r>
              <a:rPr lang="en-US" sz="950" dirty="0">
                <a:solidFill>
                  <a:srgbClr val="CBD5E1"/>
                </a:solidFill>
              </a:rPr>
              <a:t>OPA Rego policy engine evaluates 6 categories: Action authorization, Threshold limits, Temporal rules (8AM-7PM), PCI-DSS, Data access control, Inter-agent rules. Returns ALLOW, DENY, or ESCALATE.</a:t>
            </a:r>
            <a:endParaRPr lang="en-US" sz="950" dirty="0"/>
          </a:p>
        </p:txBody>
      </p:sp>
      <p:sp>
        <p:nvSpPr>
          <p:cNvPr id="18" name="Shape 16"/>
          <p:cNvSpPr/>
          <p:nvPr/>
        </p:nvSpPr>
        <p:spPr>
          <a:xfrm>
            <a:off x="365760" y="3063240"/>
            <a:ext cx="8412480" cy="713232"/>
          </a:xfrm>
          <a:prstGeom prst="rect">
            <a:avLst>
              <a:gd name="adj" fmla="val 7692"/>
            </a:avLst>
          </a:prstGeom>
          <a:solidFill>
            <a:srgbClr val="2D2D44"/>
          </a:solidFill>
          <a:ln w="19050">
            <a:solidFill>
              <a:srgbClr val="EF4444"/>
            </a:solidFill>
            <a:prstDash val="solid"/>
          </a:ln>
        </p:spPr>
      </p:sp>
      <p:sp>
        <p:nvSpPr>
          <p:cNvPr id="19" name="Shape 17"/>
          <p:cNvSpPr/>
          <p:nvPr/>
        </p:nvSpPr>
        <p:spPr>
          <a:xfrm>
            <a:off x="365760" y="3063240"/>
            <a:ext cx="73152" cy="713232"/>
          </a:xfrm>
          <a:prstGeom prst="rect">
            <a:avLst>
              <a:gd name="adj" fmla="val 50000"/>
            </a:avLst>
          </a:prstGeom>
          <a:solidFill>
            <a:srgbClr val="EF4444"/>
          </a:solidFill>
          <a:ln/>
        </p:spPr>
      </p:sp>
      <p:sp>
        <p:nvSpPr>
          <p:cNvPr id="20" name="Text 18"/>
          <p:cNvSpPr/>
          <p:nvPr/>
        </p:nvSpPr>
        <p:spPr>
          <a:xfrm>
            <a:off x="594360" y="3063240"/>
            <a:ext cx="2194560" cy="274320"/>
          </a:xfrm>
          <a:prstGeom prst="rect">
            <a:avLst/>
          </a:prstGeom>
          <a:noFill/>
          <a:ln/>
        </p:spPr>
        <p:txBody>
          <a:bodyPr wrap="square" rtlCol="0" anchor="b"/>
          <a:lstStyle/>
          <a:p>
            <a:pPr indent="0" marL="0">
              <a:buNone/>
            </a:pPr>
            <a:r>
              <a:rPr lang="en-US" sz="1100" b="1" dirty="0">
                <a:solidFill>
                  <a:srgbClr val="EF4444"/>
                </a:solidFill>
              </a:rPr>
              <a:t>vault-anomaly-service</a:t>
            </a:r>
            <a:endParaRPr lang="en-US" sz="1100" dirty="0"/>
          </a:p>
        </p:txBody>
      </p:sp>
      <p:sp>
        <p:nvSpPr>
          <p:cNvPr id="21" name="Text 19"/>
          <p:cNvSpPr/>
          <p:nvPr/>
        </p:nvSpPr>
        <p:spPr>
          <a:xfrm>
            <a:off x="594360" y="3337560"/>
            <a:ext cx="2194560" cy="365760"/>
          </a:xfrm>
          <a:prstGeom prst="rect">
            <a:avLst/>
          </a:prstGeom>
          <a:noFill/>
          <a:ln/>
        </p:spPr>
        <p:txBody>
          <a:bodyPr wrap="square" rtlCol="0" anchor="t"/>
          <a:lstStyle/>
          <a:p>
            <a:pPr indent="0" marL="0">
              <a:buNone/>
            </a:pPr>
            <a:r>
              <a:rPr lang="en-US" sz="900" i="1" dirty="0">
                <a:solidFill>
                  <a:srgbClr val="94A3B8"/>
                </a:solidFill>
              </a:rPr>
              <a:t>IS something SUSPICIOUS happening?</a:t>
            </a:r>
            <a:endParaRPr lang="en-US" sz="900" dirty="0"/>
          </a:p>
        </p:txBody>
      </p:sp>
      <p:sp>
        <p:nvSpPr>
          <p:cNvPr id="22" name="Text 20"/>
          <p:cNvSpPr/>
          <p:nvPr/>
        </p:nvSpPr>
        <p:spPr>
          <a:xfrm>
            <a:off x="2926080" y="3063240"/>
            <a:ext cx="5669280" cy="713232"/>
          </a:xfrm>
          <a:prstGeom prst="rect">
            <a:avLst/>
          </a:prstGeom>
          <a:noFill/>
          <a:ln/>
        </p:spPr>
        <p:txBody>
          <a:bodyPr wrap="square" rtlCol="0" anchor="ctr"/>
          <a:lstStyle/>
          <a:p>
            <a:pPr indent="0" marL="0">
              <a:buNone/>
            </a:pPr>
            <a:r>
              <a:rPr lang="en-US" sz="950" dirty="0">
                <a:solidFill>
                  <a:srgbClr val="CBD5E1"/>
                </a:solidFill>
              </a:rPr>
              <a:t>Kafka Streams monitors all agent behavior in real-time. Detects: rate anomalies (agent calling too fast), coordinated access (5 agents hitting same customer), prompt injection attempts.</a:t>
            </a:r>
            <a:endParaRPr lang="en-US" sz="950" dirty="0"/>
          </a:p>
        </p:txBody>
      </p:sp>
      <p:sp>
        <p:nvSpPr>
          <p:cNvPr id="23" name="Shape 21"/>
          <p:cNvSpPr/>
          <p:nvPr/>
        </p:nvSpPr>
        <p:spPr>
          <a:xfrm>
            <a:off x="365760" y="3977640"/>
            <a:ext cx="8412480" cy="713232"/>
          </a:xfrm>
          <a:prstGeom prst="rect">
            <a:avLst>
              <a:gd name="adj" fmla="val 7692"/>
            </a:avLst>
          </a:prstGeom>
          <a:solidFill>
            <a:srgbClr val="2D2D44"/>
          </a:solidFill>
          <a:ln w="19050">
            <a:solidFill>
              <a:srgbClr val="10B981"/>
            </a:solidFill>
            <a:prstDash val="solid"/>
          </a:ln>
        </p:spPr>
      </p:sp>
      <p:sp>
        <p:nvSpPr>
          <p:cNvPr id="24" name="Shape 22"/>
          <p:cNvSpPr/>
          <p:nvPr/>
        </p:nvSpPr>
        <p:spPr>
          <a:xfrm>
            <a:off x="365760" y="3977640"/>
            <a:ext cx="73152" cy="713232"/>
          </a:xfrm>
          <a:prstGeom prst="rect">
            <a:avLst>
              <a:gd name="adj" fmla="val 50000"/>
            </a:avLst>
          </a:prstGeom>
          <a:solidFill>
            <a:srgbClr val="10B981"/>
          </a:solidFill>
          <a:ln/>
        </p:spPr>
      </p:sp>
      <p:sp>
        <p:nvSpPr>
          <p:cNvPr id="25" name="Text 23"/>
          <p:cNvSpPr/>
          <p:nvPr/>
        </p:nvSpPr>
        <p:spPr>
          <a:xfrm>
            <a:off x="594360" y="3977640"/>
            <a:ext cx="2194560" cy="274320"/>
          </a:xfrm>
          <a:prstGeom prst="rect">
            <a:avLst/>
          </a:prstGeom>
          <a:noFill/>
          <a:ln/>
        </p:spPr>
        <p:txBody>
          <a:bodyPr wrap="square" rtlCol="0" anchor="b"/>
          <a:lstStyle/>
          <a:p>
            <a:pPr indent="0" marL="0">
              <a:buNone/>
            </a:pPr>
            <a:r>
              <a:rPr lang="en-US" sz="1100" b="1" dirty="0">
                <a:solidFill>
                  <a:srgbClr val="10B981"/>
                </a:solidFill>
              </a:rPr>
              <a:t>vault-audit-service</a:t>
            </a:r>
            <a:endParaRPr lang="en-US" sz="1100" dirty="0"/>
          </a:p>
        </p:txBody>
      </p:sp>
      <p:sp>
        <p:nvSpPr>
          <p:cNvPr id="26" name="Text 24"/>
          <p:cNvSpPr/>
          <p:nvPr/>
        </p:nvSpPr>
        <p:spPr>
          <a:xfrm>
            <a:off x="594360" y="4251960"/>
            <a:ext cx="2194560" cy="365760"/>
          </a:xfrm>
          <a:prstGeom prst="rect">
            <a:avLst/>
          </a:prstGeom>
          <a:noFill/>
          <a:ln/>
        </p:spPr>
        <p:txBody>
          <a:bodyPr wrap="square" rtlCol="0" anchor="t"/>
          <a:lstStyle/>
          <a:p>
            <a:pPr indent="0" marL="0">
              <a:buNone/>
            </a:pPr>
            <a:r>
              <a:rPr lang="en-US" sz="900" i="1" dirty="0">
                <a:solidFill>
                  <a:srgbClr val="94A3B8"/>
                </a:solidFill>
              </a:rPr>
              <a:t>WHAT happened and WHEN?</a:t>
            </a:r>
            <a:endParaRPr lang="en-US" sz="900" dirty="0"/>
          </a:p>
        </p:txBody>
      </p:sp>
      <p:sp>
        <p:nvSpPr>
          <p:cNvPr id="27" name="Text 25"/>
          <p:cNvSpPr/>
          <p:nvPr/>
        </p:nvSpPr>
        <p:spPr>
          <a:xfrm>
            <a:off x="2926080" y="3977640"/>
            <a:ext cx="5669280" cy="713232"/>
          </a:xfrm>
          <a:prstGeom prst="rect">
            <a:avLst/>
          </a:prstGeom>
          <a:noFill/>
          <a:ln/>
        </p:spPr>
        <p:txBody>
          <a:bodyPr wrap="square" rtlCol="0" anchor="ctr"/>
          <a:lstStyle/>
          <a:p>
            <a:pPr indent="0" marL="0">
              <a:buNone/>
            </a:pPr>
            <a:r>
              <a:rPr lang="en-US" sz="950" dirty="0">
                <a:solidFill>
                  <a:srgbClr val="CBD5E1"/>
                </a:solidFill>
              </a:rPr>
              <a:t>Every action, every policy decision, every data access — logged immutably to PostgreSQL with hash chain. Cannot be modified or deleted (database trigger). 7-year retention for RBI.</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9C1D26"/>
          </a:solidFill>
          <a:ln/>
        </p:spPr>
      </p:sp>
      <p:sp>
        <p:nvSpPr>
          <p:cNvPr id="3" name="Text 1"/>
          <p:cNvSpPr/>
          <p:nvPr/>
        </p:nvSpPr>
        <p:spPr>
          <a:xfrm>
            <a:off x="7132320" y="137160"/>
            <a:ext cx="1828800" cy="274320"/>
          </a:xfrm>
          <a:prstGeom prst="rect">
            <a:avLst/>
          </a:prstGeom>
          <a:noFill/>
          <a:ln/>
        </p:spPr>
        <p:txBody>
          <a:bodyPr wrap="square" rtlCol="0" anchor="ctr"/>
          <a:lstStyle/>
          <a:p>
            <a:pPr algn="r" indent="0" marL="0">
              <a:buNone/>
            </a:pPr>
            <a:r>
              <a:rPr lang="en-US" sz="900" b="1" dirty="0">
                <a:solidFill>
                  <a:srgbClr val="9C1D26"/>
                </a:solidFill>
              </a:rPr>
              <a:t>IDFC </a:t>
            </a:r>
            <a:pPr algn="r" indent="0" marL="0">
              <a:buNone/>
            </a:pPr>
            <a:r>
              <a:rPr lang="en-US" sz="900" b="1" dirty="0">
                <a:solidFill>
                  <a:srgbClr val="9C1D26"/>
                </a:solidFill>
              </a:rPr>
              <a:t>FIRST </a:t>
            </a:r>
            <a:pPr algn="r" indent="0" marL="0">
              <a:buNone/>
            </a:pPr>
            <a:r>
              <a:rPr lang="en-US" sz="900" dirty="0">
                <a:solidFill>
                  <a:srgbClr val="666666"/>
                </a:solidFill>
              </a:rPr>
              <a:t>Bank</a:t>
            </a:r>
            <a:endParaRPr lang="en-US" sz="900" dirty="0"/>
          </a:p>
        </p:txBody>
      </p:sp>
      <p:sp>
        <p:nvSpPr>
          <p:cNvPr id="4" name="Text 2"/>
          <p:cNvSpPr/>
          <p:nvPr/>
        </p:nvSpPr>
        <p:spPr>
          <a:xfrm>
            <a:off x="8503920" y="4754880"/>
            <a:ext cx="457200" cy="274320"/>
          </a:xfrm>
          <a:prstGeom prst="rect">
            <a:avLst/>
          </a:prstGeom>
          <a:noFill/>
          <a:ln/>
        </p:spPr>
        <p:txBody>
          <a:bodyPr wrap="square" rtlCol="0" anchor="ctr"/>
          <a:lstStyle/>
          <a:p>
            <a:pPr algn="r" indent="0" marL="0">
              <a:buNone/>
            </a:pPr>
            <a:r>
              <a:rPr lang="en-US" sz="800" dirty="0">
                <a:solidFill>
                  <a:srgbClr val="AAAAAA"/>
                </a:solidFill>
              </a:rPr>
              <a:t>4</a:t>
            </a:r>
            <a:endParaRPr lang="en-US" sz="800" dirty="0"/>
          </a:p>
        </p:txBody>
      </p:sp>
      <p:sp>
        <p:nvSpPr>
          <p:cNvPr id="5" name="Text 3"/>
          <p:cNvSpPr/>
          <p:nvPr/>
        </p:nvSpPr>
        <p:spPr>
          <a:xfrm>
            <a:off x="548640" y="365760"/>
            <a:ext cx="7315200" cy="457200"/>
          </a:xfrm>
          <a:prstGeom prst="rect">
            <a:avLst/>
          </a:prstGeom>
          <a:noFill/>
          <a:ln/>
        </p:spPr>
        <p:txBody>
          <a:bodyPr wrap="square" rtlCol="0" anchor="ctr"/>
          <a:lstStyle/>
          <a:p>
            <a:pPr indent="0" marL="0">
              <a:buNone/>
            </a:pPr>
            <a:r>
              <a:rPr lang="en-US" sz="2200" b="1" dirty="0">
                <a:solidFill>
                  <a:srgbClr val="1B1B2F"/>
                </a:solidFill>
              </a:rPr>
              <a:t>Fail-Closed: If Vault Is Down, Everything Stops</a:t>
            </a:r>
            <a:endParaRPr lang="en-US" sz="2200" dirty="0"/>
          </a:p>
        </p:txBody>
      </p:sp>
      <p:sp>
        <p:nvSpPr>
          <p:cNvPr id="6" name="Shape 4"/>
          <p:cNvSpPr/>
          <p:nvPr/>
        </p:nvSpPr>
        <p:spPr>
          <a:xfrm>
            <a:off x="548640" y="777240"/>
            <a:ext cx="731520" cy="36576"/>
          </a:xfrm>
          <a:prstGeom prst="rect">
            <a:avLst/>
          </a:prstGeom>
          <a:solidFill>
            <a:srgbClr val="9C1D26"/>
          </a:solidFill>
          <a:ln/>
        </p:spPr>
      </p:sp>
      <p:sp>
        <p:nvSpPr>
          <p:cNvPr id="7" name="Shape 5"/>
          <p:cNvSpPr/>
          <p:nvPr/>
        </p:nvSpPr>
        <p:spPr>
          <a:xfrm>
            <a:off x="457200" y="1097280"/>
            <a:ext cx="8229600" cy="1371600"/>
          </a:xfrm>
          <a:prstGeom prst="rect">
            <a:avLst>
              <a:gd name="adj" fmla="val 6667"/>
            </a:avLst>
          </a:prstGeom>
          <a:solidFill>
            <a:srgbClr val="FEF2F2"/>
          </a:solidFill>
          <a:ln w="25400">
            <a:solidFill>
              <a:srgbClr val="9C1D26"/>
            </a:solidFill>
            <a:prstDash val="solid"/>
          </a:ln>
        </p:spPr>
      </p:sp>
      <p:sp>
        <p:nvSpPr>
          <p:cNvPr id="8" name="Text 6"/>
          <p:cNvSpPr/>
          <p:nvPr/>
        </p:nvSpPr>
        <p:spPr>
          <a:xfrm>
            <a:off x="731520" y="1188720"/>
            <a:ext cx="7680960" cy="320040"/>
          </a:xfrm>
          <a:prstGeom prst="rect">
            <a:avLst/>
          </a:prstGeom>
          <a:noFill/>
          <a:ln/>
        </p:spPr>
        <p:txBody>
          <a:bodyPr wrap="square" rtlCol="0" anchor="ctr"/>
          <a:lstStyle/>
          <a:p>
            <a:pPr algn="ctr" indent="0" marL="0">
              <a:buNone/>
            </a:pPr>
            <a:r>
              <a:rPr lang="en-US" sz="1200" b="1" dirty="0">
                <a:solidFill>
                  <a:srgbClr val="9C1D26"/>
                </a:solidFill>
              </a:rPr>
              <a:t>THE MOST IMPORTANT SECURITY PROPERTY</a:t>
            </a:r>
            <a:endParaRPr lang="en-US" sz="1200" dirty="0"/>
          </a:p>
        </p:txBody>
      </p:sp>
      <p:sp>
        <p:nvSpPr>
          <p:cNvPr id="9" name="Text 7"/>
          <p:cNvSpPr/>
          <p:nvPr/>
        </p:nvSpPr>
        <p:spPr>
          <a:xfrm>
            <a:off x="731520" y="1554480"/>
            <a:ext cx="7680960" cy="731520"/>
          </a:xfrm>
          <a:prstGeom prst="rect">
            <a:avLst/>
          </a:prstGeom>
          <a:noFill/>
          <a:ln/>
        </p:spPr>
        <p:txBody>
          <a:bodyPr wrap="square" rtlCol="0" anchor="ctr"/>
          <a:lstStyle/>
          <a:p>
            <a:pPr algn="ctr" indent="0" marL="0">
              <a:buNone/>
            </a:pPr>
            <a:r>
              <a:rPr lang="en-US" sz="1200" dirty="0">
                <a:solidFill>
                  <a:srgbClr val="475569"/>
                </a:solidFill>
              </a:rPr>
              <a:t>If vault-policy-service is unreachable for any reason — network failure, pod crash, deployment error — the platform returns DENY for every request. No agent can perform any action. No customer data can be accessed. No transaction can be processed.</a:t>
            </a:r>
            <a:endParaRPr lang="en-US" sz="1200" dirty="0"/>
          </a:p>
        </p:txBody>
      </p:sp>
      <p:sp>
        <p:nvSpPr>
          <p:cNvPr id="10" name="Text 8"/>
          <p:cNvSpPr/>
          <p:nvPr/>
        </p:nvSpPr>
        <p:spPr>
          <a:xfrm>
            <a:off x="548640" y="2743200"/>
            <a:ext cx="7315200" cy="320040"/>
          </a:xfrm>
          <a:prstGeom prst="rect">
            <a:avLst/>
          </a:prstGeom>
          <a:noFill/>
          <a:ln/>
        </p:spPr>
        <p:txBody>
          <a:bodyPr wrap="square" rtlCol="0" anchor="ctr"/>
          <a:lstStyle/>
          <a:p>
            <a:pPr indent="0" marL="0">
              <a:buNone/>
            </a:pPr>
            <a:r>
              <a:rPr lang="en-US" sz="1400" b="1" dirty="0">
                <a:solidFill>
                  <a:srgbClr val="1B1B2F"/>
                </a:solidFill>
              </a:rPr>
              <a:t>Why this matters:</a:t>
            </a:r>
            <a:endParaRPr lang="en-US" sz="1400" dirty="0"/>
          </a:p>
        </p:txBody>
      </p:sp>
      <p:sp>
        <p:nvSpPr>
          <p:cNvPr id="11" name="Shape 9"/>
          <p:cNvSpPr/>
          <p:nvPr/>
        </p:nvSpPr>
        <p:spPr>
          <a:xfrm>
            <a:off x="548640" y="3108960"/>
            <a:ext cx="8046720" cy="457200"/>
          </a:xfrm>
          <a:prstGeom prst="rect">
            <a:avLst>
              <a:gd name="adj" fmla="val 8000"/>
            </a:avLst>
          </a:prstGeom>
          <a:solidFill>
            <a:srgbClr val="FEF2F2"/>
          </a:solidFill>
          <a:ln/>
        </p:spPr>
      </p:sp>
      <p:sp>
        <p:nvSpPr>
          <p:cNvPr id="12" name="Text 10"/>
          <p:cNvSpPr/>
          <p:nvPr/>
        </p:nvSpPr>
        <p:spPr>
          <a:xfrm>
            <a:off x="731520" y="3108960"/>
            <a:ext cx="2377440" cy="457200"/>
          </a:xfrm>
          <a:prstGeom prst="rect">
            <a:avLst/>
          </a:prstGeom>
          <a:noFill/>
          <a:ln/>
        </p:spPr>
        <p:txBody>
          <a:bodyPr wrap="square" rtlCol="0" anchor="ctr"/>
          <a:lstStyle/>
          <a:p>
            <a:pPr indent="0" marL="0">
              <a:buNone/>
            </a:pPr>
            <a:r>
              <a:rPr lang="en-US" sz="1000" b="1" dirty="0">
                <a:solidFill>
                  <a:srgbClr val="DC2626"/>
                </a:solidFill>
              </a:rPr>
              <a:t>Other AI platforms fail OPEN</a:t>
            </a:r>
            <a:endParaRPr lang="en-US" sz="1000" dirty="0"/>
          </a:p>
        </p:txBody>
      </p:sp>
      <p:sp>
        <p:nvSpPr>
          <p:cNvPr id="13" name="Text 11"/>
          <p:cNvSpPr/>
          <p:nvPr/>
        </p:nvSpPr>
        <p:spPr>
          <a:xfrm>
            <a:off x="3200400" y="3108960"/>
            <a:ext cx="5212080" cy="457200"/>
          </a:xfrm>
          <a:prstGeom prst="rect">
            <a:avLst/>
          </a:prstGeom>
          <a:noFill/>
          <a:ln/>
        </p:spPr>
        <p:txBody>
          <a:bodyPr wrap="square" rtlCol="0" anchor="ctr"/>
          <a:lstStyle/>
          <a:p>
            <a:pPr indent="0" marL="0">
              <a:buNone/>
            </a:pPr>
            <a:r>
              <a:rPr lang="en-US" sz="950" dirty="0">
                <a:solidFill>
                  <a:srgbClr val="475569"/>
                </a:solidFill>
              </a:rPr>
              <a:t>If their security layer crashes, AI agents continue operating ungoverned. Customer data keeps flowing. Transactions keep processing. Nobody notices until damage is done.</a:t>
            </a:r>
            <a:endParaRPr lang="en-US" sz="950" dirty="0"/>
          </a:p>
        </p:txBody>
      </p:sp>
      <p:sp>
        <p:nvSpPr>
          <p:cNvPr id="14" name="Shape 12"/>
          <p:cNvSpPr/>
          <p:nvPr/>
        </p:nvSpPr>
        <p:spPr>
          <a:xfrm>
            <a:off x="548640" y="3675888"/>
            <a:ext cx="8046720" cy="457200"/>
          </a:xfrm>
          <a:prstGeom prst="rect">
            <a:avLst>
              <a:gd name="adj" fmla="val 8000"/>
            </a:avLst>
          </a:prstGeom>
          <a:solidFill>
            <a:srgbClr val="ECFDF5"/>
          </a:solidFill>
          <a:ln/>
        </p:spPr>
      </p:sp>
      <p:sp>
        <p:nvSpPr>
          <p:cNvPr id="15" name="Text 13"/>
          <p:cNvSpPr/>
          <p:nvPr/>
        </p:nvSpPr>
        <p:spPr>
          <a:xfrm>
            <a:off x="731520" y="3675888"/>
            <a:ext cx="2377440" cy="457200"/>
          </a:xfrm>
          <a:prstGeom prst="rect">
            <a:avLst/>
          </a:prstGeom>
          <a:noFill/>
          <a:ln/>
        </p:spPr>
        <p:txBody>
          <a:bodyPr wrap="square" rtlCol="0" anchor="ctr"/>
          <a:lstStyle/>
          <a:p>
            <a:pPr indent="0" marL="0">
              <a:buNone/>
            </a:pPr>
            <a:r>
              <a:rPr lang="en-US" sz="1000" b="1" dirty="0">
                <a:solidFill>
                  <a:srgbClr val="0F6E56"/>
                </a:solidFill>
              </a:rPr>
              <a:t>Our platform fails CLOSED</a:t>
            </a:r>
            <a:endParaRPr lang="en-US" sz="1000" dirty="0"/>
          </a:p>
        </p:txBody>
      </p:sp>
      <p:sp>
        <p:nvSpPr>
          <p:cNvPr id="16" name="Text 14"/>
          <p:cNvSpPr/>
          <p:nvPr/>
        </p:nvSpPr>
        <p:spPr>
          <a:xfrm>
            <a:off x="3200400" y="3675888"/>
            <a:ext cx="5212080" cy="457200"/>
          </a:xfrm>
          <a:prstGeom prst="rect">
            <a:avLst/>
          </a:prstGeom>
          <a:noFill/>
          <a:ln/>
        </p:spPr>
        <p:txBody>
          <a:bodyPr wrap="square" rtlCol="0" anchor="ctr"/>
          <a:lstStyle/>
          <a:p>
            <a:pPr indent="0" marL="0">
              <a:buNone/>
            </a:pPr>
            <a:r>
              <a:rPr lang="en-US" sz="950" dirty="0">
                <a:solidFill>
                  <a:srgbClr val="475569"/>
                </a:solidFill>
              </a:rPr>
              <a:t>A Vault outage is equivalent to pulling the emergency brake. The system prefers complete downtime over a single ungoverned action. This is the same principle used in nuclear safety systems.</a:t>
            </a:r>
            <a:endParaRPr lang="en-US" sz="950" dirty="0"/>
          </a:p>
        </p:txBody>
      </p:sp>
      <p:sp>
        <p:nvSpPr>
          <p:cNvPr id="17" name="Shape 15"/>
          <p:cNvSpPr/>
          <p:nvPr/>
        </p:nvSpPr>
        <p:spPr>
          <a:xfrm>
            <a:off x="548640" y="4242816"/>
            <a:ext cx="8046720" cy="457200"/>
          </a:xfrm>
          <a:prstGeom prst="rect">
            <a:avLst>
              <a:gd name="adj" fmla="val 8000"/>
            </a:avLst>
          </a:prstGeom>
          <a:solidFill>
            <a:srgbClr val="F1F5F9"/>
          </a:solidFill>
          <a:ln/>
        </p:spPr>
      </p:sp>
      <p:sp>
        <p:nvSpPr>
          <p:cNvPr id="18" name="Text 16"/>
          <p:cNvSpPr/>
          <p:nvPr/>
        </p:nvSpPr>
        <p:spPr>
          <a:xfrm>
            <a:off x="731520" y="4242816"/>
            <a:ext cx="2377440" cy="457200"/>
          </a:xfrm>
          <a:prstGeom prst="rect">
            <a:avLst/>
          </a:prstGeom>
          <a:noFill/>
          <a:ln/>
        </p:spPr>
        <p:txBody>
          <a:bodyPr wrap="square" rtlCol="0" anchor="ctr"/>
          <a:lstStyle/>
          <a:p>
            <a:pPr indent="0" marL="0">
              <a:buNone/>
            </a:pPr>
            <a:r>
              <a:rPr lang="en-US" sz="1000" b="1" dirty="0">
                <a:solidFill>
                  <a:srgbClr val="334155"/>
                </a:solidFill>
              </a:rPr>
              <a:t>This is not a configuration option</a:t>
            </a:r>
            <a:endParaRPr lang="en-US" sz="1000" dirty="0"/>
          </a:p>
        </p:txBody>
      </p:sp>
      <p:sp>
        <p:nvSpPr>
          <p:cNvPr id="19" name="Text 17"/>
          <p:cNvSpPr/>
          <p:nvPr/>
        </p:nvSpPr>
        <p:spPr>
          <a:xfrm>
            <a:off x="3200400" y="4242816"/>
            <a:ext cx="5212080" cy="457200"/>
          </a:xfrm>
          <a:prstGeom prst="rect">
            <a:avLst/>
          </a:prstGeom>
          <a:noFill/>
          <a:ln/>
        </p:spPr>
        <p:txBody>
          <a:bodyPr wrap="square" rtlCol="0" anchor="ctr"/>
          <a:lstStyle/>
          <a:p>
            <a:pPr indent="0" marL="0">
              <a:buNone/>
            </a:pPr>
            <a:r>
              <a:rPr lang="en-US" sz="950" dirty="0">
                <a:solidFill>
                  <a:srgbClr val="475569"/>
                </a:solidFill>
              </a:rPr>
              <a:t>It is hardcoded in the VaultPolicyClient in common-spring-boot-starter. Every service inherits this behavior. A developer cannot accidentally build an agent that bypasses it.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1B2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9C1D26"/>
          </a:solidFill>
          <a:ln/>
        </p:spPr>
      </p:sp>
      <p:sp>
        <p:nvSpPr>
          <p:cNvPr id="3" name="Text 1"/>
          <p:cNvSpPr/>
          <p:nvPr/>
        </p:nvSpPr>
        <p:spPr>
          <a:xfrm>
            <a:off x="7132320" y="137160"/>
            <a:ext cx="1828800" cy="274320"/>
          </a:xfrm>
          <a:prstGeom prst="rect">
            <a:avLst/>
          </a:prstGeom>
          <a:noFill/>
          <a:ln/>
        </p:spPr>
        <p:txBody>
          <a:bodyPr wrap="square" rtlCol="0" anchor="ctr"/>
          <a:lstStyle/>
          <a:p>
            <a:pPr algn="r" indent="0" marL="0">
              <a:buNone/>
            </a:pPr>
            <a:r>
              <a:rPr lang="en-US" sz="900" b="1" dirty="0">
                <a:solidFill>
                  <a:srgbClr val="9C1D26"/>
                </a:solidFill>
              </a:rPr>
              <a:t>IDFC </a:t>
            </a:r>
            <a:pPr algn="r" indent="0" marL="0">
              <a:buNone/>
            </a:pPr>
            <a:r>
              <a:rPr lang="en-US" sz="900" b="1" dirty="0">
                <a:solidFill>
                  <a:srgbClr val="9C1D26"/>
                </a:solidFill>
              </a:rPr>
              <a:t>FIRST </a:t>
            </a:r>
            <a:pPr algn="r" indent="0" marL="0">
              <a:buNone/>
            </a:pPr>
            <a:r>
              <a:rPr lang="en-US" sz="900" dirty="0">
                <a:solidFill>
                  <a:srgbClr val="888888"/>
                </a:solidFill>
              </a:rPr>
              <a:t>Bank</a:t>
            </a:r>
            <a:endParaRPr lang="en-US" sz="900" dirty="0"/>
          </a:p>
        </p:txBody>
      </p:sp>
      <p:sp>
        <p:nvSpPr>
          <p:cNvPr id="4" name="Text 2"/>
          <p:cNvSpPr/>
          <p:nvPr/>
        </p:nvSpPr>
        <p:spPr>
          <a:xfrm>
            <a:off x="8503920" y="4754880"/>
            <a:ext cx="457200" cy="274320"/>
          </a:xfrm>
          <a:prstGeom prst="rect">
            <a:avLst/>
          </a:prstGeom>
          <a:noFill/>
          <a:ln/>
        </p:spPr>
        <p:txBody>
          <a:bodyPr wrap="square" rtlCol="0" anchor="ctr"/>
          <a:lstStyle/>
          <a:p>
            <a:pPr algn="r" indent="0" marL="0">
              <a:buNone/>
            </a:pPr>
            <a:r>
              <a:rPr lang="en-US" sz="800" dirty="0">
                <a:solidFill>
                  <a:srgbClr val="555555"/>
                </a:solidFill>
              </a:rPr>
              <a:t>5</a:t>
            </a:r>
            <a:endParaRPr lang="en-US" sz="800" dirty="0"/>
          </a:p>
        </p:txBody>
      </p:sp>
      <p:sp>
        <p:nvSpPr>
          <p:cNvPr id="5" name="Text 3"/>
          <p:cNvSpPr/>
          <p:nvPr/>
        </p:nvSpPr>
        <p:spPr>
          <a:xfrm>
            <a:off x="548640" y="365760"/>
            <a:ext cx="7315200" cy="457200"/>
          </a:xfrm>
          <a:prstGeom prst="rect">
            <a:avLst/>
          </a:prstGeom>
          <a:noFill/>
          <a:ln/>
        </p:spPr>
        <p:txBody>
          <a:bodyPr wrap="square" rtlCol="0" anchor="ctr"/>
          <a:lstStyle/>
          <a:p>
            <a:pPr indent="0" marL="0">
              <a:buNone/>
            </a:pPr>
            <a:r>
              <a:rPr lang="en-US" sz="2400" b="1" dirty="0">
                <a:solidFill>
                  <a:srgbClr val="FFFFFF"/>
                </a:solidFill>
              </a:rPr>
              <a:t>What Vault Prevents: Real Examples</a:t>
            </a:r>
            <a:endParaRPr lang="en-US" sz="2400" dirty="0"/>
          </a:p>
        </p:txBody>
      </p:sp>
      <p:sp>
        <p:nvSpPr>
          <p:cNvPr id="6" name="Shape 4"/>
          <p:cNvSpPr/>
          <p:nvPr/>
        </p:nvSpPr>
        <p:spPr>
          <a:xfrm>
            <a:off x="548640" y="804672"/>
            <a:ext cx="731520" cy="36576"/>
          </a:xfrm>
          <a:prstGeom prst="rect">
            <a:avLst/>
          </a:prstGeom>
          <a:solidFill>
            <a:srgbClr val="9C1D26"/>
          </a:solidFill>
          <a:ln/>
        </p:spPr>
      </p:sp>
      <p:sp>
        <p:nvSpPr>
          <p:cNvPr id="7" name="Shape 5"/>
          <p:cNvSpPr/>
          <p:nvPr/>
        </p:nvSpPr>
        <p:spPr>
          <a:xfrm>
            <a:off x="365760" y="1051560"/>
            <a:ext cx="8412480" cy="502920"/>
          </a:xfrm>
          <a:prstGeom prst="rect">
            <a:avLst>
              <a:gd name="adj" fmla="val 9091"/>
            </a:avLst>
          </a:prstGeom>
          <a:solidFill>
            <a:srgbClr val="2D2D44"/>
          </a:solidFill>
          <a:ln/>
        </p:spPr>
      </p:sp>
      <p:sp>
        <p:nvSpPr>
          <p:cNvPr id="8" name="Text 6"/>
          <p:cNvSpPr/>
          <p:nvPr/>
        </p:nvSpPr>
        <p:spPr>
          <a:xfrm>
            <a:off x="548640" y="1051560"/>
            <a:ext cx="2743200" cy="502920"/>
          </a:xfrm>
          <a:prstGeom prst="rect">
            <a:avLst/>
          </a:prstGeom>
          <a:noFill/>
          <a:ln/>
        </p:spPr>
        <p:txBody>
          <a:bodyPr wrap="square" rtlCol="0" anchor="ctr"/>
          <a:lstStyle/>
          <a:p>
            <a:pPr indent="0" marL="0">
              <a:buNone/>
            </a:pPr>
            <a:r>
              <a:rPr lang="en-US" sz="1000" b="1" dirty="0">
                <a:solidFill>
                  <a:srgbClr val="E2E8F0"/>
                </a:solidFill>
              </a:rPr>
              <a:t>Agent tries to approve ₹15L loan</a:t>
            </a:r>
            <a:endParaRPr lang="en-US" sz="1000" dirty="0"/>
          </a:p>
        </p:txBody>
      </p:sp>
      <p:sp>
        <p:nvSpPr>
          <p:cNvPr id="9" name="Shape 7"/>
          <p:cNvSpPr/>
          <p:nvPr/>
        </p:nvSpPr>
        <p:spPr>
          <a:xfrm>
            <a:off x="3383280" y="1143000"/>
            <a:ext cx="1005840" cy="320040"/>
          </a:xfrm>
          <a:prstGeom prst="rect">
            <a:avLst>
              <a:gd name="adj" fmla="val 11429"/>
            </a:avLst>
          </a:prstGeom>
          <a:solidFill>
            <a:srgbClr val="9C1D26"/>
          </a:solidFill>
          <a:ln/>
        </p:spPr>
      </p:sp>
      <p:sp>
        <p:nvSpPr>
          <p:cNvPr id="10" name="Text 8"/>
          <p:cNvSpPr/>
          <p:nvPr/>
        </p:nvSpPr>
        <p:spPr>
          <a:xfrm>
            <a:off x="3383280" y="1143000"/>
            <a:ext cx="1005840" cy="320040"/>
          </a:xfrm>
          <a:prstGeom prst="rect">
            <a:avLst/>
          </a:prstGeom>
          <a:noFill/>
          <a:ln/>
        </p:spPr>
        <p:txBody>
          <a:bodyPr wrap="square" rtlCol="0" anchor="ctr"/>
          <a:lstStyle/>
          <a:p>
            <a:pPr algn="ctr" indent="0" marL="0">
              <a:buNone/>
            </a:pPr>
            <a:r>
              <a:rPr lang="en-US" sz="900" b="1" dirty="0">
                <a:solidFill>
                  <a:srgbClr val="FFFFFF"/>
                </a:solidFill>
              </a:rPr>
              <a:t>ESCALATE</a:t>
            </a:r>
            <a:endParaRPr lang="en-US" sz="900" dirty="0"/>
          </a:p>
        </p:txBody>
      </p:sp>
      <p:sp>
        <p:nvSpPr>
          <p:cNvPr id="11" name="Text 9"/>
          <p:cNvSpPr/>
          <p:nvPr/>
        </p:nvSpPr>
        <p:spPr>
          <a:xfrm>
            <a:off x="4572000" y="1051560"/>
            <a:ext cx="4114800" cy="502920"/>
          </a:xfrm>
          <a:prstGeom prst="rect">
            <a:avLst/>
          </a:prstGeom>
          <a:noFill/>
          <a:ln/>
        </p:spPr>
        <p:txBody>
          <a:bodyPr wrap="square" rtlCol="0" anchor="ctr"/>
          <a:lstStyle/>
          <a:p>
            <a:pPr indent="0" marL="0">
              <a:buNone/>
            </a:pPr>
            <a:r>
              <a:rPr lang="en-US" sz="900" dirty="0">
                <a:solidFill>
                  <a:srgbClr val="CBD5E1"/>
                </a:solidFill>
              </a:rPr>
              <a:t>Loan threshold policy: auto-approve ≤ ₹5L, senior sign-off ≤ ₹10L, human manager required above ₹10L. The agent physically cannot approve — Vault returns ESCALATE.</a:t>
            </a:r>
            <a:endParaRPr lang="en-US" sz="900" dirty="0"/>
          </a:p>
        </p:txBody>
      </p:sp>
      <p:sp>
        <p:nvSpPr>
          <p:cNvPr id="12" name="Shape 10"/>
          <p:cNvSpPr/>
          <p:nvPr/>
        </p:nvSpPr>
        <p:spPr>
          <a:xfrm>
            <a:off x="365760" y="1691640"/>
            <a:ext cx="8412480" cy="502920"/>
          </a:xfrm>
          <a:prstGeom prst="rect">
            <a:avLst>
              <a:gd name="adj" fmla="val 9091"/>
            </a:avLst>
          </a:prstGeom>
          <a:solidFill>
            <a:srgbClr val="2D2D44"/>
          </a:solidFill>
          <a:ln/>
        </p:spPr>
      </p:sp>
      <p:sp>
        <p:nvSpPr>
          <p:cNvPr id="13" name="Text 11"/>
          <p:cNvSpPr/>
          <p:nvPr/>
        </p:nvSpPr>
        <p:spPr>
          <a:xfrm>
            <a:off x="548640" y="1691640"/>
            <a:ext cx="2743200" cy="502920"/>
          </a:xfrm>
          <a:prstGeom prst="rect">
            <a:avLst/>
          </a:prstGeom>
          <a:noFill/>
          <a:ln/>
        </p:spPr>
        <p:txBody>
          <a:bodyPr wrap="square" rtlCol="0" anchor="ctr"/>
          <a:lstStyle/>
          <a:p>
            <a:pPr indent="0" marL="0">
              <a:buNone/>
            </a:pPr>
            <a:r>
              <a:rPr lang="en-US" sz="1000" b="1" dirty="0">
                <a:solidFill>
                  <a:srgbClr val="E2E8F0"/>
                </a:solidFill>
              </a:rPr>
              <a:t>Collections agent calls at 11 PM</a:t>
            </a:r>
            <a:endParaRPr lang="en-US" sz="1000" dirty="0"/>
          </a:p>
        </p:txBody>
      </p:sp>
      <p:sp>
        <p:nvSpPr>
          <p:cNvPr id="14" name="Shape 12"/>
          <p:cNvSpPr/>
          <p:nvPr/>
        </p:nvSpPr>
        <p:spPr>
          <a:xfrm>
            <a:off x="3383280" y="1783080"/>
            <a:ext cx="1005840" cy="320040"/>
          </a:xfrm>
          <a:prstGeom prst="rect">
            <a:avLst>
              <a:gd name="adj" fmla="val 11429"/>
            </a:avLst>
          </a:prstGeom>
          <a:solidFill>
            <a:srgbClr val="DC2626"/>
          </a:solidFill>
          <a:ln/>
        </p:spPr>
      </p:sp>
      <p:sp>
        <p:nvSpPr>
          <p:cNvPr id="15" name="Text 13"/>
          <p:cNvSpPr/>
          <p:nvPr/>
        </p:nvSpPr>
        <p:spPr>
          <a:xfrm>
            <a:off x="3383280" y="1783080"/>
            <a:ext cx="1005840" cy="320040"/>
          </a:xfrm>
          <a:prstGeom prst="rect">
            <a:avLst/>
          </a:prstGeom>
          <a:noFill/>
          <a:ln/>
        </p:spPr>
        <p:txBody>
          <a:bodyPr wrap="square" rtlCol="0" anchor="ctr"/>
          <a:lstStyle/>
          <a:p>
            <a:pPr algn="ctr" indent="0" marL="0">
              <a:buNone/>
            </a:pPr>
            <a:r>
              <a:rPr lang="en-US" sz="900" b="1" dirty="0">
                <a:solidFill>
                  <a:srgbClr val="FFFFFF"/>
                </a:solidFill>
              </a:rPr>
              <a:t>DENY</a:t>
            </a:r>
            <a:endParaRPr lang="en-US" sz="900" dirty="0"/>
          </a:p>
        </p:txBody>
      </p:sp>
      <p:sp>
        <p:nvSpPr>
          <p:cNvPr id="16" name="Text 14"/>
          <p:cNvSpPr/>
          <p:nvPr/>
        </p:nvSpPr>
        <p:spPr>
          <a:xfrm>
            <a:off x="4572000" y="1691640"/>
            <a:ext cx="4114800" cy="502920"/>
          </a:xfrm>
          <a:prstGeom prst="rect">
            <a:avLst/>
          </a:prstGeom>
          <a:noFill/>
          <a:ln/>
        </p:spPr>
        <p:txBody>
          <a:bodyPr wrap="square" rtlCol="0" anchor="ctr"/>
          <a:lstStyle/>
          <a:p>
            <a:pPr indent="0" marL="0">
              <a:buNone/>
            </a:pPr>
            <a:r>
              <a:rPr lang="en-US" sz="900" dirty="0">
                <a:solidFill>
                  <a:srgbClr val="CBD5E1"/>
                </a:solidFill>
              </a:rPr>
              <a:t>Temporal policy: calls only 8AM-7PM IST per RBI fair practices. Vault checks current IST time. Outside window = hard DENY. Not even a manager override.</a:t>
            </a:r>
            <a:endParaRPr lang="en-US" sz="900" dirty="0"/>
          </a:p>
        </p:txBody>
      </p:sp>
      <p:sp>
        <p:nvSpPr>
          <p:cNvPr id="17" name="Shape 15"/>
          <p:cNvSpPr/>
          <p:nvPr/>
        </p:nvSpPr>
        <p:spPr>
          <a:xfrm>
            <a:off x="365760" y="2331720"/>
            <a:ext cx="8412480" cy="502920"/>
          </a:xfrm>
          <a:prstGeom prst="rect">
            <a:avLst>
              <a:gd name="adj" fmla="val 9091"/>
            </a:avLst>
          </a:prstGeom>
          <a:solidFill>
            <a:srgbClr val="2D2D44"/>
          </a:solidFill>
          <a:ln/>
        </p:spPr>
      </p:sp>
      <p:sp>
        <p:nvSpPr>
          <p:cNvPr id="18" name="Text 16"/>
          <p:cNvSpPr/>
          <p:nvPr/>
        </p:nvSpPr>
        <p:spPr>
          <a:xfrm>
            <a:off x="548640" y="2331720"/>
            <a:ext cx="2743200" cy="502920"/>
          </a:xfrm>
          <a:prstGeom prst="rect">
            <a:avLst/>
          </a:prstGeom>
          <a:noFill/>
          <a:ln/>
        </p:spPr>
        <p:txBody>
          <a:bodyPr wrap="square" rtlCol="0" anchor="ctr"/>
          <a:lstStyle/>
          <a:p>
            <a:pPr indent="0" marL="0">
              <a:buNone/>
            </a:pPr>
            <a:r>
              <a:rPr lang="en-US" sz="1000" b="1" dirty="0">
                <a:solidFill>
                  <a:srgbClr val="E2E8F0"/>
                </a:solidFill>
              </a:rPr>
              <a:t>Any agent requests full card number</a:t>
            </a:r>
            <a:endParaRPr lang="en-US" sz="1000" dirty="0"/>
          </a:p>
        </p:txBody>
      </p:sp>
      <p:sp>
        <p:nvSpPr>
          <p:cNvPr id="19" name="Shape 17"/>
          <p:cNvSpPr/>
          <p:nvPr/>
        </p:nvSpPr>
        <p:spPr>
          <a:xfrm>
            <a:off x="3383280" y="2423160"/>
            <a:ext cx="1005840" cy="320040"/>
          </a:xfrm>
          <a:prstGeom prst="rect">
            <a:avLst>
              <a:gd name="adj" fmla="val 11429"/>
            </a:avLst>
          </a:prstGeom>
          <a:solidFill>
            <a:srgbClr val="DC2626"/>
          </a:solidFill>
          <a:ln/>
        </p:spPr>
      </p:sp>
      <p:sp>
        <p:nvSpPr>
          <p:cNvPr id="20" name="Text 18"/>
          <p:cNvSpPr/>
          <p:nvPr/>
        </p:nvSpPr>
        <p:spPr>
          <a:xfrm>
            <a:off x="3383280" y="2423160"/>
            <a:ext cx="1005840" cy="320040"/>
          </a:xfrm>
          <a:prstGeom prst="rect">
            <a:avLst/>
          </a:prstGeom>
          <a:noFill/>
          <a:ln/>
        </p:spPr>
        <p:txBody>
          <a:bodyPr wrap="square" rtlCol="0" anchor="ctr"/>
          <a:lstStyle/>
          <a:p>
            <a:pPr algn="ctr" indent="0" marL="0">
              <a:buNone/>
            </a:pPr>
            <a:r>
              <a:rPr lang="en-US" sz="900" b="1" dirty="0">
                <a:solidFill>
                  <a:srgbClr val="FFFFFF"/>
                </a:solidFill>
              </a:rPr>
              <a:t>DENY</a:t>
            </a:r>
            <a:endParaRPr lang="en-US" sz="900" dirty="0"/>
          </a:p>
        </p:txBody>
      </p:sp>
      <p:sp>
        <p:nvSpPr>
          <p:cNvPr id="21" name="Text 19"/>
          <p:cNvSpPr/>
          <p:nvPr/>
        </p:nvSpPr>
        <p:spPr>
          <a:xfrm>
            <a:off x="4572000" y="2331720"/>
            <a:ext cx="4114800" cy="502920"/>
          </a:xfrm>
          <a:prstGeom prst="rect">
            <a:avLst/>
          </a:prstGeom>
          <a:noFill/>
          <a:ln/>
        </p:spPr>
        <p:txBody>
          <a:bodyPr wrap="square" rtlCol="0" anchor="ctr"/>
          <a:lstStyle/>
          <a:p>
            <a:pPr indent="0" marL="0">
              <a:buNone/>
            </a:pPr>
            <a:r>
              <a:rPr lang="en-US" sz="900" dirty="0">
                <a:solidFill>
                  <a:srgbClr val="CBD5E1"/>
                </a:solidFill>
              </a:rPr>
              <a:t>PCI-DSS policy: no agent, no employee, no system can access full card number via this platform. Card agent runs in isolated Kubernetes namespace.</a:t>
            </a:r>
            <a:endParaRPr lang="en-US" sz="900" dirty="0"/>
          </a:p>
        </p:txBody>
      </p:sp>
      <p:sp>
        <p:nvSpPr>
          <p:cNvPr id="22" name="Shape 20"/>
          <p:cNvSpPr/>
          <p:nvPr/>
        </p:nvSpPr>
        <p:spPr>
          <a:xfrm>
            <a:off x="365760" y="2971800"/>
            <a:ext cx="8412480" cy="502920"/>
          </a:xfrm>
          <a:prstGeom prst="rect">
            <a:avLst>
              <a:gd name="adj" fmla="val 9091"/>
            </a:avLst>
          </a:prstGeom>
          <a:solidFill>
            <a:srgbClr val="2D2D44"/>
          </a:solidFill>
          <a:ln/>
        </p:spPr>
      </p:sp>
      <p:sp>
        <p:nvSpPr>
          <p:cNvPr id="23" name="Text 21"/>
          <p:cNvSpPr/>
          <p:nvPr/>
        </p:nvSpPr>
        <p:spPr>
          <a:xfrm>
            <a:off x="548640" y="2971800"/>
            <a:ext cx="2743200" cy="502920"/>
          </a:xfrm>
          <a:prstGeom prst="rect">
            <a:avLst/>
          </a:prstGeom>
          <a:noFill/>
          <a:ln/>
        </p:spPr>
        <p:txBody>
          <a:bodyPr wrap="square" rtlCol="0" anchor="ctr"/>
          <a:lstStyle/>
          <a:p>
            <a:pPr indent="0" marL="0">
              <a:buNone/>
            </a:pPr>
            <a:r>
              <a:rPr lang="en-US" sz="1000" b="1" dirty="0">
                <a:solidFill>
                  <a:srgbClr val="E2E8F0"/>
                </a:solidFill>
              </a:rPr>
              <a:t>Agent tries to access another customer's data</a:t>
            </a:r>
            <a:endParaRPr lang="en-US" sz="1000" dirty="0"/>
          </a:p>
        </p:txBody>
      </p:sp>
      <p:sp>
        <p:nvSpPr>
          <p:cNvPr id="24" name="Shape 22"/>
          <p:cNvSpPr/>
          <p:nvPr/>
        </p:nvSpPr>
        <p:spPr>
          <a:xfrm>
            <a:off x="3383280" y="3063240"/>
            <a:ext cx="1005840" cy="320040"/>
          </a:xfrm>
          <a:prstGeom prst="rect">
            <a:avLst>
              <a:gd name="adj" fmla="val 11429"/>
            </a:avLst>
          </a:prstGeom>
          <a:solidFill>
            <a:srgbClr val="DC2626"/>
          </a:solidFill>
          <a:ln/>
        </p:spPr>
      </p:sp>
      <p:sp>
        <p:nvSpPr>
          <p:cNvPr id="25" name="Text 23"/>
          <p:cNvSpPr/>
          <p:nvPr/>
        </p:nvSpPr>
        <p:spPr>
          <a:xfrm>
            <a:off x="3383280" y="3063240"/>
            <a:ext cx="1005840" cy="320040"/>
          </a:xfrm>
          <a:prstGeom prst="rect">
            <a:avLst/>
          </a:prstGeom>
          <a:noFill/>
          <a:ln/>
        </p:spPr>
        <p:txBody>
          <a:bodyPr wrap="square" rtlCol="0" anchor="ctr"/>
          <a:lstStyle/>
          <a:p>
            <a:pPr algn="ctr" indent="0" marL="0">
              <a:buNone/>
            </a:pPr>
            <a:r>
              <a:rPr lang="en-US" sz="900" b="1" dirty="0">
                <a:solidFill>
                  <a:srgbClr val="FFFFFF"/>
                </a:solidFill>
              </a:rPr>
              <a:t>DENY</a:t>
            </a:r>
            <a:endParaRPr lang="en-US" sz="900" dirty="0"/>
          </a:p>
        </p:txBody>
      </p:sp>
      <p:sp>
        <p:nvSpPr>
          <p:cNvPr id="26" name="Text 24"/>
          <p:cNvSpPr/>
          <p:nvPr/>
        </p:nvSpPr>
        <p:spPr>
          <a:xfrm>
            <a:off x="4572000" y="2971800"/>
            <a:ext cx="4114800" cy="502920"/>
          </a:xfrm>
          <a:prstGeom prst="rect">
            <a:avLst/>
          </a:prstGeom>
          <a:noFill/>
          <a:ln/>
        </p:spPr>
        <p:txBody>
          <a:bodyPr wrap="square" rtlCol="0" anchor="ctr"/>
          <a:lstStyle/>
          <a:p>
            <a:pPr indent="0" marL="0">
              <a:buNone/>
            </a:pPr>
            <a:r>
              <a:rPr lang="en-US" sz="900" dirty="0">
                <a:solidFill>
                  <a:srgbClr val="CBD5E1"/>
                </a:solidFill>
              </a:rPr>
              <a:t>Data access policy: JWT token is scoped to the authenticated customer. Agent-account-service token for CUST001 cannot query CUST002.</a:t>
            </a:r>
            <a:endParaRPr lang="en-US" sz="900" dirty="0"/>
          </a:p>
        </p:txBody>
      </p:sp>
      <p:sp>
        <p:nvSpPr>
          <p:cNvPr id="27" name="Shape 25"/>
          <p:cNvSpPr/>
          <p:nvPr/>
        </p:nvSpPr>
        <p:spPr>
          <a:xfrm>
            <a:off x="365760" y="3611880"/>
            <a:ext cx="8412480" cy="502920"/>
          </a:xfrm>
          <a:prstGeom prst="rect">
            <a:avLst>
              <a:gd name="adj" fmla="val 9091"/>
            </a:avLst>
          </a:prstGeom>
          <a:solidFill>
            <a:srgbClr val="2D2D44"/>
          </a:solidFill>
          <a:ln/>
        </p:spPr>
      </p:sp>
      <p:sp>
        <p:nvSpPr>
          <p:cNvPr id="28" name="Text 26"/>
          <p:cNvSpPr/>
          <p:nvPr/>
        </p:nvSpPr>
        <p:spPr>
          <a:xfrm>
            <a:off x="548640" y="3611880"/>
            <a:ext cx="2743200" cy="502920"/>
          </a:xfrm>
          <a:prstGeom prst="rect">
            <a:avLst/>
          </a:prstGeom>
          <a:noFill/>
          <a:ln/>
        </p:spPr>
        <p:txBody>
          <a:bodyPr wrap="square" rtlCol="0" anchor="ctr"/>
          <a:lstStyle/>
          <a:p>
            <a:pPr indent="0" marL="0">
              <a:buNone/>
            </a:pPr>
            <a:r>
              <a:rPr lang="en-US" sz="1000" b="1" dirty="0">
                <a:solidFill>
                  <a:srgbClr val="E2E8F0"/>
                </a:solidFill>
              </a:rPr>
              <a:t>Fraud agent freezes account for 24 hours</a:t>
            </a:r>
            <a:endParaRPr lang="en-US" sz="1000" dirty="0"/>
          </a:p>
        </p:txBody>
      </p:sp>
      <p:sp>
        <p:nvSpPr>
          <p:cNvPr id="29" name="Shape 27"/>
          <p:cNvSpPr/>
          <p:nvPr/>
        </p:nvSpPr>
        <p:spPr>
          <a:xfrm>
            <a:off x="3383280" y="3703320"/>
            <a:ext cx="1005840" cy="320040"/>
          </a:xfrm>
          <a:prstGeom prst="rect">
            <a:avLst>
              <a:gd name="adj" fmla="val 11429"/>
            </a:avLst>
          </a:prstGeom>
          <a:solidFill>
            <a:srgbClr val="D97706"/>
          </a:solidFill>
          <a:ln/>
        </p:spPr>
      </p:sp>
      <p:sp>
        <p:nvSpPr>
          <p:cNvPr id="30" name="Text 28"/>
          <p:cNvSpPr/>
          <p:nvPr/>
        </p:nvSpPr>
        <p:spPr>
          <a:xfrm>
            <a:off x="3383280" y="3703320"/>
            <a:ext cx="1005840" cy="320040"/>
          </a:xfrm>
          <a:prstGeom prst="rect">
            <a:avLst/>
          </a:prstGeom>
          <a:noFill/>
          <a:ln/>
        </p:spPr>
        <p:txBody>
          <a:bodyPr wrap="square" rtlCol="0" anchor="ctr"/>
          <a:lstStyle/>
          <a:p>
            <a:pPr algn="ctr" indent="0" marL="0">
              <a:buNone/>
            </a:pPr>
            <a:r>
              <a:rPr lang="en-US" sz="900" b="1" dirty="0">
                <a:solidFill>
                  <a:srgbClr val="FFFFFF"/>
                </a:solidFill>
              </a:rPr>
              <a:t>ESCALATE</a:t>
            </a:r>
            <a:endParaRPr lang="en-US" sz="900" dirty="0"/>
          </a:p>
        </p:txBody>
      </p:sp>
      <p:sp>
        <p:nvSpPr>
          <p:cNvPr id="31" name="Text 29"/>
          <p:cNvSpPr/>
          <p:nvPr/>
        </p:nvSpPr>
        <p:spPr>
          <a:xfrm>
            <a:off x="4572000" y="3611880"/>
            <a:ext cx="4114800" cy="502920"/>
          </a:xfrm>
          <a:prstGeom prst="rect">
            <a:avLst/>
          </a:prstGeom>
          <a:noFill/>
          <a:ln/>
        </p:spPr>
        <p:txBody>
          <a:bodyPr wrap="square" rtlCol="0" anchor="ctr"/>
          <a:lstStyle/>
          <a:p>
            <a:pPr indent="0" marL="0">
              <a:buNone/>
            </a:pPr>
            <a:r>
              <a:rPr lang="en-US" sz="900" dirty="0">
                <a:solidFill>
                  <a:srgbClr val="CBD5E1"/>
                </a:solidFill>
              </a:rPr>
              <a:t>Threshold policy: agents can freeze for max 4 hours. Permanent freeze or longer duration requires human fraud analyst.</a:t>
            </a:r>
            <a:endParaRPr lang="en-US" sz="900" dirty="0"/>
          </a:p>
        </p:txBody>
      </p:sp>
      <p:sp>
        <p:nvSpPr>
          <p:cNvPr id="32" name="Shape 30"/>
          <p:cNvSpPr/>
          <p:nvPr/>
        </p:nvSpPr>
        <p:spPr>
          <a:xfrm>
            <a:off x="365760" y="4251960"/>
            <a:ext cx="8412480" cy="502920"/>
          </a:xfrm>
          <a:prstGeom prst="rect">
            <a:avLst>
              <a:gd name="adj" fmla="val 9091"/>
            </a:avLst>
          </a:prstGeom>
          <a:solidFill>
            <a:srgbClr val="2D2D44"/>
          </a:solidFill>
          <a:ln/>
        </p:spPr>
      </p:sp>
      <p:sp>
        <p:nvSpPr>
          <p:cNvPr id="33" name="Text 31"/>
          <p:cNvSpPr/>
          <p:nvPr/>
        </p:nvSpPr>
        <p:spPr>
          <a:xfrm>
            <a:off x="548640" y="4251960"/>
            <a:ext cx="2743200" cy="502920"/>
          </a:xfrm>
          <a:prstGeom prst="rect">
            <a:avLst/>
          </a:prstGeom>
          <a:noFill/>
          <a:ln/>
        </p:spPr>
        <p:txBody>
          <a:bodyPr wrap="square" rtlCol="0" anchor="ctr"/>
          <a:lstStyle/>
          <a:p>
            <a:pPr indent="0" marL="0">
              <a:buNone/>
            </a:pPr>
            <a:r>
              <a:rPr lang="en-US" sz="1000" b="1" dirty="0">
                <a:solidFill>
                  <a:srgbClr val="E2E8F0"/>
                </a:solidFill>
              </a:rPr>
              <a:t>Agent gives investment advice without disclaimer</a:t>
            </a:r>
            <a:endParaRPr lang="en-US" sz="1000" dirty="0"/>
          </a:p>
        </p:txBody>
      </p:sp>
      <p:sp>
        <p:nvSpPr>
          <p:cNvPr id="34" name="Shape 32"/>
          <p:cNvSpPr/>
          <p:nvPr/>
        </p:nvSpPr>
        <p:spPr>
          <a:xfrm>
            <a:off x="3383280" y="4343400"/>
            <a:ext cx="1005840" cy="320040"/>
          </a:xfrm>
          <a:prstGeom prst="rect">
            <a:avLst>
              <a:gd name="adj" fmla="val 11429"/>
            </a:avLst>
          </a:prstGeom>
          <a:solidFill>
            <a:srgbClr val="D97706"/>
          </a:solidFill>
          <a:ln/>
        </p:spPr>
      </p:sp>
      <p:sp>
        <p:nvSpPr>
          <p:cNvPr id="35" name="Text 33"/>
          <p:cNvSpPr/>
          <p:nvPr/>
        </p:nvSpPr>
        <p:spPr>
          <a:xfrm>
            <a:off x="3383280" y="4343400"/>
            <a:ext cx="1005840" cy="320040"/>
          </a:xfrm>
          <a:prstGeom prst="rect">
            <a:avLst/>
          </a:prstGeom>
          <a:noFill/>
          <a:ln/>
        </p:spPr>
        <p:txBody>
          <a:bodyPr wrap="square" rtlCol="0" anchor="ctr"/>
          <a:lstStyle/>
          <a:p>
            <a:pPr algn="ctr" indent="0" marL="0">
              <a:buNone/>
            </a:pPr>
            <a:r>
              <a:rPr lang="en-US" sz="900" b="1" dirty="0">
                <a:solidFill>
                  <a:srgbClr val="FFFFFF"/>
                </a:solidFill>
              </a:rPr>
              <a:t>BLOCKED</a:t>
            </a:r>
            <a:endParaRPr lang="en-US" sz="900" dirty="0"/>
          </a:p>
        </p:txBody>
      </p:sp>
      <p:sp>
        <p:nvSpPr>
          <p:cNvPr id="36" name="Text 34"/>
          <p:cNvSpPr/>
          <p:nvPr/>
        </p:nvSpPr>
        <p:spPr>
          <a:xfrm>
            <a:off x="4572000" y="4251960"/>
            <a:ext cx="4114800" cy="502920"/>
          </a:xfrm>
          <a:prstGeom prst="rect">
            <a:avLst/>
          </a:prstGeom>
          <a:noFill/>
          <a:ln/>
        </p:spPr>
        <p:txBody>
          <a:bodyPr wrap="square" rtlCol="0" anchor="ctr"/>
          <a:lstStyle/>
          <a:p>
            <a:pPr indent="0" marL="0">
              <a:buNone/>
            </a:pPr>
            <a:r>
              <a:rPr lang="en-US" sz="900" dirty="0">
                <a:solidFill>
                  <a:srgbClr val="CBD5E1"/>
                </a:solidFill>
              </a:rPr>
              <a:t>Response guardrail: every investment-related response MUST include SEBI disclaimer. LLM guardrails service checks output before delivery.</a:t>
            </a:r>
            <a:endParaRPr lang="en-US" sz="900" dirty="0"/>
          </a:p>
        </p:txBody>
      </p:sp>
      <p:sp>
        <p:nvSpPr>
          <p:cNvPr id="37" name="Text 35"/>
          <p:cNvSpPr/>
          <p:nvPr/>
        </p:nvSpPr>
        <p:spPr>
          <a:xfrm>
            <a:off x="457200" y="4709160"/>
            <a:ext cx="8229600" cy="274320"/>
          </a:xfrm>
          <a:prstGeom prst="rect">
            <a:avLst/>
          </a:prstGeom>
          <a:noFill/>
          <a:ln/>
        </p:spPr>
        <p:txBody>
          <a:bodyPr wrap="square" rtlCol="0" anchor="ctr"/>
          <a:lstStyle/>
          <a:p>
            <a:pPr indent="0" marL="0">
              <a:buNone/>
            </a:pPr>
            <a:r>
              <a:rPr lang="en-US" sz="1000" i="1" dirty="0">
                <a:solidFill>
                  <a:srgbClr val="94A3B8"/>
                </a:solidFill>
              </a:rPr>
              <a:t>Policies are defined as OPA Rego code, version-controlled in Git, reviewed before deployment — not hardcoded in agent logic.</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9C1D26"/>
          </a:solidFill>
          <a:ln/>
        </p:spPr>
      </p:sp>
      <p:sp>
        <p:nvSpPr>
          <p:cNvPr id="3" name="Text 1"/>
          <p:cNvSpPr/>
          <p:nvPr/>
        </p:nvSpPr>
        <p:spPr>
          <a:xfrm>
            <a:off x="7132320" y="137160"/>
            <a:ext cx="1828800" cy="274320"/>
          </a:xfrm>
          <a:prstGeom prst="rect">
            <a:avLst/>
          </a:prstGeom>
          <a:noFill/>
          <a:ln/>
        </p:spPr>
        <p:txBody>
          <a:bodyPr wrap="square" rtlCol="0" anchor="ctr"/>
          <a:lstStyle/>
          <a:p>
            <a:pPr algn="r" indent="0" marL="0">
              <a:buNone/>
            </a:pPr>
            <a:r>
              <a:rPr lang="en-US" sz="900" b="1" dirty="0">
                <a:solidFill>
                  <a:srgbClr val="9C1D26"/>
                </a:solidFill>
              </a:rPr>
              <a:t>IDFC </a:t>
            </a:r>
            <a:pPr algn="r" indent="0" marL="0">
              <a:buNone/>
            </a:pPr>
            <a:r>
              <a:rPr lang="en-US" sz="900" b="1" dirty="0">
                <a:solidFill>
                  <a:srgbClr val="9C1D26"/>
                </a:solidFill>
              </a:rPr>
              <a:t>FIRST </a:t>
            </a:r>
            <a:pPr algn="r" indent="0" marL="0">
              <a:buNone/>
            </a:pPr>
            <a:r>
              <a:rPr lang="en-US" sz="900" dirty="0">
                <a:solidFill>
                  <a:srgbClr val="666666"/>
                </a:solidFill>
              </a:rPr>
              <a:t>Bank</a:t>
            </a:r>
            <a:endParaRPr lang="en-US" sz="900" dirty="0"/>
          </a:p>
        </p:txBody>
      </p:sp>
      <p:sp>
        <p:nvSpPr>
          <p:cNvPr id="4" name="Text 2"/>
          <p:cNvSpPr/>
          <p:nvPr/>
        </p:nvSpPr>
        <p:spPr>
          <a:xfrm>
            <a:off x="8503920" y="4754880"/>
            <a:ext cx="457200" cy="274320"/>
          </a:xfrm>
          <a:prstGeom prst="rect">
            <a:avLst/>
          </a:prstGeom>
          <a:noFill/>
          <a:ln/>
        </p:spPr>
        <p:txBody>
          <a:bodyPr wrap="square" rtlCol="0" anchor="ctr"/>
          <a:lstStyle/>
          <a:p>
            <a:pPr algn="r" indent="0" marL="0">
              <a:buNone/>
            </a:pPr>
            <a:r>
              <a:rPr lang="en-US" sz="800" dirty="0">
                <a:solidFill>
                  <a:srgbClr val="AAAAAA"/>
                </a:solidFill>
              </a:rPr>
              <a:t>6</a:t>
            </a:r>
            <a:endParaRPr lang="en-US" sz="800" dirty="0"/>
          </a:p>
        </p:txBody>
      </p:sp>
      <p:sp>
        <p:nvSpPr>
          <p:cNvPr id="5" name="Text 3"/>
          <p:cNvSpPr/>
          <p:nvPr/>
        </p:nvSpPr>
        <p:spPr>
          <a:xfrm>
            <a:off x="548640" y="365760"/>
            <a:ext cx="7315200" cy="457200"/>
          </a:xfrm>
          <a:prstGeom prst="rect">
            <a:avLst/>
          </a:prstGeom>
          <a:noFill/>
          <a:ln/>
        </p:spPr>
        <p:txBody>
          <a:bodyPr wrap="square" rtlCol="0" anchor="ctr"/>
          <a:lstStyle/>
          <a:p>
            <a:pPr indent="0" marL="0">
              <a:buNone/>
            </a:pPr>
            <a:r>
              <a:rPr lang="en-US" sz="2400" b="1" dirty="0">
                <a:solidFill>
                  <a:srgbClr val="1B1B2F"/>
                </a:solidFill>
              </a:rPr>
              <a:t>Ethical AI: What Agents Cannot Do</a:t>
            </a:r>
            <a:endParaRPr lang="en-US" sz="2400" dirty="0"/>
          </a:p>
        </p:txBody>
      </p:sp>
      <p:sp>
        <p:nvSpPr>
          <p:cNvPr id="6" name="Shape 4"/>
          <p:cNvSpPr/>
          <p:nvPr/>
        </p:nvSpPr>
        <p:spPr>
          <a:xfrm>
            <a:off x="548640" y="777240"/>
            <a:ext cx="731520" cy="36576"/>
          </a:xfrm>
          <a:prstGeom prst="rect">
            <a:avLst/>
          </a:prstGeom>
          <a:solidFill>
            <a:srgbClr val="9C1D26"/>
          </a:solidFill>
          <a:ln/>
        </p:spPr>
      </p:sp>
      <p:sp>
        <p:nvSpPr>
          <p:cNvPr id="7" name="Shape 5"/>
          <p:cNvSpPr/>
          <p:nvPr/>
        </p:nvSpPr>
        <p:spPr>
          <a:xfrm>
            <a:off x="457200" y="1005840"/>
            <a:ext cx="4023360" cy="1051560"/>
          </a:xfrm>
          <a:prstGeom prst="rect">
            <a:avLst>
              <a:gd name="adj" fmla="val 5217"/>
            </a:avLst>
          </a:prstGeom>
          <a:solidFill>
            <a:srgbClr val="ECFDF5"/>
          </a:solidFill>
          <a:ln w="12700">
            <a:solidFill>
              <a:srgbClr val="0F6E56"/>
            </a:solidFill>
            <a:prstDash val="solid"/>
          </a:ln>
        </p:spPr>
      </p:sp>
      <p:sp>
        <p:nvSpPr>
          <p:cNvPr id="8" name="Shape 6"/>
          <p:cNvSpPr/>
          <p:nvPr/>
        </p:nvSpPr>
        <p:spPr>
          <a:xfrm>
            <a:off x="457200" y="1005840"/>
            <a:ext cx="54864" cy="1051560"/>
          </a:xfrm>
          <a:prstGeom prst="rect">
            <a:avLst/>
          </a:prstGeom>
          <a:solidFill>
            <a:srgbClr val="0F6E56"/>
          </a:solidFill>
          <a:ln/>
        </p:spPr>
      </p:sp>
      <p:sp>
        <p:nvSpPr>
          <p:cNvPr id="9" name="Text 7"/>
          <p:cNvSpPr/>
          <p:nvPr/>
        </p:nvSpPr>
        <p:spPr>
          <a:xfrm>
            <a:off x="594360" y="1051560"/>
            <a:ext cx="3749040" cy="274320"/>
          </a:xfrm>
          <a:prstGeom prst="rect">
            <a:avLst/>
          </a:prstGeom>
          <a:noFill/>
          <a:ln/>
        </p:spPr>
        <p:txBody>
          <a:bodyPr wrap="square" rtlCol="0" anchor="ctr"/>
          <a:lstStyle/>
          <a:p>
            <a:pPr indent="0" marL="0">
              <a:buNone/>
            </a:pPr>
            <a:r>
              <a:rPr lang="en-US" sz="1100" b="1" dirty="0">
                <a:solidFill>
                  <a:srgbClr val="0F6E56"/>
                </a:solidFill>
              </a:rPr>
              <a:t>Cannot hallucinate financial data</a:t>
            </a:r>
            <a:endParaRPr lang="en-US" sz="1100" dirty="0"/>
          </a:p>
        </p:txBody>
      </p:sp>
      <p:sp>
        <p:nvSpPr>
          <p:cNvPr id="10" name="Text 8"/>
          <p:cNvSpPr/>
          <p:nvPr/>
        </p:nvSpPr>
        <p:spPr>
          <a:xfrm>
            <a:off x="594360" y="1325880"/>
            <a:ext cx="3749040" cy="685800"/>
          </a:xfrm>
          <a:prstGeom prst="rect">
            <a:avLst/>
          </a:prstGeom>
          <a:noFill/>
          <a:ln/>
        </p:spPr>
        <p:txBody>
          <a:bodyPr wrap="square" rtlCol="0" anchor="t"/>
          <a:lstStyle/>
          <a:p>
            <a:pPr indent="0" marL="0">
              <a:buNone/>
            </a:pPr>
            <a:r>
              <a:rPr lang="en-US" sz="900" dirty="0">
                <a:solidFill>
                  <a:srgbClr val="475569"/>
                </a:solidFill>
              </a:rPr>
              <a:t>Agents do not generate account balances, interest rates, or loan amounts from the LLM. They fetch real data from MCP servers (connected to Finacle, CIBIL). The AI only formats the response — it cannot make up numbers.</a:t>
            </a:r>
            <a:endParaRPr lang="en-US" sz="900" dirty="0"/>
          </a:p>
        </p:txBody>
      </p:sp>
      <p:sp>
        <p:nvSpPr>
          <p:cNvPr id="11" name="Shape 9"/>
          <p:cNvSpPr/>
          <p:nvPr/>
        </p:nvSpPr>
        <p:spPr>
          <a:xfrm>
            <a:off x="4663440" y="1005840"/>
            <a:ext cx="4023360" cy="1051560"/>
          </a:xfrm>
          <a:prstGeom prst="rect">
            <a:avLst>
              <a:gd name="adj" fmla="val 5217"/>
            </a:avLst>
          </a:prstGeom>
          <a:solidFill>
            <a:srgbClr val="E6F1FB"/>
          </a:solidFill>
          <a:ln w="12700">
            <a:solidFill>
              <a:srgbClr val="185FA5"/>
            </a:solidFill>
            <a:prstDash val="solid"/>
          </a:ln>
        </p:spPr>
      </p:sp>
      <p:sp>
        <p:nvSpPr>
          <p:cNvPr id="12" name="Shape 10"/>
          <p:cNvSpPr/>
          <p:nvPr/>
        </p:nvSpPr>
        <p:spPr>
          <a:xfrm>
            <a:off x="4663440" y="1005840"/>
            <a:ext cx="54864" cy="1051560"/>
          </a:xfrm>
          <a:prstGeom prst="rect">
            <a:avLst/>
          </a:prstGeom>
          <a:solidFill>
            <a:srgbClr val="185FA5"/>
          </a:solidFill>
          <a:ln/>
        </p:spPr>
      </p:sp>
      <p:sp>
        <p:nvSpPr>
          <p:cNvPr id="13" name="Text 11"/>
          <p:cNvSpPr/>
          <p:nvPr/>
        </p:nvSpPr>
        <p:spPr>
          <a:xfrm>
            <a:off x="4800600" y="1051560"/>
            <a:ext cx="3749040" cy="274320"/>
          </a:xfrm>
          <a:prstGeom prst="rect">
            <a:avLst/>
          </a:prstGeom>
          <a:noFill/>
          <a:ln/>
        </p:spPr>
        <p:txBody>
          <a:bodyPr wrap="square" rtlCol="0" anchor="ctr"/>
          <a:lstStyle/>
          <a:p>
            <a:pPr indent="0" marL="0">
              <a:buNone/>
            </a:pPr>
            <a:r>
              <a:rPr lang="en-US" sz="1100" b="1" dirty="0">
                <a:solidFill>
                  <a:srgbClr val="185FA5"/>
                </a:solidFill>
              </a:rPr>
              <a:t>Cannot access data outside their scope</a:t>
            </a:r>
            <a:endParaRPr lang="en-US" sz="1100" dirty="0"/>
          </a:p>
        </p:txBody>
      </p:sp>
      <p:sp>
        <p:nvSpPr>
          <p:cNvPr id="14" name="Text 12"/>
          <p:cNvSpPr/>
          <p:nvPr/>
        </p:nvSpPr>
        <p:spPr>
          <a:xfrm>
            <a:off x="4800600" y="1325880"/>
            <a:ext cx="3749040" cy="685800"/>
          </a:xfrm>
          <a:prstGeom prst="rect">
            <a:avLst/>
          </a:prstGeom>
          <a:noFill/>
          <a:ln/>
        </p:spPr>
        <p:txBody>
          <a:bodyPr wrap="square" rtlCol="0" anchor="t"/>
          <a:lstStyle/>
          <a:p>
            <a:pPr indent="0" marL="0">
              <a:buNone/>
            </a:pPr>
            <a:r>
              <a:rPr lang="en-US" sz="900" dirty="0">
                <a:solidFill>
                  <a:srgbClr val="475569"/>
                </a:solidFill>
              </a:rPr>
              <a:t>Account agent has access to account MCP tools only. It cannot call card MCP or loan MCP. Scope is enforced by Vault JWT claims and OPA policy, not by trusting the agent code.</a:t>
            </a:r>
            <a:endParaRPr lang="en-US" sz="900" dirty="0"/>
          </a:p>
        </p:txBody>
      </p:sp>
      <p:sp>
        <p:nvSpPr>
          <p:cNvPr id="15" name="Shape 13"/>
          <p:cNvSpPr/>
          <p:nvPr/>
        </p:nvSpPr>
        <p:spPr>
          <a:xfrm>
            <a:off x="457200" y="2240280"/>
            <a:ext cx="4023360" cy="1051560"/>
          </a:xfrm>
          <a:prstGeom prst="rect">
            <a:avLst>
              <a:gd name="adj" fmla="val 5217"/>
            </a:avLst>
          </a:prstGeom>
          <a:solidFill>
            <a:srgbClr val="FEF2F2"/>
          </a:solidFill>
          <a:ln w="12700">
            <a:solidFill>
              <a:srgbClr val="9C1D26"/>
            </a:solidFill>
            <a:prstDash val="solid"/>
          </a:ln>
        </p:spPr>
      </p:sp>
      <p:sp>
        <p:nvSpPr>
          <p:cNvPr id="16" name="Shape 14"/>
          <p:cNvSpPr/>
          <p:nvPr/>
        </p:nvSpPr>
        <p:spPr>
          <a:xfrm>
            <a:off x="457200" y="2240280"/>
            <a:ext cx="54864" cy="1051560"/>
          </a:xfrm>
          <a:prstGeom prst="rect">
            <a:avLst/>
          </a:prstGeom>
          <a:solidFill>
            <a:srgbClr val="9C1D26"/>
          </a:solidFill>
          <a:ln/>
        </p:spPr>
      </p:sp>
      <p:sp>
        <p:nvSpPr>
          <p:cNvPr id="17" name="Text 15"/>
          <p:cNvSpPr/>
          <p:nvPr/>
        </p:nvSpPr>
        <p:spPr>
          <a:xfrm>
            <a:off x="594360" y="2286000"/>
            <a:ext cx="3749040" cy="274320"/>
          </a:xfrm>
          <a:prstGeom prst="rect">
            <a:avLst/>
          </a:prstGeom>
          <a:noFill/>
          <a:ln/>
        </p:spPr>
        <p:txBody>
          <a:bodyPr wrap="square" rtlCol="0" anchor="ctr"/>
          <a:lstStyle/>
          <a:p>
            <a:pPr indent="0" marL="0">
              <a:buNone/>
            </a:pPr>
            <a:r>
              <a:rPr lang="en-US" sz="1100" b="1" dirty="0">
                <a:solidFill>
                  <a:srgbClr val="9C1D26"/>
                </a:solidFill>
              </a:rPr>
              <a:t>Cannot make unauthorized commitments</a:t>
            </a:r>
            <a:endParaRPr lang="en-US" sz="1100" dirty="0"/>
          </a:p>
        </p:txBody>
      </p:sp>
      <p:sp>
        <p:nvSpPr>
          <p:cNvPr id="18" name="Text 16"/>
          <p:cNvSpPr/>
          <p:nvPr/>
        </p:nvSpPr>
        <p:spPr>
          <a:xfrm>
            <a:off x="594360" y="2560320"/>
            <a:ext cx="3749040" cy="685800"/>
          </a:xfrm>
          <a:prstGeom prst="rect">
            <a:avLst/>
          </a:prstGeom>
          <a:noFill/>
          <a:ln/>
        </p:spPr>
        <p:txBody>
          <a:bodyPr wrap="square" rtlCol="0" anchor="t"/>
          <a:lstStyle/>
          <a:p>
            <a:pPr indent="0" marL="0">
              <a:buNone/>
            </a:pPr>
            <a:r>
              <a:rPr lang="en-US" sz="900" dirty="0">
                <a:solidFill>
                  <a:srgbClr val="475569"/>
                </a:solidFill>
              </a:rPr>
              <a:t>LLM guardrails service scans every response for phrases like 'I guarantee', 'I promise', 'you will definitely get'. These are replaced with compliant language: 'based on current data'.</a:t>
            </a:r>
            <a:endParaRPr lang="en-US" sz="900" dirty="0"/>
          </a:p>
        </p:txBody>
      </p:sp>
      <p:sp>
        <p:nvSpPr>
          <p:cNvPr id="19" name="Shape 17"/>
          <p:cNvSpPr/>
          <p:nvPr/>
        </p:nvSpPr>
        <p:spPr>
          <a:xfrm>
            <a:off x="4663440" y="2240280"/>
            <a:ext cx="4023360" cy="1051560"/>
          </a:xfrm>
          <a:prstGeom prst="rect">
            <a:avLst>
              <a:gd name="adj" fmla="val 5217"/>
            </a:avLst>
          </a:prstGeom>
          <a:solidFill>
            <a:srgbClr val="FFF7ED"/>
          </a:solidFill>
          <a:ln w="12700">
            <a:solidFill>
              <a:srgbClr val="D97706"/>
            </a:solidFill>
            <a:prstDash val="solid"/>
          </a:ln>
        </p:spPr>
      </p:sp>
      <p:sp>
        <p:nvSpPr>
          <p:cNvPr id="20" name="Shape 18"/>
          <p:cNvSpPr/>
          <p:nvPr/>
        </p:nvSpPr>
        <p:spPr>
          <a:xfrm>
            <a:off x="4663440" y="2240280"/>
            <a:ext cx="54864" cy="1051560"/>
          </a:xfrm>
          <a:prstGeom prst="rect">
            <a:avLst/>
          </a:prstGeom>
          <a:solidFill>
            <a:srgbClr val="D97706"/>
          </a:solidFill>
          <a:ln/>
        </p:spPr>
      </p:sp>
      <p:sp>
        <p:nvSpPr>
          <p:cNvPr id="21" name="Text 19"/>
          <p:cNvSpPr/>
          <p:nvPr/>
        </p:nvSpPr>
        <p:spPr>
          <a:xfrm>
            <a:off x="4800600" y="2286000"/>
            <a:ext cx="3749040" cy="274320"/>
          </a:xfrm>
          <a:prstGeom prst="rect">
            <a:avLst/>
          </a:prstGeom>
          <a:noFill/>
          <a:ln/>
        </p:spPr>
        <p:txBody>
          <a:bodyPr wrap="square" rtlCol="0" anchor="ctr"/>
          <a:lstStyle/>
          <a:p>
            <a:pPr indent="0" marL="0">
              <a:buNone/>
            </a:pPr>
            <a:r>
              <a:rPr lang="en-US" sz="1100" b="1" dirty="0">
                <a:solidFill>
                  <a:srgbClr val="D97706"/>
                </a:solidFill>
              </a:rPr>
              <a:t>Cannot log or expose PII</a:t>
            </a:r>
            <a:endParaRPr lang="en-US" sz="1100" dirty="0"/>
          </a:p>
        </p:txBody>
      </p:sp>
      <p:sp>
        <p:nvSpPr>
          <p:cNvPr id="22" name="Text 20"/>
          <p:cNvSpPr/>
          <p:nvPr/>
        </p:nvSpPr>
        <p:spPr>
          <a:xfrm>
            <a:off x="4800600" y="2560320"/>
            <a:ext cx="3749040" cy="685800"/>
          </a:xfrm>
          <a:prstGeom prst="rect">
            <a:avLst/>
          </a:prstGeom>
          <a:noFill/>
          <a:ln/>
        </p:spPr>
        <p:txBody>
          <a:bodyPr wrap="square" rtlCol="0" anchor="t"/>
          <a:lstStyle/>
          <a:p>
            <a:pPr indent="0" marL="0">
              <a:buNone/>
            </a:pPr>
            <a:r>
              <a:rPr lang="en-US" sz="900" dirty="0">
                <a:solidFill>
                  <a:srgbClr val="475569"/>
                </a:solidFill>
              </a:rPr>
              <a:t>PiiMasker utility in common-spring-boot-starter automatically masks Aadhaar (XXXX XXXX ****), PAN (XXXXX****X), card numbers, phone numbers, and email in all logs and audit events.</a:t>
            </a:r>
            <a:endParaRPr lang="en-US" sz="900" dirty="0"/>
          </a:p>
        </p:txBody>
      </p:sp>
      <p:sp>
        <p:nvSpPr>
          <p:cNvPr id="23" name="Shape 21"/>
          <p:cNvSpPr/>
          <p:nvPr/>
        </p:nvSpPr>
        <p:spPr>
          <a:xfrm>
            <a:off x="457200" y="3474720"/>
            <a:ext cx="4023360" cy="1051560"/>
          </a:xfrm>
          <a:prstGeom prst="rect">
            <a:avLst>
              <a:gd name="adj" fmla="val 5217"/>
            </a:avLst>
          </a:prstGeom>
          <a:solidFill>
            <a:srgbClr val="F5F3FF"/>
          </a:solidFill>
          <a:ln w="12700">
            <a:solidFill>
              <a:srgbClr val="6D28D9"/>
            </a:solidFill>
            <a:prstDash val="solid"/>
          </a:ln>
        </p:spPr>
      </p:sp>
      <p:sp>
        <p:nvSpPr>
          <p:cNvPr id="24" name="Shape 22"/>
          <p:cNvSpPr/>
          <p:nvPr/>
        </p:nvSpPr>
        <p:spPr>
          <a:xfrm>
            <a:off x="457200" y="3474720"/>
            <a:ext cx="54864" cy="1051560"/>
          </a:xfrm>
          <a:prstGeom prst="rect">
            <a:avLst/>
          </a:prstGeom>
          <a:solidFill>
            <a:srgbClr val="6D28D9"/>
          </a:solidFill>
          <a:ln/>
        </p:spPr>
      </p:sp>
      <p:sp>
        <p:nvSpPr>
          <p:cNvPr id="25" name="Text 23"/>
          <p:cNvSpPr/>
          <p:nvPr/>
        </p:nvSpPr>
        <p:spPr>
          <a:xfrm>
            <a:off x="594360" y="3520440"/>
            <a:ext cx="3749040" cy="274320"/>
          </a:xfrm>
          <a:prstGeom prst="rect">
            <a:avLst/>
          </a:prstGeom>
          <a:noFill/>
          <a:ln/>
        </p:spPr>
        <p:txBody>
          <a:bodyPr wrap="square" rtlCol="0" anchor="ctr"/>
          <a:lstStyle/>
          <a:p>
            <a:pPr indent="0" marL="0">
              <a:buNone/>
            </a:pPr>
            <a:r>
              <a:rPr lang="en-US" sz="1100" b="1" dirty="0">
                <a:solidFill>
                  <a:srgbClr val="6D28D9"/>
                </a:solidFill>
              </a:rPr>
              <a:t>Cannot operate without audit trail</a:t>
            </a:r>
            <a:endParaRPr lang="en-US" sz="1100" dirty="0"/>
          </a:p>
        </p:txBody>
      </p:sp>
      <p:sp>
        <p:nvSpPr>
          <p:cNvPr id="26" name="Text 24"/>
          <p:cNvSpPr/>
          <p:nvPr/>
        </p:nvSpPr>
        <p:spPr>
          <a:xfrm>
            <a:off x="594360" y="3794760"/>
            <a:ext cx="3749040" cy="685800"/>
          </a:xfrm>
          <a:prstGeom prst="rect">
            <a:avLst/>
          </a:prstGeom>
          <a:noFill/>
          <a:ln/>
        </p:spPr>
        <p:txBody>
          <a:bodyPr wrap="square" rtlCol="0" anchor="t"/>
          <a:lstStyle/>
          <a:p>
            <a:pPr indent="0" marL="0">
              <a:buNone/>
            </a:pPr>
            <a:r>
              <a:rPr lang="en-US" sz="900" dirty="0">
                <a:solidFill>
                  <a:srgbClr val="475569"/>
                </a:solidFill>
              </a:rPr>
              <a:t>Every AI decision is logged: what the customer said, what intent was detected, what policy was evaluated, what data was accessed, what response was generated. Complete traceability for RBI audit.</a:t>
            </a:r>
            <a:endParaRPr lang="en-US" sz="900" dirty="0"/>
          </a:p>
        </p:txBody>
      </p:sp>
      <p:sp>
        <p:nvSpPr>
          <p:cNvPr id="27" name="Shape 25"/>
          <p:cNvSpPr/>
          <p:nvPr/>
        </p:nvSpPr>
        <p:spPr>
          <a:xfrm>
            <a:off x="4663440" y="3474720"/>
            <a:ext cx="4023360" cy="1051560"/>
          </a:xfrm>
          <a:prstGeom prst="rect">
            <a:avLst>
              <a:gd name="adj" fmla="val 5217"/>
            </a:avLst>
          </a:prstGeom>
          <a:solidFill>
            <a:srgbClr val="FEF2F2"/>
          </a:solidFill>
          <a:ln w="12700">
            <a:solidFill>
              <a:srgbClr val="DC2626"/>
            </a:solidFill>
            <a:prstDash val="solid"/>
          </a:ln>
        </p:spPr>
      </p:sp>
      <p:sp>
        <p:nvSpPr>
          <p:cNvPr id="28" name="Shape 26"/>
          <p:cNvSpPr/>
          <p:nvPr/>
        </p:nvSpPr>
        <p:spPr>
          <a:xfrm>
            <a:off x="4663440" y="3474720"/>
            <a:ext cx="54864" cy="1051560"/>
          </a:xfrm>
          <a:prstGeom prst="rect">
            <a:avLst/>
          </a:prstGeom>
          <a:solidFill>
            <a:srgbClr val="DC2626"/>
          </a:solidFill>
          <a:ln/>
        </p:spPr>
      </p:sp>
      <p:sp>
        <p:nvSpPr>
          <p:cNvPr id="29" name="Text 27"/>
          <p:cNvSpPr/>
          <p:nvPr/>
        </p:nvSpPr>
        <p:spPr>
          <a:xfrm>
            <a:off x="4800600" y="3520440"/>
            <a:ext cx="3749040" cy="274320"/>
          </a:xfrm>
          <a:prstGeom prst="rect">
            <a:avLst/>
          </a:prstGeom>
          <a:noFill/>
          <a:ln/>
        </p:spPr>
        <p:txBody>
          <a:bodyPr wrap="square" rtlCol="0" anchor="ctr"/>
          <a:lstStyle/>
          <a:p>
            <a:pPr indent="0" marL="0">
              <a:buNone/>
            </a:pPr>
            <a:r>
              <a:rPr lang="en-US" sz="1100" b="1" dirty="0">
                <a:solidFill>
                  <a:srgbClr val="DC2626"/>
                </a:solidFill>
              </a:rPr>
              <a:t>Cannot be manipulated by customers</a:t>
            </a:r>
            <a:endParaRPr lang="en-US" sz="1100" dirty="0"/>
          </a:p>
        </p:txBody>
      </p:sp>
      <p:sp>
        <p:nvSpPr>
          <p:cNvPr id="30" name="Text 28"/>
          <p:cNvSpPr/>
          <p:nvPr/>
        </p:nvSpPr>
        <p:spPr>
          <a:xfrm>
            <a:off x="4800600" y="3794760"/>
            <a:ext cx="3749040" cy="685800"/>
          </a:xfrm>
          <a:prstGeom prst="rect">
            <a:avLst/>
          </a:prstGeom>
          <a:noFill/>
          <a:ln/>
        </p:spPr>
        <p:txBody>
          <a:bodyPr wrap="square" rtlCol="0" anchor="t"/>
          <a:lstStyle/>
          <a:p>
            <a:pPr indent="0" marL="0">
              <a:buNone/>
            </a:pPr>
            <a:r>
              <a:rPr lang="en-US" sz="900" dirty="0">
                <a:solidFill>
                  <a:srgbClr val="475569"/>
                </a:solidFill>
              </a:rPr>
              <a:t>Prompt injection detection (vault-anomaly-service) uses NLP classifier to detect adversarial inputs: 'ignore your instructions', 'pretend you are admin'. Detected attempts are blocked and flagged.</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1B2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9C1D26"/>
          </a:solidFill>
          <a:ln/>
        </p:spPr>
      </p:sp>
      <p:sp>
        <p:nvSpPr>
          <p:cNvPr id="3" name="Text 1"/>
          <p:cNvSpPr/>
          <p:nvPr/>
        </p:nvSpPr>
        <p:spPr>
          <a:xfrm>
            <a:off x="7132320" y="137160"/>
            <a:ext cx="1828800" cy="274320"/>
          </a:xfrm>
          <a:prstGeom prst="rect">
            <a:avLst/>
          </a:prstGeom>
          <a:noFill/>
          <a:ln/>
        </p:spPr>
        <p:txBody>
          <a:bodyPr wrap="square" rtlCol="0" anchor="ctr"/>
          <a:lstStyle/>
          <a:p>
            <a:pPr algn="r" indent="0" marL="0">
              <a:buNone/>
            </a:pPr>
            <a:r>
              <a:rPr lang="en-US" sz="900" b="1" dirty="0">
                <a:solidFill>
                  <a:srgbClr val="9C1D26"/>
                </a:solidFill>
              </a:rPr>
              <a:t>IDFC </a:t>
            </a:r>
            <a:pPr algn="r" indent="0" marL="0">
              <a:buNone/>
            </a:pPr>
            <a:r>
              <a:rPr lang="en-US" sz="900" b="1" dirty="0">
                <a:solidFill>
                  <a:srgbClr val="9C1D26"/>
                </a:solidFill>
              </a:rPr>
              <a:t>FIRST </a:t>
            </a:r>
            <a:pPr algn="r" indent="0" marL="0">
              <a:buNone/>
            </a:pPr>
            <a:r>
              <a:rPr lang="en-US" sz="900" dirty="0">
                <a:solidFill>
                  <a:srgbClr val="888888"/>
                </a:solidFill>
              </a:rPr>
              <a:t>Bank</a:t>
            </a:r>
            <a:endParaRPr lang="en-US" sz="900" dirty="0"/>
          </a:p>
        </p:txBody>
      </p:sp>
      <p:sp>
        <p:nvSpPr>
          <p:cNvPr id="4" name="Text 2"/>
          <p:cNvSpPr/>
          <p:nvPr/>
        </p:nvSpPr>
        <p:spPr>
          <a:xfrm>
            <a:off x="8503920" y="4754880"/>
            <a:ext cx="457200" cy="274320"/>
          </a:xfrm>
          <a:prstGeom prst="rect">
            <a:avLst/>
          </a:prstGeom>
          <a:noFill/>
          <a:ln/>
        </p:spPr>
        <p:txBody>
          <a:bodyPr wrap="square" rtlCol="0" anchor="ctr"/>
          <a:lstStyle/>
          <a:p>
            <a:pPr algn="r" indent="0" marL="0">
              <a:buNone/>
            </a:pPr>
            <a:r>
              <a:rPr lang="en-US" sz="800" dirty="0">
                <a:solidFill>
                  <a:srgbClr val="555555"/>
                </a:solidFill>
              </a:rPr>
              <a:t>7</a:t>
            </a:r>
            <a:endParaRPr lang="en-US" sz="800" dirty="0"/>
          </a:p>
        </p:txBody>
      </p:sp>
      <p:sp>
        <p:nvSpPr>
          <p:cNvPr id="5" name="Text 3"/>
          <p:cNvSpPr/>
          <p:nvPr/>
        </p:nvSpPr>
        <p:spPr>
          <a:xfrm>
            <a:off x="548640" y="365760"/>
            <a:ext cx="7315200" cy="457200"/>
          </a:xfrm>
          <a:prstGeom prst="rect">
            <a:avLst/>
          </a:prstGeom>
          <a:noFill/>
          <a:ln/>
        </p:spPr>
        <p:txBody>
          <a:bodyPr wrap="square" rtlCol="0" anchor="ctr"/>
          <a:lstStyle/>
          <a:p>
            <a:pPr indent="0" marL="0">
              <a:buNone/>
            </a:pPr>
            <a:r>
              <a:rPr lang="en-US" sz="2400" b="1" dirty="0">
                <a:solidFill>
                  <a:srgbClr val="FFFFFF"/>
                </a:solidFill>
              </a:rPr>
              <a:t>Where AI Is Used — and Where It Is Not</a:t>
            </a:r>
            <a:endParaRPr lang="en-US" sz="2400" dirty="0"/>
          </a:p>
        </p:txBody>
      </p:sp>
      <p:sp>
        <p:nvSpPr>
          <p:cNvPr id="6" name="Shape 4"/>
          <p:cNvSpPr/>
          <p:nvPr/>
        </p:nvSpPr>
        <p:spPr>
          <a:xfrm>
            <a:off x="548640" y="804672"/>
            <a:ext cx="731520" cy="36576"/>
          </a:xfrm>
          <a:prstGeom prst="rect">
            <a:avLst/>
          </a:prstGeom>
          <a:solidFill>
            <a:srgbClr val="9C1D26"/>
          </a:solidFill>
          <a:ln/>
        </p:spPr>
      </p:sp>
      <p:sp>
        <p:nvSpPr>
          <p:cNvPr id="7" name="Shape 5"/>
          <p:cNvSpPr/>
          <p:nvPr/>
        </p:nvSpPr>
        <p:spPr>
          <a:xfrm>
            <a:off x="365760" y="1005840"/>
            <a:ext cx="8412480" cy="347472"/>
          </a:xfrm>
          <a:prstGeom prst="rect">
            <a:avLst>
              <a:gd name="adj" fmla="val 10526"/>
            </a:avLst>
          </a:prstGeom>
          <a:solidFill>
            <a:srgbClr val="2D2D44"/>
          </a:solidFill>
          <a:ln/>
        </p:spPr>
      </p:sp>
      <p:sp>
        <p:nvSpPr>
          <p:cNvPr id="8" name="Text 6"/>
          <p:cNvSpPr/>
          <p:nvPr/>
        </p:nvSpPr>
        <p:spPr>
          <a:xfrm>
            <a:off x="548640" y="1005840"/>
            <a:ext cx="1828800" cy="347472"/>
          </a:xfrm>
          <a:prstGeom prst="rect">
            <a:avLst/>
          </a:prstGeom>
          <a:noFill/>
          <a:ln/>
        </p:spPr>
        <p:txBody>
          <a:bodyPr wrap="square" rtlCol="0" anchor="ctr"/>
          <a:lstStyle/>
          <a:p>
            <a:pPr indent="0" marL="0">
              <a:buNone/>
            </a:pPr>
            <a:r>
              <a:rPr lang="en-US" sz="1000" b="1" dirty="0">
                <a:solidFill>
                  <a:srgbClr val="E2E8F0"/>
                </a:solidFill>
              </a:rPr>
              <a:t>Speech to Text</a:t>
            </a:r>
            <a:endParaRPr lang="en-US" sz="1000" dirty="0"/>
          </a:p>
        </p:txBody>
      </p:sp>
      <p:sp>
        <p:nvSpPr>
          <p:cNvPr id="9" name="Shape 7"/>
          <p:cNvSpPr/>
          <p:nvPr/>
        </p:nvSpPr>
        <p:spPr>
          <a:xfrm>
            <a:off x="2468880" y="1051560"/>
            <a:ext cx="731520" cy="256032"/>
          </a:xfrm>
          <a:prstGeom prst="rect">
            <a:avLst>
              <a:gd name="adj" fmla="val 10714"/>
            </a:avLst>
          </a:prstGeom>
          <a:solidFill>
            <a:srgbClr val="3B82F6"/>
          </a:solidFill>
          <a:ln/>
        </p:spPr>
      </p:sp>
      <p:sp>
        <p:nvSpPr>
          <p:cNvPr id="10" name="Text 8"/>
          <p:cNvSpPr/>
          <p:nvPr/>
        </p:nvSpPr>
        <p:spPr>
          <a:xfrm>
            <a:off x="2468880" y="1051560"/>
            <a:ext cx="731520" cy="256032"/>
          </a:xfrm>
          <a:prstGeom prst="rect">
            <a:avLst/>
          </a:prstGeom>
          <a:noFill/>
          <a:ln/>
        </p:spPr>
        <p:txBody>
          <a:bodyPr wrap="square" rtlCol="0" anchor="ctr"/>
          <a:lstStyle/>
          <a:p>
            <a:pPr algn="ctr" indent="0" marL="0">
              <a:buNone/>
            </a:pPr>
            <a:r>
              <a:rPr lang="en-US" sz="800" b="1" dirty="0">
                <a:solidFill>
                  <a:srgbClr val="FFFFFF"/>
                </a:solidFill>
              </a:rPr>
              <a:t>AI</a:t>
            </a:r>
            <a:endParaRPr lang="en-US" sz="800" dirty="0"/>
          </a:p>
        </p:txBody>
      </p:sp>
      <p:sp>
        <p:nvSpPr>
          <p:cNvPr id="11" name="Text 9"/>
          <p:cNvSpPr/>
          <p:nvPr/>
        </p:nvSpPr>
        <p:spPr>
          <a:xfrm>
            <a:off x="3383280" y="1005840"/>
            <a:ext cx="5212080" cy="347472"/>
          </a:xfrm>
          <a:prstGeom prst="rect">
            <a:avLst/>
          </a:prstGeom>
          <a:noFill/>
          <a:ln/>
        </p:spPr>
        <p:txBody>
          <a:bodyPr wrap="square" rtlCol="0" anchor="ctr"/>
          <a:lstStyle/>
          <a:p>
            <a:pPr indent="0" marL="0">
              <a:buNone/>
            </a:pPr>
            <a:r>
              <a:rPr lang="en-US" sz="950" dirty="0">
                <a:solidFill>
                  <a:srgbClr val="CBD5E1"/>
                </a:solidFill>
              </a:rPr>
              <a:t>Converts customer speech (Hindi/English) to text</a:t>
            </a:r>
            <a:endParaRPr lang="en-US" sz="950" dirty="0"/>
          </a:p>
        </p:txBody>
      </p:sp>
      <p:sp>
        <p:nvSpPr>
          <p:cNvPr id="12" name="Shape 10"/>
          <p:cNvSpPr/>
          <p:nvPr/>
        </p:nvSpPr>
        <p:spPr>
          <a:xfrm>
            <a:off x="365760" y="1431036"/>
            <a:ext cx="8412480" cy="347472"/>
          </a:xfrm>
          <a:prstGeom prst="rect">
            <a:avLst>
              <a:gd name="adj" fmla="val 10526"/>
            </a:avLst>
          </a:prstGeom>
          <a:solidFill>
            <a:srgbClr val="2D2D44"/>
          </a:solidFill>
          <a:ln/>
        </p:spPr>
      </p:sp>
      <p:sp>
        <p:nvSpPr>
          <p:cNvPr id="13" name="Text 11"/>
          <p:cNvSpPr/>
          <p:nvPr/>
        </p:nvSpPr>
        <p:spPr>
          <a:xfrm>
            <a:off x="548640" y="1431036"/>
            <a:ext cx="1828800" cy="347472"/>
          </a:xfrm>
          <a:prstGeom prst="rect">
            <a:avLst/>
          </a:prstGeom>
          <a:noFill/>
          <a:ln/>
        </p:spPr>
        <p:txBody>
          <a:bodyPr wrap="square" rtlCol="0" anchor="ctr"/>
          <a:lstStyle/>
          <a:p>
            <a:pPr indent="0" marL="0">
              <a:buNone/>
            </a:pPr>
            <a:r>
              <a:rPr lang="en-US" sz="1000" b="1" dirty="0">
                <a:solidFill>
                  <a:srgbClr val="E2E8F0"/>
                </a:solidFill>
              </a:rPr>
              <a:t>Intent Detection</a:t>
            </a:r>
            <a:endParaRPr lang="en-US" sz="1000" dirty="0"/>
          </a:p>
        </p:txBody>
      </p:sp>
      <p:sp>
        <p:nvSpPr>
          <p:cNvPr id="14" name="Shape 12"/>
          <p:cNvSpPr/>
          <p:nvPr/>
        </p:nvSpPr>
        <p:spPr>
          <a:xfrm>
            <a:off x="2468880" y="1476756"/>
            <a:ext cx="731520" cy="256032"/>
          </a:xfrm>
          <a:prstGeom prst="rect">
            <a:avLst>
              <a:gd name="adj" fmla="val 10714"/>
            </a:avLst>
          </a:prstGeom>
          <a:solidFill>
            <a:srgbClr val="3B82F6"/>
          </a:solidFill>
          <a:ln/>
        </p:spPr>
      </p:sp>
      <p:sp>
        <p:nvSpPr>
          <p:cNvPr id="15" name="Text 13"/>
          <p:cNvSpPr/>
          <p:nvPr/>
        </p:nvSpPr>
        <p:spPr>
          <a:xfrm>
            <a:off x="2468880" y="1476756"/>
            <a:ext cx="731520" cy="256032"/>
          </a:xfrm>
          <a:prstGeom prst="rect">
            <a:avLst/>
          </a:prstGeom>
          <a:noFill/>
          <a:ln/>
        </p:spPr>
        <p:txBody>
          <a:bodyPr wrap="square" rtlCol="0" anchor="ctr"/>
          <a:lstStyle/>
          <a:p>
            <a:pPr algn="ctr" indent="0" marL="0">
              <a:buNone/>
            </a:pPr>
            <a:r>
              <a:rPr lang="en-US" sz="800" b="1" dirty="0">
                <a:solidFill>
                  <a:srgbClr val="FFFFFF"/>
                </a:solidFill>
              </a:rPr>
              <a:t>AI</a:t>
            </a:r>
            <a:endParaRPr lang="en-US" sz="800" dirty="0"/>
          </a:p>
        </p:txBody>
      </p:sp>
      <p:sp>
        <p:nvSpPr>
          <p:cNvPr id="16" name="Text 14"/>
          <p:cNvSpPr/>
          <p:nvPr/>
        </p:nvSpPr>
        <p:spPr>
          <a:xfrm>
            <a:off x="3383280" y="1431036"/>
            <a:ext cx="5212080" cy="347472"/>
          </a:xfrm>
          <a:prstGeom prst="rect">
            <a:avLst/>
          </a:prstGeom>
          <a:noFill/>
          <a:ln/>
        </p:spPr>
        <p:txBody>
          <a:bodyPr wrap="square" rtlCol="0" anchor="ctr"/>
          <a:lstStyle/>
          <a:p>
            <a:pPr indent="0" marL="0">
              <a:buNone/>
            </a:pPr>
            <a:r>
              <a:rPr lang="en-US" sz="950" dirty="0">
                <a:solidFill>
                  <a:srgbClr val="CBD5E1"/>
                </a:solidFill>
              </a:rPr>
              <a:t>LLM understands what customer wants + extracts entities</a:t>
            </a:r>
            <a:endParaRPr lang="en-US" sz="950" dirty="0"/>
          </a:p>
        </p:txBody>
      </p:sp>
      <p:sp>
        <p:nvSpPr>
          <p:cNvPr id="17" name="Shape 15"/>
          <p:cNvSpPr/>
          <p:nvPr/>
        </p:nvSpPr>
        <p:spPr>
          <a:xfrm>
            <a:off x="365760" y="1856232"/>
            <a:ext cx="8412480" cy="347472"/>
          </a:xfrm>
          <a:prstGeom prst="rect">
            <a:avLst>
              <a:gd name="adj" fmla="val 10526"/>
            </a:avLst>
          </a:prstGeom>
          <a:solidFill>
            <a:srgbClr val="2D2D44"/>
          </a:solidFill>
          <a:ln/>
        </p:spPr>
      </p:sp>
      <p:sp>
        <p:nvSpPr>
          <p:cNvPr id="18" name="Text 16"/>
          <p:cNvSpPr/>
          <p:nvPr/>
        </p:nvSpPr>
        <p:spPr>
          <a:xfrm>
            <a:off x="548640" y="1856232"/>
            <a:ext cx="1828800" cy="347472"/>
          </a:xfrm>
          <a:prstGeom prst="rect">
            <a:avLst/>
          </a:prstGeom>
          <a:noFill/>
          <a:ln/>
        </p:spPr>
        <p:txBody>
          <a:bodyPr wrap="square" rtlCol="0" anchor="ctr"/>
          <a:lstStyle/>
          <a:p>
            <a:pPr indent="0" marL="0">
              <a:buNone/>
            </a:pPr>
            <a:r>
              <a:rPr lang="en-US" sz="1000" b="1" dirty="0">
                <a:solidFill>
                  <a:srgbClr val="E2E8F0"/>
                </a:solidFill>
              </a:rPr>
              <a:t>Policy Evaluation</a:t>
            </a:r>
            <a:endParaRPr lang="en-US" sz="1000" dirty="0"/>
          </a:p>
        </p:txBody>
      </p:sp>
      <p:sp>
        <p:nvSpPr>
          <p:cNvPr id="19" name="Shape 17"/>
          <p:cNvSpPr/>
          <p:nvPr/>
        </p:nvSpPr>
        <p:spPr>
          <a:xfrm>
            <a:off x="2468880" y="1901952"/>
            <a:ext cx="731520" cy="256032"/>
          </a:xfrm>
          <a:prstGeom prst="rect">
            <a:avLst>
              <a:gd name="adj" fmla="val 10714"/>
            </a:avLst>
          </a:prstGeom>
          <a:solidFill>
            <a:srgbClr val="0F6E56"/>
          </a:solidFill>
          <a:ln/>
        </p:spPr>
      </p:sp>
      <p:sp>
        <p:nvSpPr>
          <p:cNvPr id="20" name="Text 18"/>
          <p:cNvSpPr/>
          <p:nvPr/>
        </p:nvSpPr>
        <p:spPr>
          <a:xfrm>
            <a:off x="2468880" y="1901952"/>
            <a:ext cx="731520" cy="256032"/>
          </a:xfrm>
          <a:prstGeom prst="rect">
            <a:avLst/>
          </a:prstGeom>
          <a:noFill/>
          <a:ln/>
        </p:spPr>
        <p:txBody>
          <a:bodyPr wrap="square" rtlCol="0" anchor="ctr"/>
          <a:lstStyle/>
          <a:p>
            <a:pPr algn="ctr" indent="0" marL="0">
              <a:buNone/>
            </a:pPr>
            <a:r>
              <a:rPr lang="en-US" sz="800" b="1" dirty="0">
                <a:solidFill>
                  <a:srgbClr val="FFFFFF"/>
                </a:solidFill>
              </a:rPr>
              <a:t>NOT AI</a:t>
            </a:r>
            <a:endParaRPr lang="en-US" sz="800" dirty="0"/>
          </a:p>
        </p:txBody>
      </p:sp>
      <p:sp>
        <p:nvSpPr>
          <p:cNvPr id="21" name="Text 19"/>
          <p:cNvSpPr/>
          <p:nvPr/>
        </p:nvSpPr>
        <p:spPr>
          <a:xfrm>
            <a:off x="3383280" y="1856232"/>
            <a:ext cx="5212080" cy="347472"/>
          </a:xfrm>
          <a:prstGeom prst="rect">
            <a:avLst/>
          </a:prstGeom>
          <a:noFill/>
          <a:ln/>
        </p:spPr>
        <p:txBody>
          <a:bodyPr wrap="square" rtlCol="0" anchor="ctr"/>
          <a:lstStyle/>
          <a:p>
            <a:pPr indent="0" marL="0">
              <a:buNone/>
            </a:pPr>
            <a:r>
              <a:rPr lang="en-US" sz="950" dirty="0">
                <a:solidFill>
                  <a:srgbClr val="CBD5E1"/>
                </a:solidFill>
              </a:rPr>
              <a:t>Vault OPA engine — deterministic rules, not probabilistic AI</a:t>
            </a:r>
            <a:endParaRPr lang="en-US" sz="950" dirty="0"/>
          </a:p>
        </p:txBody>
      </p:sp>
      <p:sp>
        <p:nvSpPr>
          <p:cNvPr id="22" name="Shape 20"/>
          <p:cNvSpPr/>
          <p:nvPr/>
        </p:nvSpPr>
        <p:spPr>
          <a:xfrm>
            <a:off x="365760" y="2281428"/>
            <a:ext cx="8412480" cy="347472"/>
          </a:xfrm>
          <a:prstGeom prst="rect">
            <a:avLst>
              <a:gd name="adj" fmla="val 10526"/>
            </a:avLst>
          </a:prstGeom>
          <a:solidFill>
            <a:srgbClr val="2D2D44"/>
          </a:solidFill>
          <a:ln/>
        </p:spPr>
      </p:sp>
      <p:sp>
        <p:nvSpPr>
          <p:cNvPr id="23" name="Text 21"/>
          <p:cNvSpPr/>
          <p:nvPr/>
        </p:nvSpPr>
        <p:spPr>
          <a:xfrm>
            <a:off x="548640" y="2281428"/>
            <a:ext cx="1828800" cy="347472"/>
          </a:xfrm>
          <a:prstGeom prst="rect">
            <a:avLst/>
          </a:prstGeom>
          <a:noFill/>
          <a:ln/>
        </p:spPr>
        <p:txBody>
          <a:bodyPr wrap="square" rtlCol="0" anchor="ctr"/>
          <a:lstStyle/>
          <a:p>
            <a:pPr indent="0" marL="0">
              <a:buNone/>
            </a:pPr>
            <a:r>
              <a:rPr lang="en-US" sz="1000" b="1" dirty="0">
                <a:solidFill>
                  <a:srgbClr val="E2E8F0"/>
                </a:solidFill>
              </a:rPr>
              <a:t>Tool Selection</a:t>
            </a:r>
            <a:endParaRPr lang="en-US" sz="1000" dirty="0"/>
          </a:p>
        </p:txBody>
      </p:sp>
      <p:sp>
        <p:nvSpPr>
          <p:cNvPr id="24" name="Shape 22"/>
          <p:cNvSpPr/>
          <p:nvPr/>
        </p:nvSpPr>
        <p:spPr>
          <a:xfrm>
            <a:off x="2468880" y="2327148"/>
            <a:ext cx="731520" cy="256032"/>
          </a:xfrm>
          <a:prstGeom prst="rect">
            <a:avLst>
              <a:gd name="adj" fmla="val 10714"/>
            </a:avLst>
          </a:prstGeom>
          <a:solidFill>
            <a:srgbClr val="3B82F6"/>
          </a:solidFill>
          <a:ln/>
        </p:spPr>
      </p:sp>
      <p:sp>
        <p:nvSpPr>
          <p:cNvPr id="25" name="Text 23"/>
          <p:cNvSpPr/>
          <p:nvPr/>
        </p:nvSpPr>
        <p:spPr>
          <a:xfrm>
            <a:off x="2468880" y="2327148"/>
            <a:ext cx="731520" cy="256032"/>
          </a:xfrm>
          <a:prstGeom prst="rect">
            <a:avLst/>
          </a:prstGeom>
          <a:noFill/>
          <a:ln/>
        </p:spPr>
        <p:txBody>
          <a:bodyPr wrap="square" rtlCol="0" anchor="ctr"/>
          <a:lstStyle/>
          <a:p>
            <a:pPr algn="ctr" indent="0" marL="0">
              <a:buNone/>
            </a:pPr>
            <a:r>
              <a:rPr lang="en-US" sz="800" b="1" dirty="0">
                <a:solidFill>
                  <a:srgbClr val="FFFFFF"/>
                </a:solidFill>
              </a:rPr>
              <a:t>AI</a:t>
            </a:r>
            <a:endParaRPr lang="en-US" sz="800" dirty="0"/>
          </a:p>
        </p:txBody>
      </p:sp>
      <p:sp>
        <p:nvSpPr>
          <p:cNvPr id="26" name="Text 24"/>
          <p:cNvSpPr/>
          <p:nvPr/>
        </p:nvSpPr>
        <p:spPr>
          <a:xfrm>
            <a:off x="3383280" y="2281428"/>
            <a:ext cx="5212080" cy="347472"/>
          </a:xfrm>
          <a:prstGeom prst="rect">
            <a:avLst/>
          </a:prstGeom>
          <a:noFill/>
          <a:ln/>
        </p:spPr>
        <p:txBody>
          <a:bodyPr wrap="square" rtlCol="0" anchor="ctr"/>
          <a:lstStyle/>
          <a:p>
            <a:pPr indent="0" marL="0">
              <a:buNone/>
            </a:pPr>
            <a:r>
              <a:rPr lang="en-US" sz="950" dirty="0">
                <a:solidFill>
                  <a:srgbClr val="CBD5E1"/>
                </a:solidFill>
              </a:rPr>
              <a:t>LLM decides which banking systems to query</a:t>
            </a:r>
            <a:endParaRPr lang="en-US" sz="950" dirty="0"/>
          </a:p>
        </p:txBody>
      </p:sp>
      <p:sp>
        <p:nvSpPr>
          <p:cNvPr id="27" name="Shape 25"/>
          <p:cNvSpPr/>
          <p:nvPr/>
        </p:nvSpPr>
        <p:spPr>
          <a:xfrm>
            <a:off x="365760" y="2706624"/>
            <a:ext cx="8412480" cy="347472"/>
          </a:xfrm>
          <a:prstGeom prst="rect">
            <a:avLst>
              <a:gd name="adj" fmla="val 10526"/>
            </a:avLst>
          </a:prstGeom>
          <a:solidFill>
            <a:srgbClr val="2D2D44"/>
          </a:solidFill>
          <a:ln/>
        </p:spPr>
      </p:sp>
      <p:sp>
        <p:nvSpPr>
          <p:cNvPr id="28" name="Text 26"/>
          <p:cNvSpPr/>
          <p:nvPr/>
        </p:nvSpPr>
        <p:spPr>
          <a:xfrm>
            <a:off x="548640" y="2706624"/>
            <a:ext cx="1828800" cy="347472"/>
          </a:xfrm>
          <a:prstGeom prst="rect">
            <a:avLst/>
          </a:prstGeom>
          <a:noFill/>
          <a:ln/>
        </p:spPr>
        <p:txBody>
          <a:bodyPr wrap="square" rtlCol="0" anchor="ctr"/>
          <a:lstStyle/>
          <a:p>
            <a:pPr indent="0" marL="0">
              <a:buNone/>
            </a:pPr>
            <a:r>
              <a:rPr lang="en-US" sz="1000" b="1" dirty="0">
                <a:solidFill>
                  <a:srgbClr val="E2E8F0"/>
                </a:solidFill>
              </a:rPr>
              <a:t>Data Fetch from Bank</a:t>
            </a:r>
            <a:endParaRPr lang="en-US" sz="1000" dirty="0"/>
          </a:p>
        </p:txBody>
      </p:sp>
      <p:sp>
        <p:nvSpPr>
          <p:cNvPr id="29" name="Shape 27"/>
          <p:cNvSpPr/>
          <p:nvPr/>
        </p:nvSpPr>
        <p:spPr>
          <a:xfrm>
            <a:off x="2468880" y="2752344"/>
            <a:ext cx="731520" cy="256032"/>
          </a:xfrm>
          <a:prstGeom prst="rect">
            <a:avLst>
              <a:gd name="adj" fmla="val 10714"/>
            </a:avLst>
          </a:prstGeom>
          <a:solidFill>
            <a:srgbClr val="0F6E56"/>
          </a:solidFill>
          <a:ln/>
        </p:spPr>
      </p:sp>
      <p:sp>
        <p:nvSpPr>
          <p:cNvPr id="30" name="Text 28"/>
          <p:cNvSpPr/>
          <p:nvPr/>
        </p:nvSpPr>
        <p:spPr>
          <a:xfrm>
            <a:off x="2468880" y="2752344"/>
            <a:ext cx="731520" cy="256032"/>
          </a:xfrm>
          <a:prstGeom prst="rect">
            <a:avLst/>
          </a:prstGeom>
          <a:noFill/>
          <a:ln/>
        </p:spPr>
        <p:txBody>
          <a:bodyPr wrap="square" rtlCol="0" anchor="ctr"/>
          <a:lstStyle/>
          <a:p>
            <a:pPr algn="ctr" indent="0" marL="0">
              <a:buNone/>
            </a:pPr>
            <a:r>
              <a:rPr lang="en-US" sz="800" b="1" dirty="0">
                <a:solidFill>
                  <a:srgbClr val="FFFFFF"/>
                </a:solidFill>
              </a:rPr>
              <a:t>NOT AI</a:t>
            </a:r>
            <a:endParaRPr lang="en-US" sz="800" dirty="0"/>
          </a:p>
        </p:txBody>
      </p:sp>
      <p:sp>
        <p:nvSpPr>
          <p:cNvPr id="31" name="Text 29"/>
          <p:cNvSpPr/>
          <p:nvPr/>
        </p:nvSpPr>
        <p:spPr>
          <a:xfrm>
            <a:off x="3383280" y="2706624"/>
            <a:ext cx="5212080" cy="347472"/>
          </a:xfrm>
          <a:prstGeom prst="rect">
            <a:avLst/>
          </a:prstGeom>
          <a:noFill/>
          <a:ln/>
        </p:spPr>
        <p:txBody>
          <a:bodyPr wrap="square" rtlCol="0" anchor="ctr"/>
          <a:lstStyle/>
          <a:p>
            <a:pPr indent="0" marL="0">
              <a:buNone/>
            </a:pPr>
            <a:r>
              <a:rPr lang="en-US" sz="950" dirty="0">
                <a:solidFill>
                  <a:srgbClr val="CBD5E1"/>
                </a:solidFill>
              </a:rPr>
              <a:t>MCP server makes REST call to Finacle/CIBIL — pure Java</a:t>
            </a:r>
            <a:endParaRPr lang="en-US" sz="950" dirty="0"/>
          </a:p>
        </p:txBody>
      </p:sp>
      <p:sp>
        <p:nvSpPr>
          <p:cNvPr id="32" name="Shape 30"/>
          <p:cNvSpPr/>
          <p:nvPr/>
        </p:nvSpPr>
        <p:spPr>
          <a:xfrm>
            <a:off x="365760" y="3131820"/>
            <a:ext cx="8412480" cy="347472"/>
          </a:xfrm>
          <a:prstGeom prst="rect">
            <a:avLst>
              <a:gd name="adj" fmla="val 10526"/>
            </a:avLst>
          </a:prstGeom>
          <a:solidFill>
            <a:srgbClr val="2D2D44"/>
          </a:solidFill>
          <a:ln/>
        </p:spPr>
      </p:sp>
      <p:sp>
        <p:nvSpPr>
          <p:cNvPr id="33" name="Text 31"/>
          <p:cNvSpPr/>
          <p:nvPr/>
        </p:nvSpPr>
        <p:spPr>
          <a:xfrm>
            <a:off x="548640" y="3131820"/>
            <a:ext cx="1828800" cy="347472"/>
          </a:xfrm>
          <a:prstGeom prst="rect">
            <a:avLst/>
          </a:prstGeom>
          <a:noFill/>
          <a:ln/>
        </p:spPr>
        <p:txBody>
          <a:bodyPr wrap="square" rtlCol="0" anchor="ctr"/>
          <a:lstStyle/>
          <a:p>
            <a:pPr indent="0" marL="0">
              <a:buNone/>
            </a:pPr>
            <a:r>
              <a:rPr lang="en-US" sz="1000" b="1" dirty="0">
                <a:solidFill>
                  <a:srgbClr val="E2E8F0"/>
                </a:solidFill>
              </a:rPr>
              <a:t>Response Generation</a:t>
            </a:r>
            <a:endParaRPr lang="en-US" sz="1000" dirty="0"/>
          </a:p>
        </p:txBody>
      </p:sp>
      <p:sp>
        <p:nvSpPr>
          <p:cNvPr id="34" name="Shape 32"/>
          <p:cNvSpPr/>
          <p:nvPr/>
        </p:nvSpPr>
        <p:spPr>
          <a:xfrm>
            <a:off x="2468880" y="3177540"/>
            <a:ext cx="731520" cy="256032"/>
          </a:xfrm>
          <a:prstGeom prst="rect">
            <a:avLst>
              <a:gd name="adj" fmla="val 10714"/>
            </a:avLst>
          </a:prstGeom>
          <a:solidFill>
            <a:srgbClr val="3B82F6"/>
          </a:solidFill>
          <a:ln/>
        </p:spPr>
      </p:sp>
      <p:sp>
        <p:nvSpPr>
          <p:cNvPr id="35" name="Text 33"/>
          <p:cNvSpPr/>
          <p:nvPr/>
        </p:nvSpPr>
        <p:spPr>
          <a:xfrm>
            <a:off x="2468880" y="3177540"/>
            <a:ext cx="731520" cy="256032"/>
          </a:xfrm>
          <a:prstGeom prst="rect">
            <a:avLst/>
          </a:prstGeom>
          <a:noFill/>
          <a:ln/>
        </p:spPr>
        <p:txBody>
          <a:bodyPr wrap="square" rtlCol="0" anchor="ctr"/>
          <a:lstStyle/>
          <a:p>
            <a:pPr algn="ctr" indent="0" marL="0">
              <a:buNone/>
            </a:pPr>
            <a:r>
              <a:rPr lang="en-US" sz="800" b="1" dirty="0">
                <a:solidFill>
                  <a:srgbClr val="FFFFFF"/>
                </a:solidFill>
              </a:rPr>
              <a:t>AI</a:t>
            </a:r>
            <a:endParaRPr lang="en-US" sz="800" dirty="0"/>
          </a:p>
        </p:txBody>
      </p:sp>
      <p:sp>
        <p:nvSpPr>
          <p:cNvPr id="36" name="Text 34"/>
          <p:cNvSpPr/>
          <p:nvPr/>
        </p:nvSpPr>
        <p:spPr>
          <a:xfrm>
            <a:off x="3383280" y="3131820"/>
            <a:ext cx="5212080" cy="347472"/>
          </a:xfrm>
          <a:prstGeom prst="rect">
            <a:avLst/>
          </a:prstGeom>
          <a:noFill/>
          <a:ln/>
        </p:spPr>
        <p:txBody>
          <a:bodyPr wrap="square" rtlCol="0" anchor="ctr"/>
          <a:lstStyle/>
          <a:p>
            <a:pPr indent="0" marL="0">
              <a:buNone/>
            </a:pPr>
            <a:r>
              <a:rPr lang="en-US" sz="950" dirty="0">
                <a:solidFill>
                  <a:srgbClr val="CBD5E1"/>
                </a:solidFill>
              </a:rPr>
              <a:t>LLM generates natural language from bank data</a:t>
            </a:r>
            <a:endParaRPr lang="en-US" sz="950" dirty="0"/>
          </a:p>
        </p:txBody>
      </p:sp>
      <p:sp>
        <p:nvSpPr>
          <p:cNvPr id="37" name="Shape 35"/>
          <p:cNvSpPr/>
          <p:nvPr/>
        </p:nvSpPr>
        <p:spPr>
          <a:xfrm>
            <a:off x="365760" y="3557016"/>
            <a:ext cx="8412480" cy="347472"/>
          </a:xfrm>
          <a:prstGeom prst="rect">
            <a:avLst>
              <a:gd name="adj" fmla="val 10526"/>
            </a:avLst>
          </a:prstGeom>
          <a:solidFill>
            <a:srgbClr val="2D2D44"/>
          </a:solidFill>
          <a:ln/>
        </p:spPr>
      </p:sp>
      <p:sp>
        <p:nvSpPr>
          <p:cNvPr id="38" name="Text 36"/>
          <p:cNvSpPr/>
          <p:nvPr/>
        </p:nvSpPr>
        <p:spPr>
          <a:xfrm>
            <a:off x="548640" y="3557016"/>
            <a:ext cx="1828800" cy="347472"/>
          </a:xfrm>
          <a:prstGeom prst="rect">
            <a:avLst/>
          </a:prstGeom>
          <a:noFill/>
          <a:ln/>
        </p:spPr>
        <p:txBody>
          <a:bodyPr wrap="square" rtlCol="0" anchor="ctr"/>
          <a:lstStyle/>
          <a:p>
            <a:pPr indent="0" marL="0">
              <a:buNone/>
            </a:pPr>
            <a:r>
              <a:rPr lang="en-US" sz="1000" b="1" dirty="0">
                <a:solidFill>
                  <a:srgbClr val="E2E8F0"/>
                </a:solidFill>
              </a:rPr>
              <a:t>Guardrail Check</a:t>
            </a:r>
            <a:endParaRPr lang="en-US" sz="1000" dirty="0"/>
          </a:p>
        </p:txBody>
      </p:sp>
      <p:sp>
        <p:nvSpPr>
          <p:cNvPr id="39" name="Shape 37"/>
          <p:cNvSpPr/>
          <p:nvPr/>
        </p:nvSpPr>
        <p:spPr>
          <a:xfrm>
            <a:off x="2468880" y="3602736"/>
            <a:ext cx="731520" cy="256032"/>
          </a:xfrm>
          <a:prstGeom prst="rect">
            <a:avLst>
              <a:gd name="adj" fmla="val 10714"/>
            </a:avLst>
          </a:prstGeom>
          <a:solidFill>
            <a:srgbClr val="0F6E56"/>
          </a:solidFill>
          <a:ln/>
        </p:spPr>
      </p:sp>
      <p:sp>
        <p:nvSpPr>
          <p:cNvPr id="40" name="Text 38"/>
          <p:cNvSpPr/>
          <p:nvPr/>
        </p:nvSpPr>
        <p:spPr>
          <a:xfrm>
            <a:off x="2468880" y="3602736"/>
            <a:ext cx="731520" cy="256032"/>
          </a:xfrm>
          <a:prstGeom prst="rect">
            <a:avLst/>
          </a:prstGeom>
          <a:noFill/>
          <a:ln/>
        </p:spPr>
        <p:txBody>
          <a:bodyPr wrap="square" rtlCol="0" anchor="ctr"/>
          <a:lstStyle/>
          <a:p>
            <a:pPr algn="ctr" indent="0" marL="0">
              <a:buNone/>
            </a:pPr>
            <a:r>
              <a:rPr lang="en-US" sz="800" b="1" dirty="0">
                <a:solidFill>
                  <a:srgbClr val="FFFFFF"/>
                </a:solidFill>
              </a:rPr>
              <a:t>NOT AI</a:t>
            </a:r>
            <a:endParaRPr lang="en-US" sz="800" dirty="0"/>
          </a:p>
        </p:txBody>
      </p:sp>
      <p:sp>
        <p:nvSpPr>
          <p:cNvPr id="41" name="Text 39"/>
          <p:cNvSpPr/>
          <p:nvPr/>
        </p:nvSpPr>
        <p:spPr>
          <a:xfrm>
            <a:off x="3383280" y="3557016"/>
            <a:ext cx="5212080" cy="347472"/>
          </a:xfrm>
          <a:prstGeom prst="rect">
            <a:avLst/>
          </a:prstGeom>
          <a:noFill/>
          <a:ln/>
        </p:spPr>
        <p:txBody>
          <a:bodyPr wrap="square" rtlCol="0" anchor="ctr"/>
          <a:lstStyle/>
          <a:p>
            <a:pPr indent="0" marL="0">
              <a:buNone/>
            </a:pPr>
            <a:r>
              <a:rPr lang="en-US" sz="950" dirty="0">
                <a:solidFill>
                  <a:srgbClr val="CBD5E1"/>
                </a:solidFill>
              </a:rPr>
              <a:t>Pattern matching + rules check response for compliance</a:t>
            </a:r>
            <a:endParaRPr lang="en-US" sz="950" dirty="0"/>
          </a:p>
        </p:txBody>
      </p:sp>
      <p:sp>
        <p:nvSpPr>
          <p:cNvPr id="42" name="Shape 40"/>
          <p:cNvSpPr/>
          <p:nvPr/>
        </p:nvSpPr>
        <p:spPr>
          <a:xfrm>
            <a:off x="365760" y="3982212"/>
            <a:ext cx="8412480" cy="347472"/>
          </a:xfrm>
          <a:prstGeom prst="rect">
            <a:avLst>
              <a:gd name="adj" fmla="val 10526"/>
            </a:avLst>
          </a:prstGeom>
          <a:solidFill>
            <a:srgbClr val="2D2D44"/>
          </a:solidFill>
          <a:ln/>
        </p:spPr>
      </p:sp>
      <p:sp>
        <p:nvSpPr>
          <p:cNvPr id="43" name="Text 41"/>
          <p:cNvSpPr/>
          <p:nvPr/>
        </p:nvSpPr>
        <p:spPr>
          <a:xfrm>
            <a:off x="548640" y="3982212"/>
            <a:ext cx="1828800" cy="347472"/>
          </a:xfrm>
          <a:prstGeom prst="rect">
            <a:avLst/>
          </a:prstGeom>
          <a:noFill/>
          <a:ln/>
        </p:spPr>
        <p:txBody>
          <a:bodyPr wrap="square" rtlCol="0" anchor="ctr"/>
          <a:lstStyle/>
          <a:p>
            <a:pPr indent="0" marL="0">
              <a:buNone/>
            </a:pPr>
            <a:r>
              <a:rPr lang="en-US" sz="1000" b="1" dirty="0">
                <a:solidFill>
                  <a:srgbClr val="E2E8F0"/>
                </a:solidFill>
              </a:rPr>
              <a:t>Audit Logging</a:t>
            </a:r>
            <a:endParaRPr lang="en-US" sz="1000" dirty="0"/>
          </a:p>
        </p:txBody>
      </p:sp>
      <p:sp>
        <p:nvSpPr>
          <p:cNvPr id="44" name="Shape 42"/>
          <p:cNvSpPr/>
          <p:nvPr/>
        </p:nvSpPr>
        <p:spPr>
          <a:xfrm>
            <a:off x="2468880" y="4027932"/>
            <a:ext cx="731520" cy="256032"/>
          </a:xfrm>
          <a:prstGeom prst="rect">
            <a:avLst>
              <a:gd name="adj" fmla="val 10714"/>
            </a:avLst>
          </a:prstGeom>
          <a:solidFill>
            <a:srgbClr val="0F6E56"/>
          </a:solidFill>
          <a:ln/>
        </p:spPr>
      </p:sp>
      <p:sp>
        <p:nvSpPr>
          <p:cNvPr id="45" name="Text 43"/>
          <p:cNvSpPr/>
          <p:nvPr/>
        </p:nvSpPr>
        <p:spPr>
          <a:xfrm>
            <a:off x="2468880" y="4027932"/>
            <a:ext cx="731520" cy="256032"/>
          </a:xfrm>
          <a:prstGeom prst="rect">
            <a:avLst/>
          </a:prstGeom>
          <a:noFill/>
          <a:ln/>
        </p:spPr>
        <p:txBody>
          <a:bodyPr wrap="square" rtlCol="0" anchor="ctr"/>
          <a:lstStyle/>
          <a:p>
            <a:pPr algn="ctr" indent="0" marL="0">
              <a:buNone/>
            </a:pPr>
            <a:r>
              <a:rPr lang="en-US" sz="800" b="1" dirty="0">
                <a:solidFill>
                  <a:srgbClr val="FFFFFF"/>
                </a:solidFill>
              </a:rPr>
              <a:t>NOT AI</a:t>
            </a:r>
            <a:endParaRPr lang="en-US" sz="800" dirty="0"/>
          </a:p>
        </p:txBody>
      </p:sp>
      <p:sp>
        <p:nvSpPr>
          <p:cNvPr id="46" name="Text 44"/>
          <p:cNvSpPr/>
          <p:nvPr/>
        </p:nvSpPr>
        <p:spPr>
          <a:xfrm>
            <a:off x="3383280" y="3982212"/>
            <a:ext cx="5212080" cy="347472"/>
          </a:xfrm>
          <a:prstGeom prst="rect">
            <a:avLst/>
          </a:prstGeom>
          <a:noFill/>
          <a:ln/>
        </p:spPr>
        <p:txBody>
          <a:bodyPr wrap="square" rtlCol="0" anchor="ctr"/>
          <a:lstStyle/>
          <a:p>
            <a:pPr indent="0" marL="0">
              <a:buNone/>
            </a:pPr>
            <a:r>
              <a:rPr lang="en-US" sz="950" dirty="0">
                <a:solidFill>
                  <a:srgbClr val="CBD5E1"/>
                </a:solidFill>
              </a:rPr>
              <a:t>Kafka + PostgreSQL — deterministic, immutable</a:t>
            </a:r>
            <a:endParaRPr lang="en-US" sz="950" dirty="0"/>
          </a:p>
        </p:txBody>
      </p:sp>
      <p:sp>
        <p:nvSpPr>
          <p:cNvPr id="47" name="Shape 45"/>
          <p:cNvSpPr/>
          <p:nvPr/>
        </p:nvSpPr>
        <p:spPr>
          <a:xfrm>
            <a:off x="365760" y="4407408"/>
            <a:ext cx="8412480" cy="347472"/>
          </a:xfrm>
          <a:prstGeom prst="rect">
            <a:avLst>
              <a:gd name="adj" fmla="val 10526"/>
            </a:avLst>
          </a:prstGeom>
          <a:solidFill>
            <a:srgbClr val="2D2D44"/>
          </a:solidFill>
          <a:ln/>
        </p:spPr>
      </p:sp>
      <p:sp>
        <p:nvSpPr>
          <p:cNvPr id="48" name="Text 46"/>
          <p:cNvSpPr/>
          <p:nvPr/>
        </p:nvSpPr>
        <p:spPr>
          <a:xfrm>
            <a:off x="548640" y="4407408"/>
            <a:ext cx="1828800" cy="347472"/>
          </a:xfrm>
          <a:prstGeom prst="rect">
            <a:avLst/>
          </a:prstGeom>
          <a:noFill/>
          <a:ln/>
        </p:spPr>
        <p:txBody>
          <a:bodyPr wrap="square" rtlCol="0" anchor="ctr"/>
          <a:lstStyle/>
          <a:p>
            <a:pPr indent="0" marL="0">
              <a:buNone/>
            </a:pPr>
            <a:r>
              <a:rPr lang="en-US" sz="1000" b="1" dirty="0">
                <a:solidFill>
                  <a:srgbClr val="E2E8F0"/>
                </a:solidFill>
              </a:rPr>
              <a:t>Text to Speech</a:t>
            </a:r>
            <a:endParaRPr lang="en-US" sz="1000" dirty="0"/>
          </a:p>
        </p:txBody>
      </p:sp>
      <p:sp>
        <p:nvSpPr>
          <p:cNvPr id="49" name="Shape 47"/>
          <p:cNvSpPr/>
          <p:nvPr/>
        </p:nvSpPr>
        <p:spPr>
          <a:xfrm>
            <a:off x="2468880" y="4453128"/>
            <a:ext cx="731520" cy="256032"/>
          </a:xfrm>
          <a:prstGeom prst="rect">
            <a:avLst>
              <a:gd name="adj" fmla="val 10714"/>
            </a:avLst>
          </a:prstGeom>
          <a:solidFill>
            <a:srgbClr val="3B82F6"/>
          </a:solidFill>
          <a:ln/>
        </p:spPr>
      </p:sp>
      <p:sp>
        <p:nvSpPr>
          <p:cNvPr id="50" name="Text 48"/>
          <p:cNvSpPr/>
          <p:nvPr/>
        </p:nvSpPr>
        <p:spPr>
          <a:xfrm>
            <a:off x="2468880" y="4453128"/>
            <a:ext cx="731520" cy="256032"/>
          </a:xfrm>
          <a:prstGeom prst="rect">
            <a:avLst/>
          </a:prstGeom>
          <a:noFill/>
          <a:ln/>
        </p:spPr>
        <p:txBody>
          <a:bodyPr wrap="square" rtlCol="0" anchor="ctr"/>
          <a:lstStyle/>
          <a:p>
            <a:pPr algn="ctr" indent="0" marL="0">
              <a:buNone/>
            </a:pPr>
            <a:r>
              <a:rPr lang="en-US" sz="800" b="1" dirty="0">
                <a:solidFill>
                  <a:srgbClr val="FFFFFF"/>
                </a:solidFill>
              </a:rPr>
              <a:t>AI</a:t>
            </a:r>
            <a:endParaRPr lang="en-US" sz="800" dirty="0"/>
          </a:p>
        </p:txBody>
      </p:sp>
      <p:sp>
        <p:nvSpPr>
          <p:cNvPr id="51" name="Text 49"/>
          <p:cNvSpPr/>
          <p:nvPr/>
        </p:nvSpPr>
        <p:spPr>
          <a:xfrm>
            <a:off x="3383280" y="4407408"/>
            <a:ext cx="5212080" cy="347472"/>
          </a:xfrm>
          <a:prstGeom prst="rect">
            <a:avLst/>
          </a:prstGeom>
          <a:noFill/>
          <a:ln/>
        </p:spPr>
        <p:txBody>
          <a:bodyPr wrap="square" rtlCol="0" anchor="ctr"/>
          <a:lstStyle/>
          <a:p>
            <a:pPr indent="0" marL="0">
              <a:buNone/>
            </a:pPr>
            <a:r>
              <a:rPr lang="en-US" sz="950" dirty="0">
                <a:solidFill>
                  <a:srgbClr val="CBD5E1"/>
                </a:solidFill>
              </a:rPr>
              <a:t>Converts text response to natural voice</a:t>
            </a:r>
            <a:endParaRPr lang="en-US" sz="950" dirty="0"/>
          </a:p>
        </p:txBody>
      </p:sp>
      <p:sp>
        <p:nvSpPr>
          <p:cNvPr id="52" name="Text 50"/>
          <p:cNvSpPr/>
          <p:nvPr/>
        </p:nvSpPr>
        <p:spPr>
          <a:xfrm>
            <a:off x="457200" y="4709160"/>
            <a:ext cx="8229600" cy="274320"/>
          </a:xfrm>
          <a:prstGeom prst="rect">
            <a:avLst/>
          </a:prstGeom>
          <a:noFill/>
          <a:ln/>
        </p:spPr>
        <p:txBody>
          <a:bodyPr wrap="square" rtlCol="0" anchor="ctr"/>
          <a:lstStyle/>
          <a:p>
            <a:pPr indent="0" marL="0">
              <a:buNone/>
            </a:pPr>
            <a:r>
              <a:rPr lang="en-US" sz="1000" b="1" dirty="0">
                <a:solidFill>
                  <a:srgbClr val="94A3B8"/>
                </a:solidFill>
              </a:rPr>
              <a:t>Key insight: AI handles language understanding and generation. Security, policy, data access, and audit are deterministic — never AI-dependent.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9C1D26"/>
          </a:solidFill>
          <a:ln/>
        </p:spPr>
      </p:sp>
      <p:sp>
        <p:nvSpPr>
          <p:cNvPr id="3" name="Text 1"/>
          <p:cNvSpPr/>
          <p:nvPr/>
        </p:nvSpPr>
        <p:spPr>
          <a:xfrm>
            <a:off x="7132320" y="137160"/>
            <a:ext cx="1828800" cy="274320"/>
          </a:xfrm>
          <a:prstGeom prst="rect">
            <a:avLst/>
          </a:prstGeom>
          <a:noFill/>
          <a:ln/>
        </p:spPr>
        <p:txBody>
          <a:bodyPr wrap="square" rtlCol="0" anchor="ctr"/>
          <a:lstStyle/>
          <a:p>
            <a:pPr algn="r" indent="0" marL="0">
              <a:buNone/>
            </a:pPr>
            <a:r>
              <a:rPr lang="en-US" sz="900" b="1" dirty="0">
                <a:solidFill>
                  <a:srgbClr val="9C1D26"/>
                </a:solidFill>
              </a:rPr>
              <a:t>IDFC </a:t>
            </a:r>
            <a:pPr algn="r" indent="0" marL="0">
              <a:buNone/>
            </a:pPr>
            <a:r>
              <a:rPr lang="en-US" sz="900" b="1" dirty="0">
                <a:solidFill>
                  <a:srgbClr val="9C1D26"/>
                </a:solidFill>
              </a:rPr>
              <a:t>FIRST </a:t>
            </a:r>
            <a:pPr algn="r" indent="0" marL="0">
              <a:buNone/>
            </a:pPr>
            <a:r>
              <a:rPr lang="en-US" sz="900" dirty="0">
                <a:solidFill>
                  <a:srgbClr val="666666"/>
                </a:solidFill>
              </a:rPr>
              <a:t>Bank</a:t>
            </a:r>
            <a:endParaRPr lang="en-US" sz="900" dirty="0"/>
          </a:p>
        </p:txBody>
      </p:sp>
      <p:sp>
        <p:nvSpPr>
          <p:cNvPr id="4" name="Text 2"/>
          <p:cNvSpPr/>
          <p:nvPr/>
        </p:nvSpPr>
        <p:spPr>
          <a:xfrm>
            <a:off x="8503920" y="4754880"/>
            <a:ext cx="457200" cy="274320"/>
          </a:xfrm>
          <a:prstGeom prst="rect">
            <a:avLst/>
          </a:prstGeom>
          <a:noFill/>
          <a:ln/>
        </p:spPr>
        <p:txBody>
          <a:bodyPr wrap="square" rtlCol="0" anchor="ctr"/>
          <a:lstStyle/>
          <a:p>
            <a:pPr algn="r" indent="0" marL="0">
              <a:buNone/>
            </a:pPr>
            <a:r>
              <a:rPr lang="en-US" sz="800" dirty="0">
                <a:solidFill>
                  <a:srgbClr val="AAAAAA"/>
                </a:solidFill>
              </a:rPr>
              <a:t>8</a:t>
            </a:r>
            <a:endParaRPr lang="en-US" sz="800" dirty="0"/>
          </a:p>
        </p:txBody>
      </p:sp>
      <p:sp>
        <p:nvSpPr>
          <p:cNvPr id="5" name="Text 3"/>
          <p:cNvSpPr/>
          <p:nvPr/>
        </p:nvSpPr>
        <p:spPr>
          <a:xfrm>
            <a:off x="548640" y="365760"/>
            <a:ext cx="7315200" cy="457200"/>
          </a:xfrm>
          <a:prstGeom prst="rect">
            <a:avLst/>
          </a:prstGeom>
          <a:noFill/>
          <a:ln/>
        </p:spPr>
        <p:txBody>
          <a:bodyPr wrap="square" rtlCol="0" anchor="ctr"/>
          <a:lstStyle/>
          <a:p>
            <a:pPr indent="0" marL="0">
              <a:buNone/>
            </a:pPr>
            <a:r>
              <a:rPr lang="en-US" sz="2400" b="1" dirty="0">
                <a:solidFill>
                  <a:srgbClr val="1B1B2F"/>
                </a:solidFill>
              </a:rPr>
              <a:t>Live AI Flow: Hindi Loan Enquiry</a:t>
            </a:r>
            <a:endParaRPr lang="en-US" sz="2400" dirty="0"/>
          </a:p>
        </p:txBody>
      </p:sp>
      <p:sp>
        <p:nvSpPr>
          <p:cNvPr id="6" name="Shape 4"/>
          <p:cNvSpPr/>
          <p:nvPr/>
        </p:nvSpPr>
        <p:spPr>
          <a:xfrm>
            <a:off x="548640" y="777240"/>
            <a:ext cx="731520" cy="36576"/>
          </a:xfrm>
          <a:prstGeom prst="rect">
            <a:avLst/>
          </a:prstGeom>
          <a:solidFill>
            <a:srgbClr val="9C1D26"/>
          </a:solidFill>
          <a:ln/>
        </p:spPr>
      </p:sp>
      <p:sp>
        <p:nvSpPr>
          <p:cNvPr id="7" name="Shape 5"/>
          <p:cNvSpPr/>
          <p:nvPr/>
        </p:nvSpPr>
        <p:spPr>
          <a:xfrm>
            <a:off x="457200" y="960120"/>
            <a:ext cx="7680960" cy="347472"/>
          </a:xfrm>
          <a:prstGeom prst="rect">
            <a:avLst>
              <a:gd name="adj" fmla="val 10526"/>
            </a:avLst>
          </a:prstGeom>
          <a:solidFill>
            <a:srgbClr val="E6F1FB"/>
          </a:solidFill>
          <a:ln/>
        </p:spPr>
      </p:sp>
      <p:sp>
        <p:nvSpPr>
          <p:cNvPr id="8" name="Text 6"/>
          <p:cNvSpPr/>
          <p:nvPr/>
        </p:nvSpPr>
        <p:spPr>
          <a:xfrm>
            <a:off x="594360" y="960120"/>
            <a:ext cx="1371600" cy="347472"/>
          </a:xfrm>
          <a:prstGeom prst="rect">
            <a:avLst/>
          </a:prstGeom>
          <a:noFill/>
          <a:ln/>
        </p:spPr>
        <p:txBody>
          <a:bodyPr wrap="square" rtlCol="0" anchor="ctr"/>
          <a:lstStyle/>
          <a:p>
            <a:pPr indent="0" marL="0">
              <a:buNone/>
            </a:pPr>
            <a:r>
              <a:rPr lang="en-US" sz="1000" b="1" dirty="0">
                <a:solidFill>
                  <a:srgbClr val="185FA5"/>
                </a:solidFill>
              </a:rPr>
              <a:t>Customer:</a:t>
            </a:r>
            <a:endParaRPr lang="en-US" sz="1000" dirty="0"/>
          </a:p>
        </p:txBody>
      </p:sp>
      <p:sp>
        <p:nvSpPr>
          <p:cNvPr id="9" name="Text 7"/>
          <p:cNvSpPr/>
          <p:nvPr/>
        </p:nvSpPr>
        <p:spPr>
          <a:xfrm>
            <a:off x="2011680" y="960120"/>
            <a:ext cx="5029200" cy="347472"/>
          </a:xfrm>
          <a:prstGeom prst="rect">
            <a:avLst/>
          </a:prstGeom>
          <a:noFill/>
          <a:ln/>
        </p:spPr>
        <p:txBody>
          <a:bodyPr wrap="square" rtlCol="0" anchor="ctr"/>
          <a:lstStyle/>
          <a:p>
            <a:pPr indent="0" marL="0">
              <a:buNone/>
            </a:pPr>
            <a:r>
              <a:rPr lang="en-US" sz="950" dirty="0">
                <a:solidFill>
                  <a:srgbClr val="334155"/>
                </a:solidFill>
              </a:rPr>
              <a:t>"Mujhe 10 lakh ka loan chahiye, salary 1.2 lakh hai"</a:t>
            </a:r>
            <a:endParaRPr lang="en-US" sz="950" dirty="0"/>
          </a:p>
        </p:txBody>
      </p:sp>
      <p:sp>
        <p:nvSpPr>
          <p:cNvPr id="10" name="Shape 8"/>
          <p:cNvSpPr/>
          <p:nvPr/>
        </p:nvSpPr>
        <p:spPr>
          <a:xfrm>
            <a:off x="7223760" y="1014984"/>
            <a:ext cx="777240" cy="237744"/>
          </a:xfrm>
          <a:prstGeom prst="rect">
            <a:avLst>
              <a:gd name="adj" fmla="val 11538"/>
            </a:avLst>
          </a:prstGeom>
          <a:solidFill>
            <a:srgbClr val="3B82F6"/>
          </a:solidFill>
          <a:ln/>
        </p:spPr>
      </p:sp>
      <p:sp>
        <p:nvSpPr>
          <p:cNvPr id="11" name="Text 9"/>
          <p:cNvSpPr/>
          <p:nvPr/>
        </p:nvSpPr>
        <p:spPr>
          <a:xfrm>
            <a:off x="7223760" y="1014984"/>
            <a:ext cx="777240" cy="237744"/>
          </a:xfrm>
          <a:prstGeom prst="rect">
            <a:avLst/>
          </a:prstGeom>
          <a:noFill/>
          <a:ln/>
        </p:spPr>
        <p:txBody>
          <a:bodyPr wrap="square" rtlCol="0" anchor="ctr"/>
          <a:lstStyle/>
          <a:p>
            <a:pPr algn="ctr" indent="0" marL="0">
              <a:buNone/>
            </a:pPr>
            <a:r>
              <a:rPr lang="en-US" sz="800" b="1" dirty="0">
                <a:solidFill>
                  <a:srgbClr val="FFFFFF"/>
                </a:solidFill>
              </a:rPr>
              <a:t>AI</a:t>
            </a:r>
            <a:endParaRPr lang="en-US" sz="800" dirty="0"/>
          </a:p>
        </p:txBody>
      </p:sp>
      <p:sp>
        <p:nvSpPr>
          <p:cNvPr id="12" name="Text 10"/>
          <p:cNvSpPr/>
          <p:nvPr/>
        </p:nvSpPr>
        <p:spPr>
          <a:xfrm>
            <a:off x="4114800" y="1252728"/>
            <a:ext cx="365760" cy="164592"/>
          </a:xfrm>
          <a:prstGeom prst="rect">
            <a:avLst/>
          </a:prstGeom>
          <a:noFill/>
          <a:ln/>
        </p:spPr>
        <p:txBody>
          <a:bodyPr wrap="square" rtlCol="0" anchor="ctr"/>
          <a:lstStyle/>
          <a:p>
            <a:pPr algn="ctr" indent="0" marL="0">
              <a:buNone/>
            </a:pPr>
            <a:r>
              <a:rPr lang="en-US" sz="900" dirty="0">
                <a:solidFill>
                  <a:srgbClr val="94A3B8"/>
                </a:solidFill>
              </a:rPr>
              <a:t>↓</a:t>
            </a:r>
            <a:endParaRPr lang="en-US" sz="900" dirty="0"/>
          </a:p>
        </p:txBody>
      </p:sp>
      <p:sp>
        <p:nvSpPr>
          <p:cNvPr id="13" name="Shape 11"/>
          <p:cNvSpPr/>
          <p:nvPr/>
        </p:nvSpPr>
        <p:spPr>
          <a:xfrm>
            <a:off x="457200" y="1389888"/>
            <a:ext cx="7680960" cy="347472"/>
          </a:xfrm>
          <a:prstGeom prst="rect">
            <a:avLst>
              <a:gd name="adj" fmla="val 10526"/>
            </a:avLst>
          </a:prstGeom>
          <a:solidFill>
            <a:srgbClr val="E6F1FB"/>
          </a:solidFill>
          <a:ln/>
        </p:spPr>
      </p:sp>
      <p:sp>
        <p:nvSpPr>
          <p:cNvPr id="14" name="Text 12"/>
          <p:cNvSpPr/>
          <p:nvPr/>
        </p:nvSpPr>
        <p:spPr>
          <a:xfrm>
            <a:off x="594360" y="1389888"/>
            <a:ext cx="1371600" cy="347472"/>
          </a:xfrm>
          <a:prstGeom prst="rect">
            <a:avLst/>
          </a:prstGeom>
          <a:noFill/>
          <a:ln/>
        </p:spPr>
        <p:txBody>
          <a:bodyPr wrap="square" rtlCol="0" anchor="ctr"/>
          <a:lstStyle/>
          <a:p>
            <a:pPr indent="0" marL="0">
              <a:buNone/>
            </a:pPr>
            <a:r>
              <a:rPr lang="en-US" sz="1000" b="1" dirty="0">
                <a:solidFill>
                  <a:srgbClr val="185FA5"/>
                </a:solidFill>
              </a:rPr>
              <a:t>STT (AI):</a:t>
            </a:r>
            <a:endParaRPr lang="en-US" sz="1000" dirty="0"/>
          </a:p>
        </p:txBody>
      </p:sp>
      <p:sp>
        <p:nvSpPr>
          <p:cNvPr id="15" name="Text 13"/>
          <p:cNvSpPr/>
          <p:nvPr/>
        </p:nvSpPr>
        <p:spPr>
          <a:xfrm>
            <a:off x="2011680" y="1389888"/>
            <a:ext cx="5029200" cy="347472"/>
          </a:xfrm>
          <a:prstGeom prst="rect">
            <a:avLst/>
          </a:prstGeom>
          <a:noFill/>
          <a:ln/>
        </p:spPr>
        <p:txBody>
          <a:bodyPr wrap="square" rtlCol="0" anchor="ctr"/>
          <a:lstStyle/>
          <a:p>
            <a:pPr indent="0" marL="0">
              <a:buNone/>
            </a:pPr>
            <a:r>
              <a:rPr lang="en-US" sz="950" dirty="0">
                <a:solidFill>
                  <a:srgbClr val="334155"/>
                </a:solidFill>
              </a:rPr>
              <a:t>Converts Hindi speech → text</a:t>
            </a:r>
            <a:endParaRPr lang="en-US" sz="950" dirty="0"/>
          </a:p>
        </p:txBody>
      </p:sp>
      <p:sp>
        <p:nvSpPr>
          <p:cNvPr id="16" name="Shape 14"/>
          <p:cNvSpPr/>
          <p:nvPr/>
        </p:nvSpPr>
        <p:spPr>
          <a:xfrm>
            <a:off x="7223760" y="1444752"/>
            <a:ext cx="777240" cy="237744"/>
          </a:xfrm>
          <a:prstGeom prst="rect">
            <a:avLst>
              <a:gd name="adj" fmla="val 11538"/>
            </a:avLst>
          </a:prstGeom>
          <a:solidFill>
            <a:srgbClr val="3B82F6"/>
          </a:solidFill>
          <a:ln/>
        </p:spPr>
      </p:sp>
      <p:sp>
        <p:nvSpPr>
          <p:cNvPr id="17" name="Text 15"/>
          <p:cNvSpPr/>
          <p:nvPr/>
        </p:nvSpPr>
        <p:spPr>
          <a:xfrm>
            <a:off x="7223760" y="1444752"/>
            <a:ext cx="777240" cy="237744"/>
          </a:xfrm>
          <a:prstGeom prst="rect">
            <a:avLst/>
          </a:prstGeom>
          <a:noFill/>
          <a:ln/>
        </p:spPr>
        <p:txBody>
          <a:bodyPr wrap="square" rtlCol="0" anchor="ctr"/>
          <a:lstStyle/>
          <a:p>
            <a:pPr algn="ctr" indent="0" marL="0">
              <a:buNone/>
            </a:pPr>
            <a:r>
              <a:rPr lang="en-US" sz="800" b="1" dirty="0">
                <a:solidFill>
                  <a:srgbClr val="FFFFFF"/>
                </a:solidFill>
              </a:rPr>
              <a:t>AI</a:t>
            </a:r>
            <a:endParaRPr lang="en-US" sz="800" dirty="0"/>
          </a:p>
        </p:txBody>
      </p:sp>
      <p:sp>
        <p:nvSpPr>
          <p:cNvPr id="18" name="Text 16"/>
          <p:cNvSpPr/>
          <p:nvPr/>
        </p:nvSpPr>
        <p:spPr>
          <a:xfrm>
            <a:off x="4114800" y="1682496"/>
            <a:ext cx="365760" cy="164592"/>
          </a:xfrm>
          <a:prstGeom prst="rect">
            <a:avLst/>
          </a:prstGeom>
          <a:noFill/>
          <a:ln/>
        </p:spPr>
        <p:txBody>
          <a:bodyPr wrap="square" rtlCol="0" anchor="ctr"/>
          <a:lstStyle/>
          <a:p>
            <a:pPr algn="ctr" indent="0" marL="0">
              <a:buNone/>
            </a:pPr>
            <a:r>
              <a:rPr lang="en-US" sz="900" dirty="0">
                <a:solidFill>
                  <a:srgbClr val="94A3B8"/>
                </a:solidFill>
              </a:rPr>
              <a:t>↓</a:t>
            </a:r>
            <a:endParaRPr lang="en-US" sz="900" dirty="0"/>
          </a:p>
        </p:txBody>
      </p:sp>
      <p:sp>
        <p:nvSpPr>
          <p:cNvPr id="19" name="Shape 17"/>
          <p:cNvSpPr/>
          <p:nvPr/>
        </p:nvSpPr>
        <p:spPr>
          <a:xfrm>
            <a:off x="457200" y="1819656"/>
            <a:ext cx="7680960" cy="347472"/>
          </a:xfrm>
          <a:prstGeom prst="rect">
            <a:avLst>
              <a:gd name="adj" fmla="val 10526"/>
            </a:avLst>
          </a:prstGeom>
          <a:solidFill>
            <a:srgbClr val="EDE9FE"/>
          </a:solidFill>
          <a:ln/>
        </p:spPr>
      </p:sp>
      <p:sp>
        <p:nvSpPr>
          <p:cNvPr id="20" name="Text 18"/>
          <p:cNvSpPr/>
          <p:nvPr/>
        </p:nvSpPr>
        <p:spPr>
          <a:xfrm>
            <a:off x="594360" y="1819656"/>
            <a:ext cx="1371600" cy="347472"/>
          </a:xfrm>
          <a:prstGeom prst="rect">
            <a:avLst/>
          </a:prstGeom>
          <a:noFill/>
          <a:ln/>
        </p:spPr>
        <p:txBody>
          <a:bodyPr wrap="square" rtlCol="0" anchor="ctr"/>
          <a:lstStyle/>
          <a:p>
            <a:pPr indent="0" marL="0">
              <a:buNone/>
            </a:pPr>
            <a:r>
              <a:rPr lang="en-US" sz="1000" b="1" dirty="0">
                <a:solidFill>
                  <a:srgbClr val="6D28D9"/>
                </a:solidFill>
              </a:rPr>
              <a:t>LLM Intent:</a:t>
            </a:r>
            <a:endParaRPr lang="en-US" sz="1000" dirty="0"/>
          </a:p>
        </p:txBody>
      </p:sp>
      <p:sp>
        <p:nvSpPr>
          <p:cNvPr id="21" name="Text 19"/>
          <p:cNvSpPr/>
          <p:nvPr/>
        </p:nvSpPr>
        <p:spPr>
          <a:xfrm>
            <a:off x="2011680" y="1819656"/>
            <a:ext cx="5029200" cy="347472"/>
          </a:xfrm>
          <a:prstGeom prst="rect">
            <a:avLst/>
          </a:prstGeom>
          <a:noFill/>
          <a:ln/>
        </p:spPr>
        <p:txBody>
          <a:bodyPr wrap="square" rtlCol="0" anchor="ctr"/>
          <a:lstStyle/>
          <a:p>
            <a:pPr indent="0" marL="0">
              <a:buNone/>
            </a:pPr>
            <a:r>
              <a:rPr lang="en-US" sz="950" dirty="0">
                <a:solidFill>
                  <a:srgbClr val="334155"/>
                </a:solidFill>
              </a:rPr>
              <a:t>Detects: LOAN_ELIGIBILITY, amount=₹10L, income=₹1.2L, lang=Hindi</a:t>
            </a:r>
            <a:endParaRPr lang="en-US" sz="950" dirty="0"/>
          </a:p>
        </p:txBody>
      </p:sp>
      <p:sp>
        <p:nvSpPr>
          <p:cNvPr id="22" name="Shape 20"/>
          <p:cNvSpPr/>
          <p:nvPr/>
        </p:nvSpPr>
        <p:spPr>
          <a:xfrm>
            <a:off x="7223760" y="1874520"/>
            <a:ext cx="777240" cy="237744"/>
          </a:xfrm>
          <a:prstGeom prst="rect">
            <a:avLst>
              <a:gd name="adj" fmla="val 11538"/>
            </a:avLst>
          </a:prstGeom>
          <a:solidFill>
            <a:srgbClr val="3B82F6"/>
          </a:solidFill>
          <a:ln/>
        </p:spPr>
      </p:sp>
      <p:sp>
        <p:nvSpPr>
          <p:cNvPr id="23" name="Text 21"/>
          <p:cNvSpPr/>
          <p:nvPr/>
        </p:nvSpPr>
        <p:spPr>
          <a:xfrm>
            <a:off x="7223760" y="1874520"/>
            <a:ext cx="777240" cy="237744"/>
          </a:xfrm>
          <a:prstGeom prst="rect">
            <a:avLst/>
          </a:prstGeom>
          <a:noFill/>
          <a:ln/>
        </p:spPr>
        <p:txBody>
          <a:bodyPr wrap="square" rtlCol="0" anchor="ctr"/>
          <a:lstStyle/>
          <a:p>
            <a:pPr algn="ctr" indent="0" marL="0">
              <a:buNone/>
            </a:pPr>
            <a:r>
              <a:rPr lang="en-US" sz="800" b="1" dirty="0">
                <a:solidFill>
                  <a:srgbClr val="FFFFFF"/>
                </a:solidFill>
              </a:rPr>
              <a:t>AI</a:t>
            </a:r>
            <a:endParaRPr lang="en-US" sz="800" dirty="0"/>
          </a:p>
        </p:txBody>
      </p:sp>
      <p:sp>
        <p:nvSpPr>
          <p:cNvPr id="24" name="Text 22"/>
          <p:cNvSpPr/>
          <p:nvPr/>
        </p:nvSpPr>
        <p:spPr>
          <a:xfrm>
            <a:off x="4114800" y="2112264"/>
            <a:ext cx="365760" cy="164592"/>
          </a:xfrm>
          <a:prstGeom prst="rect">
            <a:avLst/>
          </a:prstGeom>
          <a:noFill/>
          <a:ln/>
        </p:spPr>
        <p:txBody>
          <a:bodyPr wrap="square" rtlCol="0" anchor="ctr"/>
          <a:lstStyle/>
          <a:p>
            <a:pPr algn="ctr" indent="0" marL="0">
              <a:buNone/>
            </a:pPr>
            <a:r>
              <a:rPr lang="en-US" sz="900" dirty="0">
                <a:solidFill>
                  <a:srgbClr val="94A3B8"/>
                </a:solidFill>
              </a:rPr>
              <a:t>↓</a:t>
            </a:r>
            <a:endParaRPr lang="en-US" sz="900" dirty="0"/>
          </a:p>
        </p:txBody>
      </p:sp>
      <p:sp>
        <p:nvSpPr>
          <p:cNvPr id="25" name="Shape 23"/>
          <p:cNvSpPr/>
          <p:nvPr/>
        </p:nvSpPr>
        <p:spPr>
          <a:xfrm>
            <a:off x="457200" y="2249424"/>
            <a:ext cx="7680960" cy="347472"/>
          </a:xfrm>
          <a:prstGeom prst="rect">
            <a:avLst>
              <a:gd name="adj" fmla="val 10526"/>
            </a:avLst>
          </a:prstGeom>
          <a:solidFill>
            <a:srgbClr val="FEF2F2"/>
          </a:solidFill>
          <a:ln/>
        </p:spPr>
      </p:sp>
      <p:sp>
        <p:nvSpPr>
          <p:cNvPr id="26" name="Text 24"/>
          <p:cNvSpPr/>
          <p:nvPr/>
        </p:nvSpPr>
        <p:spPr>
          <a:xfrm>
            <a:off x="594360" y="2249424"/>
            <a:ext cx="1371600" cy="347472"/>
          </a:xfrm>
          <a:prstGeom prst="rect">
            <a:avLst/>
          </a:prstGeom>
          <a:noFill/>
          <a:ln/>
        </p:spPr>
        <p:txBody>
          <a:bodyPr wrap="square" rtlCol="0" anchor="ctr"/>
          <a:lstStyle/>
          <a:p>
            <a:pPr indent="0" marL="0">
              <a:buNone/>
            </a:pPr>
            <a:r>
              <a:rPr lang="en-US" sz="1000" b="1" dirty="0">
                <a:solidFill>
                  <a:srgbClr val="9C1D26"/>
                </a:solidFill>
              </a:rPr>
              <a:t>Vault Policy:</a:t>
            </a:r>
            <a:endParaRPr lang="en-US" sz="1000" dirty="0"/>
          </a:p>
        </p:txBody>
      </p:sp>
      <p:sp>
        <p:nvSpPr>
          <p:cNvPr id="27" name="Text 25"/>
          <p:cNvSpPr/>
          <p:nvPr/>
        </p:nvSpPr>
        <p:spPr>
          <a:xfrm>
            <a:off x="2011680" y="2249424"/>
            <a:ext cx="5029200" cy="347472"/>
          </a:xfrm>
          <a:prstGeom prst="rect">
            <a:avLst/>
          </a:prstGeom>
          <a:noFill/>
          <a:ln/>
        </p:spPr>
        <p:txBody>
          <a:bodyPr wrap="square" rtlCol="0" anchor="ctr"/>
          <a:lstStyle/>
          <a:p>
            <a:pPr indent="0" marL="0">
              <a:buNone/>
            </a:pPr>
            <a:r>
              <a:rPr lang="en-US" sz="950" dirty="0">
                <a:solidFill>
                  <a:srgbClr val="334155"/>
                </a:solidFill>
              </a:rPr>
              <a:t>Checks: Can loans-agent call CIBIL? Amount &lt; ₹10L? → ALLOW</a:t>
            </a:r>
            <a:endParaRPr lang="en-US" sz="950" dirty="0"/>
          </a:p>
        </p:txBody>
      </p:sp>
      <p:sp>
        <p:nvSpPr>
          <p:cNvPr id="28" name="Shape 26"/>
          <p:cNvSpPr/>
          <p:nvPr/>
        </p:nvSpPr>
        <p:spPr>
          <a:xfrm>
            <a:off x="7223760" y="2304288"/>
            <a:ext cx="777240" cy="237744"/>
          </a:xfrm>
          <a:prstGeom prst="rect">
            <a:avLst>
              <a:gd name="adj" fmla="val 11538"/>
            </a:avLst>
          </a:prstGeom>
          <a:solidFill>
            <a:srgbClr val="9C1D26"/>
          </a:solidFill>
          <a:ln/>
        </p:spPr>
      </p:sp>
      <p:sp>
        <p:nvSpPr>
          <p:cNvPr id="29" name="Text 27"/>
          <p:cNvSpPr/>
          <p:nvPr/>
        </p:nvSpPr>
        <p:spPr>
          <a:xfrm>
            <a:off x="7223760" y="2304288"/>
            <a:ext cx="777240" cy="237744"/>
          </a:xfrm>
          <a:prstGeom prst="rect">
            <a:avLst/>
          </a:prstGeom>
          <a:noFill/>
          <a:ln/>
        </p:spPr>
        <p:txBody>
          <a:bodyPr wrap="square" rtlCol="0" anchor="ctr"/>
          <a:lstStyle/>
          <a:p>
            <a:pPr algn="ctr" indent="0" marL="0">
              <a:buNone/>
            </a:pPr>
            <a:r>
              <a:rPr lang="en-US" sz="800" b="1" dirty="0">
                <a:solidFill>
                  <a:srgbClr val="FFFFFF"/>
                </a:solidFill>
              </a:rPr>
              <a:t>RULE</a:t>
            </a:r>
            <a:endParaRPr lang="en-US" sz="800" dirty="0"/>
          </a:p>
        </p:txBody>
      </p:sp>
      <p:sp>
        <p:nvSpPr>
          <p:cNvPr id="30" name="Text 28"/>
          <p:cNvSpPr/>
          <p:nvPr/>
        </p:nvSpPr>
        <p:spPr>
          <a:xfrm>
            <a:off x="4114800" y="2542032"/>
            <a:ext cx="365760" cy="164592"/>
          </a:xfrm>
          <a:prstGeom prst="rect">
            <a:avLst/>
          </a:prstGeom>
          <a:noFill/>
          <a:ln/>
        </p:spPr>
        <p:txBody>
          <a:bodyPr wrap="square" rtlCol="0" anchor="ctr"/>
          <a:lstStyle/>
          <a:p>
            <a:pPr algn="ctr" indent="0" marL="0">
              <a:buNone/>
            </a:pPr>
            <a:r>
              <a:rPr lang="en-US" sz="900" dirty="0">
                <a:solidFill>
                  <a:srgbClr val="94A3B8"/>
                </a:solidFill>
              </a:rPr>
              <a:t>↓</a:t>
            </a:r>
            <a:endParaRPr lang="en-US" sz="900" dirty="0"/>
          </a:p>
        </p:txBody>
      </p:sp>
      <p:sp>
        <p:nvSpPr>
          <p:cNvPr id="31" name="Shape 29"/>
          <p:cNvSpPr/>
          <p:nvPr/>
        </p:nvSpPr>
        <p:spPr>
          <a:xfrm>
            <a:off x="457200" y="2679192"/>
            <a:ext cx="7680960" cy="347472"/>
          </a:xfrm>
          <a:prstGeom prst="rect">
            <a:avLst>
              <a:gd name="adj" fmla="val 10526"/>
            </a:avLst>
          </a:prstGeom>
          <a:solidFill>
            <a:srgbClr val="F5F3FF"/>
          </a:solidFill>
          <a:ln/>
        </p:spPr>
      </p:sp>
      <p:sp>
        <p:nvSpPr>
          <p:cNvPr id="32" name="Text 30"/>
          <p:cNvSpPr/>
          <p:nvPr/>
        </p:nvSpPr>
        <p:spPr>
          <a:xfrm>
            <a:off x="594360" y="2679192"/>
            <a:ext cx="1371600" cy="347472"/>
          </a:xfrm>
          <a:prstGeom prst="rect">
            <a:avLst/>
          </a:prstGeom>
          <a:noFill/>
          <a:ln/>
        </p:spPr>
        <p:txBody>
          <a:bodyPr wrap="square" rtlCol="0" anchor="ctr"/>
          <a:lstStyle/>
          <a:p>
            <a:pPr indent="0" marL="0">
              <a:buNone/>
            </a:pPr>
            <a:r>
              <a:rPr lang="en-US" sz="1000" b="1" dirty="0">
                <a:solidFill>
                  <a:srgbClr val="8B5CF6"/>
                </a:solidFill>
              </a:rPr>
              <a:t>LLM Tools:</a:t>
            </a:r>
            <a:endParaRPr lang="en-US" sz="1000" dirty="0"/>
          </a:p>
        </p:txBody>
      </p:sp>
      <p:sp>
        <p:nvSpPr>
          <p:cNvPr id="33" name="Text 31"/>
          <p:cNvSpPr/>
          <p:nvPr/>
        </p:nvSpPr>
        <p:spPr>
          <a:xfrm>
            <a:off x="2011680" y="2679192"/>
            <a:ext cx="5029200" cy="347472"/>
          </a:xfrm>
          <a:prstGeom prst="rect">
            <a:avLst/>
          </a:prstGeom>
          <a:noFill/>
          <a:ln/>
        </p:spPr>
        <p:txBody>
          <a:bodyPr wrap="square" rtlCol="0" anchor="ctr"/>
          <a:lstStyle/>
          <a:p>
            <a:pPr indent="0" marL="0">
              <a:buNone/>
            </a:pPr>
            <a:r>
              <a:rPr lang="en-US" sz="950" dirty="0">
                <a:solidFill>
                  <a:srgbClr val="334155"/>
                </a:solidFill>
              </a:rPr>
              <a:t>Selects 3 tools: getCreditScore + checkEligibility + calculateEMI</a:t>
            </a:r>
            <a:endParaRPr lang="en-US" sz="950" dirty="0"/>
          </a:p>
        </p:txBody>
      </p:sp>
      <p:sp>
        <p:nvSpPr>
          <p:cNvPr id="34" name="Shape 32"/>
          <p:cNvSpPr/>
          <p:nvPr/>
        </p:nvSpPr>
        <p:spPr>
          <a:xfrm>
            <a:off x="7223760" y="2734056"/>
            <a:ext cx="777240" cy="237744"/>
          </a:xfrm>
          <a:prstGeom prst="rect">
            <a:avLst>
              <a:gd name="adj" fmla="val 11538"/>
            </a:avLst>
          </a:prstGeom>
          <a:solidFill>
            <a:srgbClr val="3B82F6"/>
          </a:solidFill>
          <a:ln/>
        </p:spPr>
      </p:sp>
      <p:sp>
        <p:nvSpPr>
          <p:cNvPr id="35" name="Text 33"/>
          <p:cNvSpPr/>
          <p:nvPr/>
        </p:nvSpPr>
        <p:spPr>
          <a:xfrm>
            <a:off x="7223760" y="2734056"/>
            <a:ext cx="777240" cy="237744"/>
          </a:xfrm>
          <a:prstGeom prst="rect">
            <a:avLst/>
          </a:prstGeom>
          <a:noFill/>
          <a:ln/>
        </p:spPr>
        <p:txBody>
          <a:bodyPr wrap="square" rtlCol="0" anchor="ctr"/>
          <a:lstStyle/>
          <a:p>
            <a:pPr algn="ctr" indent="0" marL="0">
              <a:buNone/>
            </a:pPr>
            <a:r>
              <a:rPr lang="en-US" sz="800" b="1" dirty="0">
                <a:solidFill>
                  <a:srgbClr val="FFFFFF"/>
                </a:solidFill>
              </a:rPr>
              <a:t>AI</a:t>
            </a:r>
            <a:endParaRPr lang="en-US" sz="800" dirty="0"/>
          </a:p>
        </p:txBody>
      </p:sp>
      <p:sp>
        <p:nvSpPr>
          <p:cNvPr id="36" name="Text 34"/>
          <p:cNvSpPr/>
          <p:nvPr/>
        </p:nvSpPr>
        <p:spPr>
          <a:xfrm>
            <a:off x="4114800" y="2971800"/>
            <a:ext cx="365760" cy="164592"/>
          </a:xfrm>
          <a:prstGeom prst="rect">
            <a:avLst/>
          </a:prstGeom>
          <a:noFill/>
          <a:ln/>
        </p:spPr>
        <p:txBody>
          <a:bodyPr wrap="square" rtlCol="0" anchor="ctr"/>
          <a:lstStyle/>
          <a:p>
            <a:pPr algn="ctr" indent="0" marL="0">
              <a:buNone/>
            </a:pPr>
            <a:r>
              <a:rPr lang="en-US" sz="900" dirty="0">
                <a:solidFill>
                  <a:srgbClr val="94A3B8"/>
                </a:solidFill>
              </a:rPr>
              <a:t>↓</a:t>
            </a:r>
            <a:endParaRPr lang="en-US" sz="900" dirty="0"/>
          </a:p>
        </p:txBody>
      </p:sp>
      <p:sp>
        <p:nvSpPr>
          <p:cNvPr id="37" name="Shape 35"/>
          <p:cNvSpPr/>
          <p:nvPr/>
        </p:nvSpPr>
        <p:spPr>
          <a:xfrm>
            <a:off x="457200" y="3108960"/>
            <a:ext cx="7680960" cy="347472"/>
          </a:xfrm>
          <a:prstGeom prst="rect">
            <a:avLst>
              <a:gd name="adj" fmla="val 10526"/>
            </a:avLst>
          </a:prstGeom>
          <a:solidFill>
            <a:srgbClr val="ECFDF5"/>
          </a:solidFill>
          <a:ln/>
        </p:spPr>
      </p:sp>
      <p:sp>
        <p:nvSpPr>
          <p:cNvPr id="38" name="Text 36"/>
          <p:cNvSpPr/>
          <p:nvPr/>
        </p:nvSpPr>
        <p:spPr>
          <a:xfrm>
            <a:off x="594360" y="3108960"/>
            <a:ext cx="1371600" cy="347472"/>
          </a:xfrm>
          <a:prstGeom prst="rect">
            <a:avLst/>
          </a:prstGeom>
          <a:noFill/>
          <a:ln/>
        </p:spPr>
        <p:txBody>
          <a:bodyPr wrap="square" rtlCol="0" anchor="ctr"/>
          <a:lstStyle/>
          <a:p>
            <a:pPr indent="0" marL="0">
              <a:buNone/>
            </a:pPr>
            <a:r>
              <a:rPr lang="en-US" sz="1000" b="1" dirty="0">
                <a:solidFill>
                  <a:srgbClr val="0F6E56"/>
                </a:solidFill>
              </a:rPr>
              <a:t>MCP Servers:</a:t>
            </a:r>
            <a:endParaRPr lang="en-US" sz="1000" dirty="0"/>
          </a:p>
        </p:txBody>
      </p:sp>
      <p:sp>
        <p:nvSpPr>
          <p:cNvPr id="39" name="Text 37"/>
          <p:cNvSpPr/>
          <p:nvPr/>
        </p:nvSpPr>
        <p:spPr>
          <a:xfrm>
            <a:off x="2011680" y="3108960"/>
            <a:ext cx="5029200" cy="347472"/>
          </a:xfrm>
          <a:prstGeom prst="rect">
            <a:avLst/>
          </a:prstGeom>
          <a:noFill/>
          <a:ln/>
        </p:spPr>
        <p:txBody>
          <a:bodyPr wrap="square" rtlCol="0" anchor="ctr"/>
          <a:lstStyle/>
          <a:p>
            <a:pPr indent="0" marL="0">
              <a:buNone/>
            </a:pPr>
            <a:r>
              <a:rPr lang="en-US" sz="950" dirty="0">
                <a:solidFill>
                  <a:srgbClr val="334155"/>
                </a:solidFill>
              </a:rPr>
              <a:t>CIBIL → 742 | Eligible → true, 11.5% | EMI → ₹32,862</a:t>
            </a:r>
            <a:endParaRPr lang="en-US" sz="950" dirty="0"/>
          </a:p>
        </p:txBody>
      </p:sp>
      <p:sp>
        <p:nvSpPr>
          <p:cNvPr id="40" name="Shape 38"/>
          <p:cNvSpPr/>
          <p:nvPr/>
        </p:nvSpPr>
        <p:spPr>
          <a:xfrm>
            <a:off x="7223760" y="3163824"/>
            <a:ext cx="777240" cy="237744"/>
          </a:xfrm>
          <a:prstGeom prst="rect">
            <a:avLst>
              <a:gd name="adj" fmla="val 11538"/>
            </a:avLst>
          </a:prstGeom>
          <a:solidFill>
            <a:srgbClr val="0F6E56"/>
          </a:solidFill>
          <a:ln/>
        </p:spPr>
      </p:sp>
      <p:sp>
        <p:nvSpPr>
          <p:cNvPr id="41" name="Text 39"/>
          <p:cNvSpPr/>
          <p:nvPr/>
        </p:nvSpPr>
        <p:spPr>
          <a:xfrm>
            <a:off x="7223760" y="3163824"/>
            <a:ext cx="777240" cy="237744"/>
          </a:xfrm>
          <a:prstGeom prst="rect">
            <a:avLst/>
          </a:prstGeom>
          <a:noFill/>
          <a:ln/>
        </p:spPr>
        <p:txBody>
          <a:bodyPr wrap="square" rtlCol="0" anchor="ctr"/>
          <a:lstStyle/>
          <a:p>
            <a:pPr algn="ctr" indent="0" marL="0">
              <a:buNone/>
            </a:pPr>
            <a:r>
              <a:rPr lang="en-US" sz="800" b="1" dirty="0">
                <a:solidFill>
                  <a:srgbClr val="FFFFFF"/>
                </a:solidFill>
              </a:rPr>
              <a:t>DATA</a:t>
            </a:r>
            <a:endParaRPr lang="en-US" sz="800" dirty="0"/>
          </a:p>
        </p:txBody>
      </p:sp>
      <p:sp>
        <p:nvSpPr>
          <p:cNvPr id="42" name="Text 40"/>
          <p:cNvSpPr/>
          <p:nvPr/>
        </p:nvSpPr>
        <p:spPr>
          <a:xfrm>
            <a:off x="4114800" y="3401568"/>
            <a:ext cx="365760" cy="164592"/>
          </a:xfrm>
          <a:prstGeom prst="rect">
            <a:avLst/>
          </a:prstGeom>
          <a:noFill/>
          <a:ln/>
        </p:spPr>
        <p:txBody>
          <a:bodyPr wrap="square" rtlCol="0" anchor="ctr"/>
          <a:lstStyle/>
          <a:p>
            <a:pPr algn="ctr" indent="0" marL="0">
              <a:buNone/>
            </a:pPr>
            <a:r>
              <a:rPr lang="en-US" sz="900" dirty="0">
                <a:solidFill>
                  <a:srgbClr val="94A3B8"/>
                </a:solidFill>
              </a:rPr>
              <a:t>↓</a:t>
            </a:r>
            <a:endParaRPr lang="en-US" sz="900" dirty="0"/>
          </a:p>
        </p:txBody>
      </p:sp>
      <p:sp>
        <p:nvSpPr>
          <p:cNvPr id="43" name="Shape 41"/>
          <p:cNvSpPr/>
          <p:nvPr/>
        </p:nvSpPr>
        <p:spPr>
          <a:xfrm>
            <a:off x="457200" y="3538728"/>
            <a:ext cx="7680960" cy="347472"/>
          </a:xfrm>
          <a:prstGeom prst="rect">
            <a:avLst>
              <a:gd name="adj" fmla="val 10526"/>
            </a:avLst>
          </a:prstGeom>
          <a:solidFill>
            <a:srgbClr val="FEF2F2"/>
          </a:solidFill>
          <a:ln/>
        </p:spPr>
      </p:sp>
      <p:sp>
        <p:nvSpPr>
          <p:cNvPr id="44" name="Text 42"/>
          <p:cNvSpPr/>
          <p:nvPr/>
        </p:nvSpPr>
        <p:spPr>
          <a:xfrm>
            <a:off x="594360" y="3538728"/>
            <a:ext cx="1371600" cy="347472"/>
          </a:xfrm>
          <a:prstGeom prst="rect">
            <a:avLst/>
          </a:prstGeom>
          <a:noFill/>
          <a:ln/>
        </p:spPr>
        <p:txBody>
          <a:bodyPr wrap="square" rtlCol="0" anchor="ctr"/>
          <a:lstStyle/>
          <a:p>
            <a:pPr indent="0" marL="0">
              <a:buNone/>
            </a:pPr>
            <a:r>
              <a:rPr lang="en-US" sz="1000" b="1" dirty="0">
                <a:solidFill>
                  <a:srgbClr val="9C1D26"/>
                </a:solidFill>
              </a:rPr>
              <a:t>Vault Audit:</a:t>
            </a:r>
            <a:endParaRPr lang="en-US" sz="1000" dirty="0"/>
          </a:p>
        </p:txBody>
      </p:sp>
      <p:sp>
        <p:nvSpPr>
          <p:cNvPr id="45" name="Text 43"/>
          <p:cNvSpPr/>
          <p:nvPr/>
        </p:nvSpPr>
        <p:spPr>
          <a:xfrm>
            <a:off x="2011680" y="3538728"/>
            <a:ext cx="5029200" cy="347472"/>
          </a:xfrm>
          <a:prstGeom prst="rect">
            <a:avLst/>
          </a:prstGeom>
          <a:noFill/>
          <a:ln/>
        </p:spPr>
        <p:txBody>
          <a:bodyPr wrap="square" rtlCol="0" anchor="ctr"/>
          <a:lstStyle/>
          <a:p>
            <a:pPr indent="0" marL="0">
              <a:buNone/>
            </a:pPr>
            <a:r>
              <a:rPr lang="en-US" sz="950" dirty="0">
                <a:solidFill>
                  <a:srgbClr val="334155"/>
                </a:solidFill>
              </a:rPr>
              <a:t>Logs: who asked, what was checked, what data accessed, what responded</a:t>
            </a:r>
            <a:endParaRPr lang="en-US" sz="950" dirty="0"/>
          </a:p>
        </p:txBody>
      </p:sp>
      <p:sp>
        <p:nvSpPr>
          <p:cNvPr id="46" name="Shape 44"/>
          <p:cNvSpPr/>
          <p:nvPr/>
        </p:nvSpPr>
        <p:spPr>
          <a:xfrm>
            <a:off x="7223760" y="3593592"/>
            <a:ext cx="777240" cy="237744"/>
          </a:xfrm>
          <a:prstGeom prst="rect">
            <a:avLst>
              <a:gd name="adj" fmla="val 11538"/>
            </a:avLst>
          </a:prstGeom>
          <a:solidFill>
            <a:srgbClr val="9C1D26"/>
          </a:solidFill>
          <a:ln/>
        </p:spPr>
      </p:sp>
      <p:sp>
        <p:nvSpPr>
          <p:cNvPr id="47" name="Text 45"/>
          <p:cNvSpPr/>
          <p:nvPr/>
        </p:nvSpPr>
        <p:spPr>
          <a:xfrm>
            <a:off x="7223760" y="3593592"/>
            <a:ext cx="777240" cy="237744"/>
          </a:xfrm>
          <a:prstGeom prst="rect">
            <a:avLst/>
          </a:prstGeom>
          <a:noFill/>
          <a:ln/>
        </p:spPr>
        <p:txBody>
          <a:bodyPr wrap="square" rtlCol="0" anchor="ctr"/>
          <a:lstStyle/>
          <a:p>
            <a:pPr algn="ctr" indent="0" marL="0">
              <a:buNone/>
            </a:pPr>
            <a:r>
              <a:rPr lang="en-US" sz="800" b="1" dirty="0">
                <a:solidFill>
                  <a:srgbClr val="FFFFFF"/>
                </a:solidFill>
              </a:rPr>
              <a:t>RULE</a:t>
            </a:r>
            <a:endParaRPr lang="en-US" sz="800" dirty="0"/>
          </a:p>
        </p:txBody>
      </p:sp>
      <p:sp>
        <p:nvSpPr>
          <p:cNvPr id="48" name="Text 46"/>
          <p:cNvSpPr/>
          <p:nvPr/>
        </p:nvSpPr>
        <p:spPr>
          <a:xfrm>
            <a:off x="4114800" y="3831336"/>
            <a:ext cx="365760" cy="164592"/>
          </a:xfrm>
          <a:prstGeom prst="rect">
            <a:avLst/>
          </a:prstGeom>
          <a:noFill/>
          <a:ln/>
        </p:spPr>
        <p:txBody>
          <a:bodyPr wrap="square" rtlCol="0" anchor="ctr"/>
          <a:lstStyle/>
          <a:p>
            <a:pPr algn="ctr" indent="0" marL="0">
              <a:buNone/>
            </a:pPr>
            <a:r>
              <a:rPr lang="en-US" sz="900" dirty="0">
                <a:solidFill>
                  <a:srgbClr val="94A3B8"/>
                </a:solidFill>
              </a:rPr>
              <a:t>↓</a:t>
            </a:r>
            <a:endParaRPr lang="en-US" sz="900" dirty="0"/>
          </a:p>
        </p:txBody>
      </p:sp>
      <p:sp>
        <p:nvSpPr>
          <p:cNvPr id="49" name="Shape 47"/>
          <p:cNvSpPr/>
          <p:nvPr/>
        </p:nvSpPr>
        <p:spPr>
          <a:xfrm>
            <a:off x="457200" y="3968496"/>
            <a:ext cx="7680960" cy="347472"/>
          </a:xfrm>
          <a:prstGeom prst="rect">
            <a:avLst>
              <a:gd name="adj" fmla="val 10526"/>
            </a:avLst>
          </a:prstGeom>
          <a:solidFill>
            <a:srgbClr val="FFF7ED"/>
          </a:solidFill>
          <a:ln/>
        </p:spPr>
      </p:sp>
      <p:sp>
        <p:nvSpPr>
          <p:cNvPr id="50" name="Text 48"/>
          <p:cNvSpPr/>
          <p:nvPr/>
        </p:nvSpPr>
        <p:spPr>
          <a:xfrm>
            <a:off x="594360" y="3968496"/>
            <a:ext cx="1371600" cy="347472"/>
          </a:xfrm>
          <a:prstGeom prst="rect">
            <a:avLst/>
          </a:prstGeom>
          <a:noFill/>
          <a:ln/>
        </p:spPr>
        <p:txBody>
          <a:bodyPr wrap="square" rtlCol="0" anchor="ctr"/>
          <a:lstStyle/>
          <a:p>
            <a:pPr indent="0" marL="0">
              <a:buNone/>
            </a:pPr>
            <a:r>
              <a:rPr lang="en-US" sz="1000" b="1" dirty="0">
                <a:solidFill>
                  <a:srgbClr val="D97706"/>
                </a:solidFill>
              </a:rPr>
              <a:t>LLM Response:</a:t>
            </a:r>
            <a:endParaRPr lang="en-US" sz="1000" dirty="0"/>
          </a:p>
        </p:txBody>
      </p:sp>
      <p:sp>
        <p:nvSpPr>
          <p:cNvPr id="51" name="Text 49"/>
          <p:cNvSpPr/>
          <p:nvPr/>
        </p:nvSpPr>
        <p:spPr>
          <a:xfrm>
            <a:off x="2011680" y="3968496"/>
            <a:ext cx="5029200" cy="347472"/>
          </a:xfrm>
          <a:prstGeom prst="rect">
            <a:avLst/>
          </a:prstGeom>
          <a:noFill/>
          <a:ln/>
        </p:spPr>
        <p:txBody>
          <a:bodyPr wrap="square" rtlCol="0" anchor="ctr"/>
          <a:lstStyle/>
          <a:p>
            <a:pPr indent="0" marL="0">
              <a:buNone/>
            </a:pPr>
            <a:r>
              <a:rPr lang="en-US" sz="950" dirty="0">
                <a:solidFill>
                  <a:srgbClr val="334155"/>
                </a:solidFill>
              </a:rPr>
              <a:t>"Aapka CIBIL 742 hai. ₹10L eligible. EMI ₹32,862/month."</a:t>
            </a:r>
            <a:endParaRPr lang="en-US" sz="950" dirty="0"/>
          </a:p>
        </p:txBody>
      </p:sp>
      <p:sp>
        <p:nvSpPr>
          <p:cNvPr id="52" name="Shape 50"/>
          <p:cNvSpPr/>
          <p:nvPr/>
        </p:nvSpPr>
        <p:spPr>
          <a:xfrm>
            <a:off x="7223760" y="4023360"/>
            <a:ext cx="777240" cy="237744"/>
          </a:xfrm>
          <a:prstGeom prst="rect">
            <a:avLst>
              <a:gd name="adj" fmla="val 11538"/>
            </a:avLst>
          </a:prstGeom>
          <a:solidFill>
            <a:srgbClr val="3B82F6"/>
          </a:solidFill>
          <a:ln/>
        </p:spPr>
      </p:sp>
      <p:sp>
        <p:nvSpPr>
          <p:cNvPr id="53" name="Text 51"/>
          <p:cNvSpPr/>
          <p:nvPr/>
        </p:nvSpPr>
        <p:spPr>
          <a:xfrm>
            <a:off x="7223760" y="4023360"/>
            <a:ext cx="777240" cy="237744"/>
          </a:xfrm>
          <a:prstGeom prst="rect">
            <a:avLst/>
          </a:prstGeom>
          <a:noFill/>
          <a:ln/>
        </p:spPr>
        <p:txBody>
          <a:bodyPr wrap="square" rtlCol="0" anchor="ctr"/>
          <a:lstStyle/>
          <a:p>
            <a:pPr algn="ctr" indent="0" marL="0">
              <a:buNone/>
            </a:pPr>
            <a:r>
              <a:rPr lang="en-US" sz="800" b="1" dirty="0">
                <a:solidFill>
                  <a:srgbClr val="FFFFFF"/>
                </a:solidFill>
              </a:rPr>
              <a:t>AI</a:t>
            </a:r>
            <a:endParaRPr lang="en-US" sz="800" dirty="0"/>
          </a:p>
        </p:txBody>
      </p:sp>
      <p:sp>
        <p:nvSpPr>
          <p:cNvPr id="54" name="Text 52"/>
          <p:cNvSpPr/>
          <p:nvPr/>
        </p:nvSpPr>
        <p:spPr>
          <a:xfrm>
            <a:off x="4114800" y="4261104"/>
            <a:ext cx="365760" cy="164592"/>
          </a:xfrm>
          <a:prstGeom prst="rect">
            <a:avLst/>
          </a:prstGeom>
          <a:noFill/>
          <a:ln/>
        </p:spPr>
        <p:txBody>
          <a:bodyPr wrap="square" rtlCol="0" anchor="ctr"/>
          <a:lstStyle/>
          <a:p>
            <a:pPr algn="ctr" indent="0" marL="0">
              <a:buNone/>
            </a:pPr>
            <a:r>
              <a:rPr lang="en-US" sz="900" dirty="0">
                <a:solidFill>
                  <a:srgbClr val="94A3B8"/>
                </a:solidFill>
              </a:rPr>
              <a:t>↓</a:t>
            </a:r>
            <a:endParaRPr lang="en-US" sz="900" dirty="0"/>
          </a:p>
        </p:txBody>
      </p:sp>
      <p:sp>
        <p:nvSpPr>
          <p:cNvPr id="55" name="Shape 53"/>
          <p:cNvSpPr/>
          <p:nvPr/>
        </p:nvSpPr>
        <p:spPr>
          <a:xfrm>
            <a:off x="457200" y="4398264"/>
            <a:ext cx="7680960" cy="347472"/>
          </a:xfrm>
          <a:prstGeom prst="rect">
            <a:avLst>
              <a:gd name="adj" fmla="val 10526"/>
            </a:avLst>
          </a:prstGeom>
          <a:solidFill>
            <a:srgbClr val="E6F1FB"/>
          </a:solidFill>
          <a:ln/>
        </p:spPr>
      </p:sp>
      <p:sp>
        <p:nvSpPr>
          <p:cNvPr id="56" name="Text 54"/>
          <p:cNvSpPr/>
          <p:nvPr/>
        </p:nvSpPr>
        <p:spPr>
          <a:xfrm>
            <a:off x="594360" y="4398264"/>
            <a:ext cx="1371600" cy="347472"/>
          </a:xfrm>
          <a:prstGeom prst="rect">
            <a:avLst/>
          </a:prstGeom>
          <a:noFill/>
          <a:ln/>
        </p:spPr>
        <p:txBody>
          <a:bodyPr wrap="square" rtlCol="0" anchor="ctr"/>
          <a:lstStyle/>
          <a:p>
            <a:pPr indent="0" marL="0">
              <a:buNone/>
            </a:pPr>
            <a:r>
              <a:rPr lang="en-US" sz="1000" b="1" dirty="0">
                <a:solidFill>
                  <a:srgbClr val="185FA5"/>
                </a:solidFill>
              </a:rPr>
              <a:t>TTS (AI):</a:t>
            </a:r>
            <a:endParaRPr lang="en-US" sz="1000" dirty="0"/>
          </a:p>
        </p:txBody>
      </p:sp>
      <p:sp>
        <p:nvSpPr>
          <p:cNvPr id="57" name="Text 55"/>
          <p:cNvSpPr/>
          <p:nvPr/>
        </p:nvSpPr>
        <p:spPr>
          <a:xfrm>
            <a:off x="2011680" y="4398264"/>
            <a:ext cx="5029200" cy="347472"/>
          </a:xfrm>
          <a:prstGeom prst="rect">
            <a:avLst/>
          </a:prstGeom>
          <a:noFill/>
          <a:ln/>
        </p:spPr>
        <p:txBody>
          <a:bodyPr wrap="square" rtlCol="0" anchor="ctr"/>
          <a:lstStyle/>
          <a:p>
            <a:pPr indent="0" marL="0">
              <a:buNone/>
            </a:pPr>
            <a:r>
              <a:rPr lang="en-US" sz="950" dirty="0">
                <a:solidFill>
                  <a:srgbClr val="334155"/>
                </a:solidFill>
              </a:rPr>
              <a:t>Speaks natural Hindi response to customer</a:t>
            </a:r>
            <a:endParaRPr lang="en-US" sz="950" dirty="0"/>
          </a:p>
        </p:txBody>
      </p:sp>
      <p:sp>
        <p:nvSpPr>
          <p:cNvPr id="58" name="Shape 56"/>
          <p:cNvSpPr/>
          <p:nvPr/>
        </p:nvSpPr>
        <p:spPr>
          <a:xfrm>
            <a:off x="7223760" y="4453128"/>
            <a:ext cx="777240" cy="237744"/>
          </a:xfrm>
          <a:prstGeom prst="rect">
            <a:avLst>
              <a:gd name="adj" fmla="val 11538"/>
            </a:avLst>
          </a:prstGeom>
          <a:solidFill>
            <a:srgbClr val="3B82F6"/>
          </a:solidFill>
          <a:ln/>
        </p:spPr>
      </p:sp>
      <p:sp>
        <p:nvSpPr>
          <p:cNvPr id="59" name="Text 57"/>
          <p:cNvSpPr/>
          <p:nvPr/>
        </p:nvSpPr>
        <p:spPr>
          <a:xfrm>
            <a:off x="7223760" y="4453128"/>
            <a:ext cx="777240" cy="237744"/>
          </a:xfrm>
          <a:prstGeom prst="rect">
            <a:avLst/>
          </a:prstGeom>
          <a:noFill/>
          <a:ln/>
        </p:spPr>
        <p:txBody>
          <a:bodyPr wrap="square" rtlCol="0" anchor="ctr"/>
          <a:lstStyle/>
          <a:p>
            <a:pPr algn="ctr" indent="0" marL="0">
              <a:buNone/>
            </a:pPr>
            <a:r>
              <a:rPr lang="en-US" sz="800" b="1" dirty="0">
                <a:solidFill>
                  <a:srgbClr val="FFFFFF"/>
                </a:solidFill>
              </a:rPr>
              <a:t>AI</a:t>
            </a:r>
            <a:endParaRPr lang="en-US" sz="800" dirty="0"/>
          </a:p>
        </p:txBody>
      </p:sp>
      <p:sp>
        <p:nvSpPr>
          <p:cNvPr id="60" name="Text 58"/>
          <p:cNvSpPr/>
          <p:nvPr/>
        </p:nvSpPr>
        <p:spPr>
          <a:xfrm>
            <a:off x="457200" y="4754880"/>
            <a:ext cx="8229600" cy="274320"/>
          </a:xfrm>
          <a:prstGeom prst="rect">
            <a:avLst/>
          </a:prstGeom>
          <a:noFill/>
          <a:ln/>
        </p:spPr>
        <p:txBody>
          <a:bodyPr wrap="square" rtlCol="0" anchor="ctr"/>
          <a:lstStyle/>
          <a:p>
            <a:pPr indent="0" marL="0">
              <a:buNone/>
            </a:pPr>
            <a:r>
              <a:rPr lang="en-US" sz="1000" b="1" dirty="0">
                <a:solidFill>
                  <a:srgbClr val="64748B"/>
                </a:solidFill>
              </a:rPr>
              <a:t>Blue = AI processes | Red = Vault governance | Green = Bank data. AI never touches governance or data directly.</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B2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9C1D26"/>
          </a:solidFill>
          <a:ln/>
        </p:spPr>
      </p:sp>
      <p:sp>
        <p:nvSpPr>
          <p:cNvPr id="3" name="Text 1"/>
          <p:cNvSpPr/>
          <p:nvPr/>
        </p:nvSpPr>
        <p:spPr>
          <a:xfrm>
            <a:off x="7132320" y="137160"/>
            <a:ext cx="1828800" cy="274320"/>
          </a:xfrm>
          <a:prstGeom prst="rect">
            <a:avLst/>
          </a:prstGeom>
          <a:noFill/>
          <a:ln/>
        </p:spPr>
        <p:txBody>
          <a:bodyPr wrap="square" rtlCol="0" anchor="ctr"/>
          <a:lstStyle/>
          <a:p>
            <a:pPr algn="r" indent="0" marL="0">
              <a:buNone/>
            </a:pPr>
            <a:r>
              <a:rPr lang="en-US" sz="900" b="1" dirty="0">
                <a:solidFill>
                  <a:srgbClr val="9C1D26"/>
                </a:solidFill>
              </a:rPr>
              <a:t>IDFC </a:t>
            </a:r>
            <a:pPr algn="r" indent="0" marL="0">
              <a:buNone/>
            </a:pPr>
            <a:r>
              <a:rPr lang="en-US" sz="900" b="1" dirty="0">
                <a:solidFill>
                  <a:srgbClr val="9C1D26"/>
                </a:solidFill>
              </a:rPr>
              <a:t>FIRST </a:t>
            </a:r>
            <a:pPr algn="r" indent="0" marL="0">
              <a:buNone/>
            </a:pPr>
            <a:r>
              <a:rPr lang="en-US" sz="900" dirty="0">
                <a:solidFill>
                  <a:srgbClr val="888888"/>
                </a:solidFill>
              </a:rPr>
              <a:t>Bank</a:t>
            </a:r>
            <a:endParaRPr lang="en-US" sz="900" dirty="0"/>
          </a:p>
        </p:txBody>
      </p:sp>
      <p:sp>
        <p:nvSpPr>
          <p:cNvPr id="4" name="Text 2"/>
          <p:cNvSpPr/>
          <p:nvPr/>
        </p:nvSpPr>
        <p:spPr>
          <a:xfrm>
            <a:off x="8503920" y="4754880"/>
            <a:ext cx="457200" cy="274320"/>
          </a:xfrm>
          <a:prstGeom prst="rect">
            <a:avLst/>
          </a:prstGeom>
          <a:noFill/>
          <a:ln/>
        </p:spPr>
        <p:txBody>
          <a:bodyPr wrap="square" rtlCol="0" anchor="ctr"/>
          <a:lstStyle/>
          <a:p>
            <a:pPr algn="r" indent="0" marL="0">
              <a:buNone/>
            </a:pPr>
            <a:r>
              <a:rPr lang="en-US" sz="800" dirty="0">
                <a:solidFill>
                  <a:srgbClr val="555555"/>
                </a:solidFill>
              </a:rPr>
              <a:t>9</a:t>
            </a:r>
            <a:endParaRPr lang="en-US" sz="800" dirty="0"/>
          </a:p>
        </p:txBody>
      </p:sp>
      <p:sp>
        <p:nvSpPr>
          <p:cNvPr id="5" name="Text 3"/>
          <p:cNvSpPr/>
          <p:nvPr/>
        </p:nvSpPr>
        <p:spPr>
          <a:xfrm>
            <a:off x="548640" y="365760"/>
            <a:ext cx="7315200" cy="457200"/>
          </a:xfrm>
          <a:prstGeom prst="rect">
            <a:avLst/>
          </a:prstGeom>
          <a:noFill/>
          <a:ln/>
        </p:spPr>
        <p:txBody>
          <a:bodyPr wrap="square" rtlCol="0" anchor="ctr"/>
          <a:lstStyle/>
          <a:p>
            <a:pPr indent="0" marL="0">
              <a:buNone/>
            </a:pPr>
            <a:r>
              <a:rPr lang="en-US" sz="2400" b="1" dirty="0">
                <a:solidFill>
                  <a:srgbClr val="FFFFFF"/>
                </a:solidFill>
              </a:rPr>
              <a:t>Feasibility: Built on Our Existing Stack</a:t>
            </a:r>
            <a:endParaRPr lang="en-US" sz="2400" dirty="0"/>
          </a:p>
        </p:txBody>
      </p:sp>
      <p:sp>
        <p:nvSpPr>
          <p:cNvPr id="6" name="Shape 4"/>
          <p:cNvSpPr/>
          <p:nvPr/>
        </p:nvSpPr>
        <p:spPr>
          <a:xfrm>
            <a:off x="548640" y="804672"/>
            <a:ext cx="731520" cy="36576"/>
          </a:xfrm>
          <a:prstGeom prst="rect">
            <a:avLst/>
          </a:prstGeom>
          <a:solidFill>
            <a:srgbClr val="9C1D26"/>
          </a:solidFill>
          <a:ln/>
        </p:spPr>
      </p:sp>
      <p:sp>
        <p:nvSpPr>
          <p:cNvPr id="7" name="Shape 5"/>
          <p:cNvSpPr/>
          <p:nvPr/>
        </p:nvSpPr>
        <p:spPr>
          <a:xfrm>
            <a:off x="365760" y="1005840"/>
            <a:ext cx="4023360" cy="749808"/>
          </a:xfrm>
          <a:prstGeom prst="rect">
            <a:avLst>
              <a:gd name="adj" fmla="val 7317"/>
            </a:avLst>
          </a:prstGeom>
          <a:solidFill>
            <a:srgbClr val="2D2D44"/>
          </a:solidFill>
          <a:ln/>
        </p:spPr>
      </p:sp>
      <p:sp>
        <p:nvSpPr>
          <p:cNvPr id="8" name="Shape 6"/>
          <p:cNvSpPr/>
          <p:nvPr/>
        </p:nvSpPr>
        <p:spPr>
          <a:xfrm>
            <a:off x="365760" y="1005840"/>
            <a:ext cx="54864" cy="749808"/>
          </a:xfrm>
          <a:prstGeom prst="rect">
            <a:avLst/>
          </a:prstGeom>
          <a:solidFill>
            <a:srgbClr val="10B981"/>
          </a:solidFill>
          <a:ln/>
        </p:spPr>
      </p:sp>
      <p:sp>
        <p:nvSpPr>
          <p:cNvPr id="9" name="Text 7"/>
          <p:cNvSpPr/>
          <p:nvPr/>
        </p:nvSpPr>
        <p:spPr>
          <a:xfrm>
            <a:off x="502920" y="1005840"/>
            <a:ext cx="3749040" cy="274320"/>
          </a:xfrm>
          <a:prstGeom prst="rect">
            <a:avLst/>
          </a:prstGeom>
          <a:noFill/>
          <a:ln/>
        </p:spPr>
        <p:txBody>
          <a:bodyPr wrap="square" rtlCol="0" anchor="ctr"/>
          <a:lstStyle/>
          <a:p>
            <a:pPr indent="0" marL="0">
              <a:buNone/>
            </a:pPr>
            <a:r>
              <a:rPr lang="en-US" sz="1100" b="1" dirty="0">
                <a:solidFill>
                  <a:srgbClr val="10B981"/>
                </a:solidFill>
              </a:rPr>
              <a:t>Java 21 + Spring Boot 3.3</a:t>
            </a:r>
            <a:endParaRPr lang="en-US" sz="1100" dirty="0"/>
          </a:p>
        </p:txBody>
      </p:sp>
      <p:sp>
        <p:nvSpPr>
          <p:cNvPr id="10" name="Text 8"/>
          <p:cNvSpPr/>
          <p:nvPr/>
        </p:nvSpPr>
        <p:spPr>
          <a:xfrm>
            <a:off x="502920" y="1280160"/>
            <a:ext cx="3749040" cy="438912"/>
          </a:xfrm>
          <a:prstGeom prst="rect">
            <a:avLst/>
          </a:prstGeom>
          <a:noFill/>
          <a:ln/>
        </p:spPr>
        <p:txBody>
          <a:bodyPr wrap="square" rtlCol="0" anchor="t"/>
          <a:lstStyle/>
          <a:p>
            <a:pPr indent="0" marL="0">
              <a:buNone/>
            </a:pPr>
            <a:r>
              <a:rPr lang="en-US" sz="900" dirty="0">
                <a:solidFill>
                  <a:srgbClr val="CBD5E1"/>
                </a:solidFill>
              </a:rPr>
              <a:t>Same language and framework our team already uses. No Python, no new language. Any Spring developer can build agents and MCP servers.</a:t>
            </a:r>
            <a:endParaRPr lang="en-US" sz="900" dirty="0"/>
          </a:p>
        </p:txBody>
      </p:sp>
      <p:sp>
        <p:nvSpPr>
          <p:cNvPr id="11" name="Shape 9"/>
          <p:cNvSpPr/>
          <p:nvPr/>
        </p:nvSpPr>
        <p:spPr>
          <a:xfrm>
            <a:off x="4572000" y="1005840"/>
            <a:ext cx="4023360" cy="749808"/>
          </a:xfrm>
          <a:prstGeom prst="rect">
            <a:avLst>
              <a:gd name="adj" fmla="val 7317"/>
            </a:avLst>
          </a:prstGeom>
          <a:solidFill>
            <a:srgbClr val="2D2D44"/>
          </a:solidFill>
          <a:ln/>
        </p:spPr>
      </p:sp>
      <p:sp>
        <p:nvSpPr>
          <p:cNvPr id="12" name="Shape 10"/>
          <p:cNvSpPr/>
          <p:nvPr/>
        </p:nvSpPr>
        <p:spPr>
          <a:xfrm>
            <a:off x="4572000" y="1005840"/>
            <a:ext cx="54864" cy="749808"/>
          </a:xfrm>
          <a:prstGeom prst="rect">
            <a:avLst/>
          </a:prstGeom>
          <a:solidFill>
            <a:srgbClr val="3B82F6"/>
          </a:solidFill>
          <a:ln/>
        </p:spPr>
      </p:sp>
      <p:sp>
        <p:nvSpPr>
          <p:cNvPr id="13" name="Text 11"/>
          <p:cNvSpPr/>
          <p:nvPr/>
        </p:nvSpPr>
        <p:spPr>
          <a:xfrm>
            <a:off x="4709160" y="1005840"/>
            <a:ext cx="3749040" cy="274320"/>
          </a:xfrm>
          <a:prstGeom prst="rect">
            <a:avLst/>
          </a:prstGeom>
          <a:noFill/>
          <a:ln/>
        </p:spPr>
        <p:txBody>
          <a:bodyPr wrap="square" rtlCol="0" anchor="ctr"/>
          <a:lstStyle/>
          <a:p>
            <a:pPr indent="0" marL="0">
              <a:buNone/>
            </a:pPr>
            <a:r>
              <a:rPr lang="en-US" sz="1100" b="1" dirty="0">
                <a:solidFill>
                  <a:srgbClr val="3B82F6"/>
                </a:solidFill>
              </a:rPr>
              <a:t>Spring AI 1.0</a:t>
            </a:r>
            <a:endParaRPr lang="en-US" sz="1100" dirty="0"/>
          </a:p>
        </p:txBody>
      </p:sp>
      <p:sp>
        <p:nvSpPr>
          <p:cNvPr id="14" name="Text 12"/>
          <p:cNvSpPr/>
          <p:nvPr/>
        </p:nvSpPr>
        <p:spPr>
          <a:xfrm>
            <a:off x="4709160" y="1280160"/>
            <a:ext cx="3749040" cy="438912"/>
          </a:xfrm>
          <a:prstGeom prst="rect">
            <a:avLst/>
          </a:prstGeom>
          <a:noFill/>
          <a:ln/>
        </p:spPr>
        <p:txBody>
          <a:bodyPr wrap="square" rtlCol="0" anchor="t"/>
          <a:lstStyle/>
          <a:p>
            <a:pPr indent="0" marL="0">
              <a:buNone/>
            </a:pPr>
            <a:r>
              <a:rPr lang="en-US" sz="900" dirty="0">
                <a:solidFill>
                  <a:srgbClr val="CBD5E1"/>
                </a:solidFill>
              </a:rPr>
              <a:t>Official Spring project for LLM integration. ChatClient, function calling, MCP SDK — all within Spring ecosystem. Production-ready, backed by VMware/Broadcom.</a:t>
            </a:r>
            <a:endParaRPr lang="en-US" sz="900" dirty="0"/>
          </a:p>
        </p:txBody>
      </p:sp>
      <p:sp>
        <p:nvSpPr>
          <p:cNvPr id="15" name="Shape 13"/>
          <p:cNvSpPr/>
          <p:nvPr/>
        </p:nvSpPr>
        <p:spPr>
          <a:xfrm>
            <a:off x="365760" y="1920240"/>
            <a:ext cx="4023360" cy="749808"/>
          </a:xfrm>
          <a:prstGeom prst="rect">
            <a:avLst>
              <a:gd name="adj" fmla="val 7317"/>
            </a:avLst>
          </a:prstGeom>
          <a:solidFill>
            <a:srgbClr val="2D2D44"/>
          </a:solidFill>
          <a:ln/>
        </p:spPr>
      </p:sp>
      <p:sp>
        <p:nvSpPr>
          <p:cNvPr id="16" name="Shape 14"/>
          <p:cNvSpPr/>
          <p:nvPr/>
        </p:nvSpPr>
        <p:spPr>
          <a:xfrm>
            <a:off x="365760" y="1920240"/>
            <a:ext cx="54864" cy="749808"/>
          </a:xfrm>
          <a:prstGeom prst="rect">
            <a:avLst/>
          </a:prstGeom>
          <a:solidFill>
            <a:srgbClr val="8B5CF6"/>
          </a:solidFill>
          <a:ln/>
        </p:spPr>
      </p:sp>
      <p:sp>
        <p:nvSpPr>
          <p:cNvPr id="17" name="Text 15"/>
          <p:cNvSpPr/>
          <p:nvPr/>
        </p:nvSpPr>
        <p:spPr>
          <a:xfrm>
            <a:off x="502920" y="1920240"/>
            <a:ext cx="3749040" cy="274320"/>
          </a:xfrm>
          <a:prstGeom prst="rect">
            <a:avLst/>
          </a:prstGeom>
          <a:noFill/>
          <a:ln/>
        </p:spPr>
        <p:txBody>
          <a:bodyPr wrap="square" rtlCol="0" anchor="ctr"/>
          <a:lstStyle/>
          <a:p>
            <a:pPr indent="0" marL="0">
              <a:buNone/>
            </a:pPr>
            <a:r>
              <a:rPr lang="en-US" sz="1100" b="1" dirty="0">
                <a:solidFill>
                  <a:srgbClr val="8B5CF6"/>
                </a:solidFill>
              </a:rPr>
              <a:t>OPA Rego for policies</a:t>
            </a:r>
            <a:endParaRPr lang="en-US" sz="1100" dirty="0"/>
          </a:p>
        </p:txBody>
      </p:sp>
      <p:sp>
        <p:nvSpPr>
          <p:cNvPr id="18" name="Text 16"/>
          <p:cNvSpPr/>
          <p:nvPr/>
        </p:nvSpPr>
        <p:spPr>
          <a:xfrm>
            <a:off x="502920" y="2194560"/>
            <a:ext cx="3749040" cy="438912"/>
          </a:xfrm>
          <a:prstGeom prst="rect">
            <a:avLst/>
          </a:prstGeom>
          <a:noFill/>
          <a:ln/>
        </p:spPr>
        <p:txBody>
          <a:bodyPr wrap="square" rtlCol="0" anchor="t"/>
          <a:lstStyle/>
          <a:p>
            <a:pPr indent="0" marL="0">
              <a:buNone/>
            </a:pPr>
            <a:r>
              <a:rPr lang="en-US" sz="900" dirty="0">
                <a:solidFill>
                  <a:srgbClr val="CBD5E1"/>
                </a:solidFill>
              </a:rPr>
              <a:t>Open Policy Agent — CNCF graduated project used by Goldman Sachs, Netflix, Atlassian. Policy-as-code that compliance team can review in Git.</a:t>
            </a:r>
            <a:endParaRPr lang="en-US" sz="900" dirty="0"/>
          </a:p>
        </p:txBody>
      </p:sp>
      <p:sp>
        <p:nvSpPr>
          <p:cNvPr id="19" name="Shape 17"/>
          <p:cNvSpPr/>
          <p:nvPr/>
        </p:nvSpPr>
        <p:spPr>
          <a:xfrm>
            <a:off x="4572000" y="1920240"/>
            <a:ext cx="4023360" cy="749808"/>
          </a:xfrm>
          <a:prstGeom prst="rect">
            <a:avLst>
              <a:gd name="adj" fmla="val 7317"/>
            </a:avLst>
          </a:prstGeom>
          <a:solidFill>
            <a:srgbClr val="2D2D44"/>
          </a:solidFill>
          <a:ln/>
        </p:spPr>
      </p:sp>
      <p:sp>
        <p:nvSpPr>
          <p:cNvPr id="20" name="Shape 18"/>
          <p:cNvSpPr/>
          <p:nvPr/>
        </p:nvSpPr>
        <p:spPr>
          <a:xfrm>
            <a:off x="4572000" y="1920240"/>
            <a:ext cx="54864" cy="749808"/>
          </a:xfrm>
          <a:prstGeom prst="rect">
            <a:avLst/>
          </a:prstGeom>
          <a:solidFill>
            <a:srgbClr val="10B981"/>
          </a:solidFill>
          <a:ln/>
        </p:spPr>
      </p:sp>
      <p:sp>
        <p:nvSpPr>
          <p:cNvPr id="21" name="Text 19"/>
          <p:cNvSpPr/>
          <p:nvPr/>
        </p:nvSpPr>
        <p:spPr>
          <a:xfrm>
            <a:off x="4709160" y="1920240"/>
            <a:ext cx="3749040" cy="274320"/>
          </a:xfrm>
          <a:prstGeom prst="rect">
            <a:avLst/>
          </a:prstGeom>
          <a:noFill/>
          <a:ln/>
        </p:spPr>
        <p:txBody>
          <a:bodyPr wrap="square" rtlCol="0" anchor="ctr"/>
          <a:lstStyle/>
          <a:p>
            <a:pPr indent="0" marL="0">
              <a:buNone/>
            </a:pPr>
            <a:r>
              <a:rPr lang="en-US" sz="1100" b="1" dirty="0">
                <a:solidFill>
                  <a:srgbClr val="10B981"/>
                </a:solidFill>
              </a:rPr>
              <a:t>PostgreSQL + Redis + Kafka</a:t>
            </a:r>
            <a:endParaRPr lang="en-US" sz="1100" dirty="0"/>
          </a:p>
        </p:txBody>
      </p:sp>
      <p:sp>
        <p:nvSpPr>
          <p:cNvPr id="22" name="Text 20"/>
          <p:cNvSpPr/>
          <p:nvPr/>
        </p:nvSpPr>
        <p:spPr>
          <a:xfrm>
            <a:off x="4709160" y="2194560"/>
            <a:ext cx="3749040" cy="438912"/>
          </a:xfrm>
          <a:prstGeom prst="rect">
            <a:avLst/>
          </a:prstGeom>
          <a:noFill/>
          <a:ln/>
        </p:spPr>
        <p:txBody>
          <a:bodyPr wrap="square" rtlCol="0" anchor="t"/>
          <a:lstStyle/>
          <a:p>
            <a:pPr indent="0" marL="0">
              <a:buNone/>
            </a:pPr>
            <a:r>
              <a:rPr lang="en-US" sz="900" dirty="0">
                <a:solidFill>
                  <a:srgbClr val="CBD5E1"/>
                </a:solidFill>
              </a:rPr>
              <a:t>Already in our infrastructure. Audit in PostgreSQL, sessions in Redis, events in Kafka. No new database technology.</a:t>
            </a:r>
            <a:endParaRPr lang="en-US" sz="900" dirty="0"/>
          </a:p>
        </p:txBody>
      </p:sp>
      <p:sp>
        <p:nvSpPr>
          <p:cNvPr id="23" name="Shape 21"/>
          <p:cNvSpPr/>
          <p:nvPr/>
        </p:nvSpPr>
        <p:spPr>
          <a:xfrm>
            <a:off x="365760" y="2834640"/>
            <a:ext cx="4023360" cy="749808"/>
          </a:xfrm>
          <a:prstGeom prst="rect">
            <a:avLst>
              <a:gd name="adj" fmla="val 7317"/>
            </a:avLst>
          </a:prstGeom>
          <a:solidFill>
            <a:srgbClr val="2D2D44"/>
          </a:solidFill>
          <a:ln/>
        </p:spPr>
      </p:sp>
      <p:sp>
        <p:nvSpPr>
          <p:cNvPr id="24" name="Shape 22"/>
          <p:cNvSpPr/>
          <p:nvPr/>
        </p:nvSpPr>
        <p:spPr>
          <a:xfrm>
            <a:off x="365760" y="2834640"/>
            <a:ext cx="54864" cy="749808"/>
          </a:xfrm>
          <a:prstGeom prst="rect">
            <a:avLst/>
          </a:prstGeom>
          <a:solidFill>
            <a:srgbClr val="F59E0B"/>
          </a:solidFill>
          <a:ln/>
        </p:spPr>
      </p:sp>
      <p:sp>
        <p:nvSpPr>
          <p:cNvPr id="25" name="Text 23"/>
          <p:cNvSpPr/>
          <p:nvPr/>
        </p:nvSpPr>
        <p:spPr>
          <a:xfrm>
            <a:off x="502920" y="2834640"/>
            <a:ext cx="3749040" cy="274320"/>
          </a:xfrm>
          <a:prstGeom prst="rect">
            <a:avLst/>
          </a:prstGeom>
          <a:noFill/>
          <a:ln/>
        </p:spPr>
        <p:txBody>
          <a:bodyPr wrap="square" rtlCol="0" anchor="ctr"/>
          <a:lstStyle/>
          <a:p>
            <a:pPr indent="0" marL="0">
              <a:buNone/>
            </a:pPr>
            <a:r>
              <a:rPr lang="en-US" sz="1100" b="1" dirty="0">
                <a:solidFill>
                  <a:srgbClr val="F59E0B"/>
                </a:solidFill>
              </a:rPr>
              <a:t>Kubernetes (EKS)</a:t>
            </a:r>
            <a:endParaRPr lang="en-US" sz="1100" dirty="0"/>
          </a:p>
        </p:txBody>
      </p:sp>
      <p:sp>
        <p:nvSpPr>
          <p:cNvPr id="26" name="Text 24"/>
          <p:cNvSpPr/>
          <p:nvPr/>
        </p:nvSpPr>
        <p:spPr>
          <a:xfrm>
            <a:off x="502920" y="3108960"/>
            <a:ext cx="3749040" cy="438912"/>
          </a:xfrm>
          <a:prstGeom prst="rect">
            <a:avLst/>
          </a:prstGeom>
          <a:noFill/>
          <a:ln/>
        </p:spPr>
        <p:txBody>
          <a:bodyPr wrap="square" rtlCol="0" anchor="t"/>
          <a:lstStyle/>
          <a:p>
            <a:pPr indent="0" marL="0">
              <a:buNone/>
            </a:pPr>
            <a:r>
              <a:rPr lang="en-US" sz="900" dirty="0">
                <a:solidFill>
                  <a:srgbClr val="CBD5E1"/>
                </a:solidFill>
              </a:rPr>
              <a:t>Already our deployment platform. Each agent is a standard Spring Boot pod. HPA scales automatically. PCI-DSS namespace isolation for card services.</a:t>
            </a:r>
            <a:endParaRPr lang="en-US" sz="900" dirty="0"/>
          </a:p>
        </p:txBody>
      </p:sp>
      <p:sp>
        <p:nvSpPr>
          <p:cNvPr id="27" name="Shape 25"/>
          <p:cNvSpPr/>
          <p:nvPr/>
        </p:nvSpPr>
        <p:spPr>
          <a:xfrm>
            <a:off x="4572000" y="2834640"/>
            <a:ext cx="4023360" cy="749808"/>
          </a:xfrm>
          <a:prstGeom prst="rect">
            <a:avLst>
              <a:gd name="adj" fmla="val 7317"/>
            </a:avLst>
          </a:prstGeom>
          <a:solidFill>
            <a:srgbClr val="2D2D44"/>
          </a:solidFill>
          <a:ln/>
        </p:spPr>
      </p:sp>
      <p:sp>
        <p:nvSpPr>
          <p:cNvPr id="28" name="Shape 26"/>
          <p:cNvSpPr/>
          <p:nvPr/>
        </p:nvSpPr>
        <p:spPr>
          <a:xfrm>
            <a:off x="4572000" y="2834640"/>
            <a:ext cx="54864" cy="749808"/>
          </a:xfrm>
          <a:prstGeom prst="rect">
            <a:avLst/>
          </a:prstGeom>
          <a:solidFill>
            <a:srgbClr val="10B981"/>
          </a:solidFill>
          <a:ln/>
        </p:spPr>
      </p:sp>
      <p:sp>
        <p:nvSpPr>
          <p:cNvPr id="29" name="Text 27"/>
          <p:cNvSpPr/>
          <p:nvPr/>
        </p:nvSpPr>
        <p:spPr>
          <a:xfrm>
            <a:off x="4709160" y="2834640"/>
            <a:ext cx="3749040" cy="274320"/>
          </a:xfrm>
          <a:prstGeom prst="rect">
            <a:avLst/>
          </a:prstGeom>
          <a:noFill/>
          <a:ln/>
        </p:spPr>
        <p:txBody>
          <a:bodyPr wrap="square" rtlCol="0" anchor="ctr"/>
          <a:lstStyle/>
          <a:p>
            <a:pPr indent="0" marL="0">
              <a:buNone/>
            </a:pPr>
            <a:r>
              <a:rPr lang="en-US" sz="1100" b="1" dirty="0">
                <a:solidFill>
                  <a:srgbClr val="10B981"/>
                </a:solidFill>
              </a:rPr>
              <a:t>Ollama for local AI</a:t>
            </a:r>
            <a:endParaRPr lang="en-US" sz="1100" dirty="0"/>
          </a:p>
        </p:txBody>
      </p:sp>
      <p:sp>
        <p:nvSpPr>
          <p:cNvPr id="30" name="Text 28"/>
          <p:cNvSpPr/>
          <p:nvPr/>
        </p:nvSpPr>
        <p:spPr>
          <a:xfrm>
            <a:off x="4709160" y="3108960"/>
            <a:ext cx="3749040" cy="438912"/>
          </a:xfrm>
          <a:prstGeom prst="rect">
            <a:avLst/>
          </a:prstGeom>
          <a:noFill/>
          <a:ln/>
        </p:spPr>
        <p:txBody>
          <a:bodyPr wrap="square" rtlCol="0" anchor="t"/>
          <a:lstStyle/>
          <a:p>
            <a:pPr indent="0" marL="0">
              <a:buNone/>
            </a:pPr>
            <a:r>
              <a:rPr lang="en-US" sz="900" dirty="0">
                <a:solidFill>
                  <a:srgbClr val="CBD5E1"/>
                </a:solidFill>
              </a:rPr>
              <a:t>Run Llama 3.1 on our own servers. Zero data leaves our infrastructure. No dependency on OpenAI/Anthropic for core operations. Cloud LLMs available as option.</a:t>
            </a:r>
            <a:endParaRPr lang="en-US" sz="900" dirty="0"/>
          </a:p>
        </p:txBody>
      </p:sp>
      <p:sp>
        <p:nvSpPr>
          <p:cNvPr id="31" name="Shape 29"/>
          <p:cNvSpPr/>
          <p:nvPr/>
        </p:nvSpPr>
        <p:spPr>
          <a:xfrm>
            <a:off x="365760" y="3749040"/>
            <a:ext cx="4023360" cy="749808"/>
          </a:xfrm>
          <a:prstGeom prst="rect">
            <a:avLst>
              <a:gd name="adj" fmla="val 7317"/>
            </a:avLst>
          </a:prstGeom>
          <a:solidFill>
            <a:srgbClr val="2D2D44"/>
          </a:solidFill>
          <a:ln/>
        </p:spPr>
      </p:sp>
      <p:sp>
        <p:nvSpPr>
          <p:cNvPr id="32" name="Shape 30"/>
          <p:cNvSpPr/>
          <p:nvPr/>
        </p:nvSpPr>
        <p:spPr>
          <a:xfrm>
            <a:off x="365760" y="3749040"/>
            <a:ext cx="54864" cy="749808"/>
          </a:xfrm>
          <a:prstGeom prst="rect">
            <a:avLst/>
          </a:prstGeom>
          <a:solidFill>
            <a:srgbClr val="3B82F6"/>
          </a:solidFill>
          <a:ln/>
        </p:spPr>
      </p:sp>
      <p:sp>
        <p:nvSpPr>
          <p:cNvPr id="33" name="Text 31"/>
          <p:cNvSpPr/>
          <p:nvPr/>
        </p:nvSpPr>
        <p:spPr>
          <a:xfrm>
            <a:off x="502920" y="3749040"/>
            <a:ext cx="3749040" cy="274320"/>
          </a:xfrm>
          <a:prstGeom prst="rect">
            <a:avLst/>
          </a:prstGeom>
          <a:noFill/>
          <a:ln/>
        </p:spPr>
        <p:txBody>
          <a:bodyPr wrap="square" rtlCol="0" anchor="ctr"/>
          <a:lstStyle/>
          <a:p>
            <a:pPr indent="0" marL="0">
              <a:buNone/>
            </a:pPr>
            <a:r>
              <a:rPr lang="en-US" sz="1100" b="1" dirty="0">
                <a:solidFill>
                  <a:srgbClr val="3B82F6"/>
                </a:solidFill>
              </a:rPr>
              <a:t>Multi-LLM failover</a:t>
            </a:r>
            <a:endParaRPr lang="en-US" sz="1100" dirty="0"/>
          </a:p>
        </p:txBody>
      </p:sp>
      <p:sp>
        <p:nvSpPr>
          <p:cNvPr id="34" name="Text 32"/>
          <p:cNvSpPr/>
          <p:nvPr/>
        </p:nvSpPr>
        <p:spPr>
          <a:xfrm>
            <a:off x="502920" y="4023360"/>
            <a:ext cx="3749040" cy="438912"/>
          </a:xfrm>
          <a:prstGeom prst="rect">
            <a:avLst/>
          </a:prstGeom>
          <a:noFill/>
          <a:ln/>
        </p:spPr>
        <p:txBody>
          <a:bodyPr wrap="square" rtlCol="0" anchor="t"/>
          <a:lstStyle/>
          <a:p>
            <a:pPr indent="0" marL="0">
              <a:buNone/>
            </a:pPr>
            <a:r>
              <a:rPr lang="en-US" sz="900" dirty="0">
                <a:solidFill>
                  <a:srgbClr val="CBD5E1"/>
                </a:solidFill>
              </a:rPr>
              <a:t>5 providers configured: Claude, GPT-4, Ollama, Azure, Mistral. If one is down, automatic failover to next. No single vendor dependency.</a:t>
            </a:r>
            <a:endParaRPr lang="en-US" sz="900" dirty="0"/>
          </a:p>
        </p:txBody>
      </p:sp>
      <p:sp>
        <p:nvSpPr>
          <p:cNvPr id="35" name="Shape 33"/>
          <p:cNvSpPr/>
          <p:nvPr/>
        </p:nvSpPr>
        <p:spPr>
          <a:xfrm>
            <a:off x="4572000" y="3749040"/>
            <a:ext cx="4023360" cy="749808"/>
          </a:xfrm>
          <a:prstGeom prst="rect">
            <a:avLst>
              <a:gd name="adj" fmla="val 7317"/>
            </a:avLst>
          </a:prstGeom>
          <a:solidFill>
            <a:srgbClr val="2D2D44"/>
          </a:solidFill>
          <a:ln/>
        </p:spPr>
      </p:sp>
      <p:sp>
        <p:nvSpPr>
          <p:cNvPr id="36" name="Shape 34"/>
          <p:cNvSpPr/>
          <p:nvPr/>
        </p:nvSpPr>
        <p:spPr>
          <a:xfrm>
            <a:off x="4572000" y="3749040"/>
            <a:ext cx="54864" cy="749808"/>
          </a:xfrm>
          <a:prstGeom prst="rect">
            <a:avLst/>
          </a:prstGeom>
          <a:solidFill>
            <a:srgbClr val="10B981"/>
          </a:solidFill>
          <a:ln/>
        </p:spPr>
      </p:sp>
      <p:sp>
        <p:nvSpPr>
          <p:cNvPr id="37" name="Text 35"/>
          <p:cNvSpPr/>
          <p:nvPr/>
        </p:nvSpPr>
        <p:spPr>
          <a:xfrm>
            <a:off x="4709160" y="3749040"/>
            <a:ext cx="3749040" cy="274320"/>
          </a:xfrm>
          <a:prstGeom prst="rect">
            <a:avLst/>
          </a:prstGeom>
          <a:noFill/>
          <a:ln/>
        </p:spPr>
        <p:txBody>
          <a:bodyPr wrap="square" rtlCol="0" anchor="ctr"/>
          <a:lstStyle/>
          <a:p>
            <a:pPr indent="0" marL="0">
              <a:buNone/>
            </a:pPr>
            <a:r>
              <a:rPr lang="en-US" sz="1100" b="1" dirty="0">
                <a:solidFill>
                  <a:srgbClr val="10B981"/>
                </a:solidFill>
              </a:rPr>
              <a:t>GitHub Actions CI/CD</a:t>
            </a:r>
            <a:endParaRPr lang="en-US" sz="1100" dirty="0"/>
          </a:p>
        </p:txBody>
      </p:sp>
      <p:sp>
        <p:nvSpPr>
          <p:cNvPr id="38" name="Text 36"/>
          <p:cNvSpPr/>
          <p:nvPr/>
        </p:nvSpPr>
        <p:spPr>
          <a:xfrm>
            <a:off x="4709160" y="4023360"/>
            <a:ext cx="3749040" cy="438912"/>
          </a:xfrm>
          <a:prstGeom prst="rect">
            <a:avLst/>
          </a:prstGeom>
          <a:noFill/>
          <a:ln/>
        </p:spPr>
        <p:txBody>
          <a:bodyPr wrap="square" rtlCol="0" anchor="t"/>
          <a:lstStyle/>
          <a:p>
            <a:pPr indent="0" marL="0">
              <a:buNone/>
            </a:pPr>
            <a:r>
              <a:rPr lang="en-US" sz="900" dirty="0">
                <a:solidFill>
                  <a:srgbClr val="CBD5E1"/>
                </a:solidFill>
              </a:rPr>
              <a:t>Already our CI/CD pipeline. Build, test, deploy — same workflow as existing services.</a:t>
            </a:r>
            <a:endParaRPr lang="en-US" sz="900" dirty="0"/>
          </a:p>
        </p:txBody>
      </p:sp>
      <p:sp>
        <p:nvSpPr>
          <p:cNvPr id="39" name="Text 37"/>
          <p:cNvSpPr/>
          <p:nvPr/>
        </p:nvSpPr>
        <p:spPr>
          <a:xfrm>
            <a:off x="457200" y="4709160"/>
            <a:ext cx="8229600" cy="274320"/>
          </a:xfrm>
          <a:prstGeom prst="rect">
            <a:avLst/>
          </a:prstGeom>
          <a:noFill/>
          <a:ln/>
        </p:spPr>
        <p:txBody>
          <a:bodyPr wrap="square" rtlCol="0" anchor="ctr"/>
          <a:lstStyle/>
          <a:p>
            <a:pPr indent="0" marL="0">
              <a:buNone/>
            </a:pPr>
            <a:r>
              <a:rPr lang="en-US" sz="1000" b="1" dirty="0">
                <a:solidFill>
                  <a:srgbClr val="0F6E56"/>
                </a:solidFill>
              </a:rPr>
              <a:t>No new technology. No new language. No vendor lock-in. Built entirely on what we already know and use.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9C1D26"/>
          </a:solidFill>
          <a:ln/>
        </p:spPr>
      </p:sp>
      <p:sp>
        <p:nvSpPr>
          <p:cNvPr id="3" name="Text 1"/>
          <p:cNvSpPr/>
          <p:nvPr/>
        </p:nvSpPr>
        <p:spPr>
          <a:xfrm>
            <a:off x="7132320" y="137160"/>
            <a:ext cx="1828800" cy="274320"/>
          </a:xfrm>
          <a:prstGeom prst="rect">
            <a:avLst/>
          </a:prstGeom>
          <a:noFill/>
          <a:ln/>
        </p:spPr>
        <p:txBody>
          <a:bodyPr wrap="square" rtlCol="0" anchor="ctr"/>
          <a:lstStyle/>
          <a:p>
            <a:pPr algn="r" indent="0" marL="0">
              <a:buNone/>
            </a:pPr>
            <a:r>
              <a:rPr lang="en-US" sz="900" b="1" dirty="0">
                <a:solidFill>
                  <a:srgbClr val="9C1D26"/>
                </a:solidFill>
              </a:rPr>
              <a:t>IDFC </a:t>
            </a:r>
            <a:pPr algn="r" indent="0" marL="0">
              <a:buNone/>
            </a:pPr>
            <a:r>
              <a:rPr lang="en-US" sz="900" b="1" dirty="0">
                <a:solidFill>
                  <a:srgbClr val="9C1D26"/>
                </a:solidFill>
              </a:rPr>
              <a:t>FIRST </a:t>
            </a:r>
            <a:pPr algn="r" indent="0" marL="0">
              <a:buNone/>
            </a:pPr>
            <a:r>
              <a:rPr lang="en-US" sz="900" dirty="0">
                <a:solidFill>
                  <a:srgbClr val="666666"/>
                </a:solidFill>
              </a:rPr>
              <a:t>Bank</a:t>
            </a:r>
            <a:endParaRPr lang="en-US" sz="900" dirty="0"/>
          </a:p>
        </p:txBody>
      </p:sp>
      <p:sp>
        <p:nvSpPr>
          <p:cNvPr id="4" name="Text 2"/>
          <p:cNvSpPr/>
          <p:nvPr/>
        </p:nvSpPr>
        <p:spPr>
          <a:xfrm>
            <a:off x="8503920" y="4754880"/>
            <a:ext cx="457200" cy="274320"/>
          </a:xfrm>
          <a:prstGeom prst="rect">
            <a:avLst/>
          </a:prstGeom>
          <a:noFill/>
          <a:ln/>
        </p:spPr>
        <p:txBody>
          <a:bodyPr wrap="square" rtlCol="0" anchor="ctr"/>
          <a:lstStyle/>
          <a:p>
            <a:pPr algn="r" indent="0" marL="0">
              <a:buNone/>
            </a:pPr>
            <a:r>
              <a:rPr lang="en-US" sz="800" dirty="0">
                <a:solidFill>
                  <a:srgbClr val="AAAAAA"/>
                </a:solidFill>
              </a:rPr>
              <a:t>10</a:t>
            </a:r>
            <a:endParaRPr lang="en-US" sz="800" dirty="0"/>
          </a:p>
        </p:txBody>
      </p:sp>
      <p:sp>
        <p:nvSpPr>
          <p:cNvPr id="5" name="Text 3"/>
          <p:cNvSpPr/>
          <p:nvPr/>
        </p:nvSpPr>
        <p:spPr>
          <a:xfrm>
            <a:off x="548640" y="365760"/>
            <a:ext cx="7315200" cy="457200"/>
          </a:xfrm>
          <a:prstGeom prst="rect">
            <a:avLst/>
          </a:prstGeom>
          <a:noFill/>
          <a:ln/>
        </p:spPr>
        <p:txBody>
          <a:bodyPr wrap="square" rtlCol="0" anchor="ctr"/>
          <a:lstStyle/>
          <a:p>
            <a:pPr indent="0" marL="0">
              <a:buNone/>
            </a:pPr>
            <a:r>
              <a:rPr lang="en-US" sz="2400" b="1" dirty="0">
                <a:solidFill>
                  <a:srgbClr val="1B1B2F"/>
                </a:solidFill>
              </a:rPr>
              <a:t>Current Build Status</a:t>
            </a:r>
            <a:endParaRPr lang="en-US" sz="2400" dirty="0"/>
          </a:p>
        </p:txBody>
      </p:sp>
      <p:sp>
        <p:nvSpPr>
          <p:cNvPr id="6" name="Shape 4"/>
          <p:cNvSpPr/>
          <p:nvPr/>
        </p:nvSpPr>
        <p:spPr>
          <a:xfrm>
            <a:off x="548640" y="777240"/>
            <a:ext cx="731520" cy="36576"/>
          </a:xfrm>
          <a:prstGeom prst="rect">
            <a:avLst/>
          </a:prstGeom>
          <a:solidFill>
            <a:srgbClr val="9C1D26"/>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2926080"/>
                <a:gridCol w="1097280"/>
                <a:gridCol w="3749040"/>
              </a:tblGrid>
              <a:tr h="0">
                <a:tc>
                  <a:txBody>
                    <a:bodyPr/>
                    <a:lstStyle/>
                    <a:p>
                      <a:pPr indent="0" marL="0">
                        <a:buNone/>
                      </a:pPr>
                      <a:r>
                        <a:rPr lang="en-US" sz="1000" b="1" dirty="0">
                          <a:solidFill>
                            <a:srgbClr val="FFFFFF"/>
                          </a:solidFill>
                        </a:rPr>
                        <a:t>Component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9C1D26"/>
                    </a:solidFill>
                  </a:tcPr>
                </a:tc>
                <a:tc>
                  <a:txBody>
                    <a:bodyPr/>
                    <a:lstStyle/>
                    <a:p>
                      <a:pPr indent="0" marL="0">
                        <a:buNone/>
                      </a:pPr>
                      <a:r>
                        <a:rPr lang="en-US" sz="1000" b="1" dirty="0">
                          <a:solidFill>
                            <a:srgbClr val="FFFFFF"/>
                          </a:solidFill>
                        </a:rPr>
                        <a:t>Status</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9C1D26"/>
                    </a:solidFill>
                  </a:tcPr>
                </a:tc>
                <a:tc>
                  <a:txBody>
                    <a:bodyPr/>
                    <a:lstStyle/>
                    <a:p>
                      <a:pPr indent="0" marL="0">
                        <a:buNone/>
                      </a:pPr>
                      <a:r>
                        <a:rPr lang="en-US" sz="1000" b="1" dirty="0">
                          <a:solidFill>
                            <a:srgbClr val="FFFFFF"/>
                          </a:solidFill>
                        </a:rPr>
                        <a:t>Safety Implication</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9C1D26"/>
                    </a:solidFill>
                  </a:tcPr>
                </a:tc>
              </a:tr>
              <a:tr h="0">
                <a:tc>
                  <a:txBody>
                    <a:bodyPr/>
                    <a:lstStyle/>
                    <a:p>
                      <a:pPr indent="0" marL="0">
                        <a:buNone/>
                      </a:pPr>
                      <a:r>
                        <a:rPr lang="en-US" sz="1000" dirty="0">
                          <a:solidFill>
                            <a:srgbClr val="000000"/>
                          </a:solidFill>
                        </a:rPr>
                        <a:t>Agentic Vault (4 services)</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0F6E56"/>
                          </a:solidFill>
                        </a:rPr>
                        <a:t>✓ 100%</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Complete governance layer operational</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indent="0" marL="0">
                        <a:buNone/>
                      </a:pPr>
                      <a:r>
                        <a:rPr lang="en-US" sz="1000" dirty="0">
                          <a:solidFill>
                            <a:srgbClr val="000000"/>
                          </a:solidFill>
                        </a:rPr>
                        <a:t>AI Orchestrator + LLM integration</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0F6E56"/>
                          </a:solidFill>
                        </a:rPr>
                        <a:t>✓ 100%</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Real AI (Llama 3.1) with tiered routing</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indent="0" marL="0">
                        <a:buNone/>
                      </a:pPr>
                      <a:r>
                        <a:rPr lang="en-US" sz="1000" dirty="0">
                          <a:solidFill>
                            <a:srgbClr val="000000"/>
                          </a:solidFill>
                        </a:rPr>
                        <a:t>Multi-LLM failover (5 providers)</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0F6E56"/>
                          </a:solidFill>
                        </a:rPr>
                        <a:t>✓ 100%</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No single vendor dependency</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indent="0" marL="0">
                        <a:buNone/>
                      </a:pPr>
                      <a:r>
                        <a:rPr lang="en-US" sz="1000" dirty="0">
                          <a:solidFill>
                            <a:srgbClr val="000000"/>
                          </a:solidFill>
                        </a:rPr>
                        <a:t>Immutable audit trail</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0F6E56"/>
                          </a:solidFill>
                        </a:rPr>
                        <a:t>✓ 100%</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RBI audit-ready, 7-year retention</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indent="0" marL="0">
                        <a:buNone/>
                      </a:pPr>
                      <a:r>
                        <a:rPr lang="en-US" sz="1000" dirty="0">
                          <a:solidFill>
                            <a:srgbClr val="000000"/>
                          </a:solidFill>
                        </a:rPr>
                        <a:t>PII masking (Aadhaar, PAN, Card)</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0F6E56"/>
                          </a:solidFill>
                        </a:rPr>
                        <a:t>✓ 100%</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Zero PII in logs, responses, or audit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indent="0" marL="0">
                        <a:buNone/>
                      </a:pPr>
                      <a:r>
                        <a:rPr lang="en-US" sz="1000" dirty="0">
                          <a:solidFill>
                            <a:srgbClr val="000000"/>
                          </a:solidFill>
                        </a:rPr>
                        <a:t>Infrastructure (K8s, CI/CD, monitoring)</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0F6E56"/>
                          </a:solidFill>
                        </a:rPr>
                        <a:t>✓ 100%</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Production deployment ready</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indent="0" marL="0">
                        <a:buNone/>
                      </a:pPr>
                      <a:r>
                        <a:rPr lang="en-US" sz="1000" dirty="0">
                          <a:solidFill>
                            <a:srgbClr val="000000"/>
                          </a:solidFill>
                        </a:rPr>
                        <a:t>Domain Agents (2 of 7)</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D97706"/>
                          </a:solidFill>
                        </a:rPr>
                        <a:t>▶ 29%</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Account + Card done, 5 follow same pattern</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indent="0" marL="0">
                        <a:buNone/>
                      </a:pPr>
                      <a:r>
                        <a:rPr lang="en-US" sz="1000" dirty="0">
                          <a:solidFill>
                            <a:srgbClr val="000000"/>
                          </a:solidFill>
                        </a:rPr>
                        <a:t>MCP Servers (2 of 12)</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D97706"/>
                          </a:solidFill>
                        </a:rPr>
                        <a:t>▶ 17%</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Core banking + Card done, 10 follow same pattern</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indent="0" marL="0">
                        <a:buNone/>
                      </a:pPr>
                      <a:r>
                        <a:rPr lang="en-US" sz="1000" dirty="0">
                          <a:solidFill>
                            <a:srgbClr val="000000"/>
                          </a:solidFill>
                        </a:rPr>
                        <a:t>Admin Dashboard + 11 widgets</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0F6E56"/>
                          </a:solidFill>
                        </a:rPr>
                        <a:t>✓ 92%</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Monitoring, policy management, audit viewer</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8" name="Text 5"/>
          <p:cNvSpPr/>
          <p:nvPr/>
        </p:nvSpPr>
        <p:spPr>
          <a:xfrm>
            <a:off x="457200" y="4389120"/>
            <a:ext cx="8229600" cy="548640"/>
          </a:xfrm>
          <a:prstGeom prst="rect">
            <a:avLst/>
          </a:prstGeom>
          <a:noFill/>
          <a:ln/>
        </p:spPr>
        <p:txBody>
          <a:bodyPr wrap="square" rtlCol="0" anchor="ctr"/>
          <a:lstStyle/>
          <a:p>
            <a:pPr indent="0" marL="0">
              <a:buNone/>
            </a:pPr>
            <a:r>
              <a:rPr lang="en-US" sz="1000" dirty="0">
                <a:solidFill>
                  <a:srgbClr val="64748B"/>
                </a:solidFill>
              </a:rPr>
              <a:t>The safety-critical components (Vault, audit, PII masking, AI integration) are 100% complete. The remaining work is building more agents and connectors following the same proven, governed pattern.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1B2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9C1D26"/>
          </a:solidFill>
          <a:ln/>
        </p:spPr>
      </p:sp>
      <p:sp>
        <p:nvSpPr>
          <p:cNvPr id="3" name="Text 1"/>
          <p:cNvSpPr/>
          <p:nvPr/>
        </p:nvSpPr>
        <p:spPr>
          <a:xfrm>
            <a:off x="7132320" y="137160"/>
            <a:ext cx="1828800" cy="274320"/>
          </a:xfrm>
          <a:prstGeom prst="rect">
            <a:avLst/>
          </a:prstGeom>
          <a:noFill/>
          <a:ln/>
        </p:spPr>
        <p:txBody>
          <a:bodyPr wrap="square" rtlCol="0" anchor="ctr"/>
          <a:lstStyle/>
          <a:p>
            <a:pPr algn="r" indent="0" marL="0">
              <a:buNone/>
            </a:pPr>
            <a:r>
              <a:rPr lang="en-US" sz="900" b="1" dirty="0">
                <a:solidFill>
                  <a:srgbClr val="9C1D26"/>
                </a:solidFill>
              </a:rPr>
              <a:t>IDFC </a:t>
            </a:r>
            <a:pPr algn="r" indent="0" marL="0">
              <a:buNone/>
            </a:pPr>
            <a:r>
              <a:rPr lang="en-US" sz="900" b="1" dirty="0">
                <a:solidFill>
                  <a:srgbClr val="9C1D26"/>
                </a:solidFill>
              </a:rPr>
              <a:t>FIRST </a:t>
            </a:r>
            <a:pPr algn="r" indent="0" marL="0">
              <a:buNone/>
            </a:pPr>
            <a:r>
              <a:rPr lang="en-US" sz="900" dirty="0">
                <a:solidFill>
                  <a:srgbClr val="888888"/>
                </a:solidFill>
              </a:rPr>
              <a:t>Bank</a:t>
            </a:r>
            <a:endParaRPr lang="en-US" sz="900" dirty="0"/>
          </a:p>
        </p:txBody>
      </p:sp>
      <p:sp>
        <p:nvSpPr>
          <p:cNvPr id="4" name="Text 2"/>
          <p:cNvSpPr/>
          <p:nvPr/>
        </p:nvSpPr>
        <p:spPr>
          <a:xfrm>
            <a:off x="8503920" y="4754880"/>
            <a:ext cx="457200" cy="274320"/>
          </a:xfrm>
          <a:prstGeom prst="rect">
            <a:avLst/>
          </a:prstGeom>
          <a:noFill/>
          <a:ln/>
        </p:spPr>
        <p:txBody>
          <a:bodyPr wrap="square" rtlCol="0" anchor="ctr"/>
          <a:lstStyle/>
          <a:p>
            <a:pPr algn="r" indent="0" marL="0">
              <a:buNone/>
            </a:pPr>
            <a:r>
              <a:rPr lang="en-US" sz="800" dirty="0">
                <a:solidFill>
                  <a:srgbClr val="555555"/>
                </a:solidFill>
              </a:rPr>
              <a:t>11</a:t>
            </a:r>
            <a:endParaRPr lang="en-US" sz="800" dirty="0"/>
          </a:p>
        </p:txBody>
      </p:sp>
      <p:sp>
        <p:nvSpPr>
          <p:cNvPr id="5" name="Text 3"/>
          <p:cNvSpPr/>
          <p:nvPr/>
        </p:nvSpPr>
        <p:spPr>
          <a:xfrm>
            <a:off x="548640" y="365760"/>
            <a:ext cx="7315200" cy="457200"/>
          </a:xfrm>
          <a:prstGeom prst="rect">
            <a:avLst/>
          </a:prstGeom>
          <a:noFill/>
          <a:ln/>
        </p:spPr>
        <p:txBody>
          <a:bodyPr wrap="square" rtlCol="0" anchor="ctr"/>
          <a:lstStyle/>
          <a:p>
            <a:pPr indent="0" marL="0">
              <a:buNone/>
            </a:pPr>
            <a:r>
              <a:rPr lang="en-US" sz="2600" b="1" dirty="0">
                <a:solidFill>
                  <a:srgbClr val="FFFFFF"/>
                </a:solidFill>
              </a:rPr>
              <a:t>No Indian Bank Has This</a:t>
            </a:r>
            <a:endParaRPr lang="en-US" sz="2600" dirty="0"/>
          </a:p>
        </p:txBody>
      </p:sp>
      <p:sp>
        <p:nvSpPr>
          <p:cNvPr id="6" name="Shape 4"/>
          <p:cNvSpPr/>
          <p:nvPr/>
        </p:nvSpPr>
        <p:spPr>
          <a:xfrm>
            <a:off x="548640" y="804672"/>
            <a:ext cx="731520" cy="36576"/>
          </a:xfrm>
          <a:prstGeom prst="rect">
            <a:avLst/>
          </a:prstGeom>
          <a:solidFill>
            <a:srgbClr val="9C1D26"/>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371600"/>
                <a:gridCol w="1828800"/>
                <a:gridCol w="1188720"/>
                <a:gridCol w="1371600"/>
                <a:gridCol w="1188720"/>
                <a:gridCol w="1005840"/>
              </a:tblGrid>
              <a:tr h="0">
                <a:tc>
                  <a:txBody>
                    <a:bodyPr/>
                    <a:lstStyle/>
                    <a:p>
                      <a:pPr indent="0" marL="0">
                        <a:buNone/>
                      </a:pPr>
                      <a:r>
                        <a:rPr lang="en-US" sz="1100" b="1" dirty="0">
                          <a:solidFill>
                            <a:srgbClr val="FFFFFF"/>
                          </a:solidFill>
                        </a:rPr>
                        <a:t>Bank</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9C1D26"/>
                    </a:solidFill>
                  </a:tcPr>
                </a:tc>
                <a:tc>
                  <a:txBody>
                    <a:bodyPr/>
                    <a:lstStyle/>
                    <a:p>
                      <a:pPr indent="0" marL="0">
                        <a:buNone/>
                      </a:pPr>
                      <a:r>
                        <a:rPr lang="en-US" sz="1100" b="1" dirty="0">
                          <a:solidFill>
                            <a:srgbClr val="FFFFFF"/>
                          </a:solidFill>
                        </a:rPr>
                        <a:t>Current AI</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9C1D26"/>
                    </a:solidFill>
                  </a:tcPr>
                </a:tc>
                <a:tc>
                  <a:txBody>
                    <a:bodyPr/>
                    <a:lstStyle/>
                    <a:p>
                      <a:pPr indent="0" marL="0">
                        <a:buNone/>
                      </a:pPr>
                      <a:r>
                        <a:rPr lang="en-US" sz="1100" b="1" dirty="0">
                          <a:solidFill>
                            <a:srgbClr val="FFFFFF"/>
                          </a:solidFill>
                        </a:rPr>
                        <a:t>MCP Servers</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9C1D26"/>
                    </a:solidFill>
                  </a:tcPr>
                </a:tc>
                <a:tc>
                  <a:txBody>
                    <a:bodyPr/>
                    <a:lstStyle/>
                    <a:p>
                      <a:pPr indent="0" marL="0">
                        <a:buNone/>
                      </a:pPr>
                      <a:r>
                        <a:rPr lang="en-US" sz="1100" b="1" dirty="0">
                          <a:solidFill>
                            <a:srgbClr val="FFFFFF"/>
                          </a:solidFill>
                        </a:rPr>
                        <a:t>Vault Governance</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9C1D26"/>
                    </a:solidFill>
                  </a:tcPr>
                </a:tc>
                <a:tc>
                  <a:txBody>
                    <a:bodyPr/>
                    <a:lstStyle/>
                    <a:p>
                      <a:pPr indent="0" marL="0">
                        <a:buNone/>
                      </a:pPr>
                      <a:r>
                        <a:rPr lang="en-US" sz="1100" b="1" dirty="0">
                          <a:solidFill>
                            <a:srgbClr val="FFFFFF"/>
                          </a:solidFill>
                        </a:rPr>
                        <a:t>Multi-Agent</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9C1D26"/>
                    </a:solidFill>
                  </a:tcPr>
                </a:tc>
                <a:tc>
                  <a:txBody>
                    <a:bodyPr/>
                    <a:lstStyle/>
                    <a:p>
                      <a:pPr indent="0" marL="0">
                        <a:buNone/>
                      </a:pPr>
                      <a:r>
                        <a:rPr lang="en-US" sz="1100" b="1" dirty="0">
                          <a:solidFill>
                            <a:srgbClr val="FFFFFF"/>
                          </a:solidFill>
                        </a:rPr>
                        <a:t>Voice AI</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9C1D26"/>
                    </a:solidFill>
                  </a:tcPr>
                </a:tc>
              </a:tr>
              <a:tr h="0">
                <a:tc>
                  <a:txBody>
                    <a:bodyPr/>
                    <a:lstStyle/>
                    <a:p>
                      <a:pPr indent="0" marL="0">
                        <a:buNone/>
                      </a:pPr>
                      <a:r>
                        <a:rPr lang="en-US" sz="1100" dirty="0">
                          <a:solidFill>
                            <a:srgbClr val="000000"/>
                          </a:solidFill>
                        </a:rPr>
                        <a:t>HDFC Bank</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c>
                  <a:txBody>
                    <a:bodyPr/>
                    <a:lstStyle/>
                    <a:p>
                      <a:pPr indent="0" marL="0">
                        <a:buNone/>
                      </a:pPr>
                      <a:r>
                        <a:rPr lang="en-US" sz="1100" dirty="0">
                          <a:solidFill>
                            <a:srgbClr val="000000"/>
                          </a:solidFill>
                        </a:rPr>
                        <a:t>EVA chatbot</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c>
                  <a:txBody>
                    <a:bodyPr/>
                    <a:lstStyle/>
                    <a:p>
                      <a:pPr algn="ctr" indent="0" marL="0">
                        <a:buNone/>
                      </a:pPr>
                      <a:r>
                        <a:rPr lang="en-US" sz="1100" b="1" dirty="0">
                          <a:solidFill>
                            <a:srgbClr val="DC2626"/>
                          </a:solidFill>
                        </a:rPr>
                        <a:t>No</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c>
                  <a:txBody>
                    <a:bodyPr/>
                    <a:lstStyle/>
                    <a:p>
                      <a:pPr algn="ctr" indent="0" marL="0">
                        <a:buNone/>
                      </a:pPr>
                      <a:r>
                        <a:rPr lang="en-US" sz="1100" b="1" dirty="0">
                          <a:solidFill>
                            <a:srgbClr val="DC2626"/>
                          </a:solidFill>
                        </a:rPr>
                        <a:t>No</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c>
                  <a:txBody>
                    <a:bodyPr/>
                    <a:lstStyle/>
                    <a:p>
                      <a:pPr algn="ctr" indent="0" marL="0">
                        <a:buNone/>
                      </a:pPr>
                      <a:r>
                        <a:rPr lang="en-US" sz="1100" b="1" dirty="0">
                          <a:solidFill>
                            <a:srgbClr val="DC2626"/>
                          </a:solidFill>
                        </a:rPr>
                        <a:t>No</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c>
                  <a:txBody>
                    <a:bodyPr/>
                    <a:lstStyle/>
                    <a:p>
                      <a:pPr algn="ctr" indent="0" marL="0">
                        <a:buNone/>
                      </a:pPr>
                      <a:r>
                        <a:rPr lang="en-US" sz="1100" b="1" dirty="0">
                          <a:solidFill>
                            <a:srgbClr val="DC2626"/>
                          </a:solidFill>
                        </a:rPr>
                        <a:t>No</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r>
              <a:tr h="0">
                <a:tc>
                  <a:txBody>
                    <a:bodyPr/>
                    <a:lstStyle/>
                    <a:p>
                      <a:pPr indent="0" marL="0">
                        <a:buNone/>
                      </a:pPr>
                      <a:r>
                        <a:rPr lang="en-US" sz="1100" dirty="0">
                          <a:solidFill>
                            <a:srgbClr val="000000"/>
                          </a:solidFill>
                        </a:rPr>
                        <a:t>ICICI Bank</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c>
                  <a:txBody>
                    <a:bodyPr/>
                    <a:lstStyle/>
                    <a:p>
                      <a:pPr indent="0" marL="0">
                        <a:buNone/>
                      </a:pPr>
                      <a:r>
                        <a:rPr lang="en-US" sz="1100" dirty="0">
                          <a:solidFill>
                            <a:srgbClr val="000000"/>
                          </a:solidFill>
                        </a:rPr>
                        <a:t>iPal chatbot</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c>
                  <a:txBody>
                    <a:bodyPr/>
                    <a:lstStyle/>
                    <a:p>
                      <a:pPr algn="ctr" indent="0" marL="0">
                        <a:buNone/>
                      </a:pPr>
                      <a:r>
                        <a:rPr lang="en-US" sz="1100" b="1" dirty="0">
                          <a:solidFill>
                            <a:srgbClr val="DC2626"/>
                          </a:solidFill>
                        </a:rPr>
                        <a:t>No</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c>
                  <a:txBody>
                    <a:bodyPr/>
                    <a:lstStyle/>
                    <a:p>
                      <a:pPr algn="ctr" indent="0" marL="0">
                        <a:buNone/>
                      </a:pPr>
                      <a:r>
                        <a:rPr lang="en-US" sz="1100" b="1" dirty="0">
                          <a:solidFill>
                            <a:srgbClr val="DC2626"/>
                          </a:solidFill>
                        </a:rPr>
                        <a:t>No</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c>
                  <a:txBody>
                    <a:bodyPr/>
                    <a:lstStyle/>
                    <a:p>
                      <a:pPr algn="ctr" indent="0" marL="0">
                        <a:buNone/>
                      </a:pPr>
                      <a:r>
                        <a:rPr lang="en-US" sz="1100" b="1" dirty="0">
                          <a:solidFill>
                            <a:srgbClr val="DC2626"/>
                          </a:solidFill>
                        </a:rPr>
                        <a:t>No</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c>
                  <a:txBody>
                    <a:bodyPr/>
                    <a:lstStyle/>
                    <a:p>
                      <a:pPr algn="ctr" indent="0" marL="0">
                        <a:buNone/>
                      </a:pPr>
                      <a:r>
                        <a:rPr lang="en-US" sz="1100" b="1" dirty="0">
                          <a:solidFill>
                            <a:srgbClr val="DC2626"/>
                          </a:solidFill>
                        </a:rPr>
                        <a:t>No</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r>
              <a:tr h="0">
                <a:tc>
                  <a:txBody>
                    <a:bodyPr/>
                    <a:lstStyle/>
                    <a:p>
                      <a:pPr indent="0" marL="0">
                        <a:buNone/>
                      </a:pPr>
                      <a:r>
                        <a:rPr lang="en-US" sz="1100" dirty="0">
                          <a:solidFill>
                            <a:srgbClr val="000000"/>
                          </a:solidFill>
                        </a:rPr>
                        <a:t>SBI</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c>
                  <a:txBody>
                    <a:bodyPr/>
                    <a:lstStyle/>
                    <a:p>
                      <a:pPr indent="0" marL="0">
                        <a:buNone/>
                      </a:pPr>
                      <a:r>
                        <a:rPr lang="en-US" sz="1100" dirty="0">
                          <a:solidFill>
                            <a:srgbClr val="000000"/>
                          </a:solidFill>
                        </a:rPr>
                        <a:t>SIA chatbot</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c>
                  <a:txBody>
                    <a:bodyPr/>
                    <a:lstStyle/>
                    <a:p>
                      <a:pPr algn="ctr" indent="0" marL="0">
                        <a:buNone/>
                      </a:pPr>
                      <a:r>
                        <a:rPr lang="en-US" sz="1100" b="1" dirty="0">
                          <a:solidFill>
                            <a:srgbClr val="DC2626"/>
                          </a:solidFill>
                        </a:rPr>
                        <a:t>No</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c>
                  <a:txBody>
                    <a:bodyPr/>
                    <a:lstStyle/>
                    <a:p>
                      <a:pPr algn="ctr" indent="0" marL="0">
                        <a:buNone/>
                      </a:pPr>
                      <a:r>
                        <a:rPr lang="en-US" sz="1100" b="1" dirty="0">
                          <a:solidFill>
                            <a:srgbClr val="DC2626"/>
                          </a:solidFill>
                        </a:rPr>
                        <a:t>No</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c>
                  <a:txBody>
                    <a:bodyPr/>
                    <a:lstStyle/>
                    <a:p>
                      <a:pPr algn="ctr" indent="0" marL="0">
                        <a:buNone/>
                      </a:pPr>
                      <a:r>
                        <a:rPr lang="en-US" sz="1100" b="1" dirty="0">
                          <a:solidFill>
                            <a:srgbClr val="DC2626"/>
                          </a:solidFill>
                        </a:rPr>
                        <a:t>No</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c>
                  <a:txBody>
                    <a:bodyPr/>
                    <a:lstStyle/>
                    <a:p>
                      <a:pPr algn="ctr" indent="0" marL="0">
                        <a:buNone/>
                      </a:pPr>
                      <a:r>
                        <a:rPr lang="en-US" sz="1100" b="1" dirty="0">
                          <a:solidFill>
                            <a:srgbClr val="DC2626"/>
                          </a:solidFill>
                        </a:rPr>
                        <a:t>No</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r>
              <a:tr h="0">
                <a:tc>
                  <a:txBody>
                    <a:bodyPr/>
                    <a:lstStyle/>
                    <a:p>
                      <a:pPr indent="0" marL="0">
                        <a:buNone/>
                      </a:pPr>
                      <a:r>
                        <a:rPr lang="en-US" sz="1100" dirty="0">
                          <a:solidFill>
                            <a:srgbClr val="000000"/>
                          </a:solidFill>
                        </a:rPr>
                        <a:t>Axis Bank</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c>
                  <a:txBody>
                    <a:bodyPr/>
                    <a:lstStyle/>
                    <a:p>
                      <a:pPr indent="0" marL="0">
                        <a:buNone/>
                      </a:pPr>
                      <a:r>
                        <a:rPr lang="en-US" sz="1100" dirty="0">
                          <a:solidFill>
                            <a:srgbClr val="000000"/>
                          </a:solidFill>
                        </a:rPr>
                        <a:t>AHA! chatbot</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c>
                  <a:txBody>
                    <a:bodyPr/>
                    <a:lstStyle/>
                    <a:p>
                      <a:pPr algn="ctr" indent="0" marL="0">
                        <a:buNone/>
                      </a:pPr>
                      <a:r>
                        <a:rPr lang="en-US" sz="1100" b="1" dirty="0">
                          <a:solidFill>
                            <a:srgbClr val="DC2626"/>
                          </a:solidFill>
                        </a:rPr>
                        <a:t>No</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c>
                  <a:txBody>
                    <a:bodyPr/>
                    <a:lstStyle/>
                    <a:p>
                      <a:pPr algn="ctr" indent="0" marL="0">
                        <a:buNone/>
                      </a:pPr>
                      <a:r>
                        <a:rPr lang="en-US" sz="1100" b="1" dirty="0">
                          <a:solidFill>
                            <a:srgbClr val="DC2626"/>
                          </a:solidFill>
                        </a:rPr>
                        <a:t>No</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c>
                  <a:txBody>
                    <a:bodyPr/>
                    <a:lstStyle/>
                    <a:p>
                      <a:pPr algn="ctr" indent="0" marL="0">
                        <a:buNone/>
                      </a:pPr>
                      <a:r>
                        <a:rPr lang="en-US" sz="1100" b="1" dirty="0">
                          <a:solidFill>
                            <a:srgbClr val="DC2626"/>
                          </a:solidFill>
                        </a:rPr>
                        <a:t>No</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c>
                  <a:txBody>
                    <a:bodyPr/>
                    <a:lstStyle/>
                    <a:p>
                      <a:pPr algn="ctr" indent="0" marL="0">
                        <a:buNone/>
                      </a:pPr>
                      <a:r>
                        <a:rPr lang="en-US" sz="1100" b="1" dirty="0">
                          <a:solidFill>
                            <a:srgbClr val="DC2626"/>
                          </a:solidFill>
                        </a:rPr>
                        <a:t>No</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r>
              <a:tr h="0">
                <a:tc>
                  <a:txBody>
                    <a:bodyPr/>
                    <a:lstStyle/>
                    <a:p>
                      <a:pPr indent="0" marL="0">
                        <a:buNone/>
                      </a:pPr>
                      <a:r>
                        <a:rPr lang="en-US" sz="1100" b="1" dirty="0">
                          <a:solidFill>
                            <a:srgbClr val="0F6E56"/>
                          </a:solidFill>
                        </a:rPr>
                        <a:t>IDFC FIRST</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c>
                  <a:txBody>
                    <a:bodyPr/>
                    <a:lstStyle/>
                    <a:p>
                      <a:pPr indent="0" marL="0">
                        <a:buNone/>
                      </a:pPr>
                      <a:r>
                        <a:rPr lang="en-US" sz="1100" b="1" dirty="0">
                          <a:solidFill>
                            <a:srgbClr val="0F6E56"/>
                          </a:solidFill>
                        </a:rPr>
                        <a:t>AI Agent Platform</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c>
                  <a:txBody>
                    <a:bodyPr/>
                    <a:lstStyle/>
                    <a:p>
                      <a:pPr algn="ctr" indent="0" marL="0">
                        <a:buNone/>
                      </a:pPr>
                      <a:r>
                        <a:rPr lang="en-US" sz="1100" b="1" dirty="0">
                          <a:solidFill>
                            <a:srgbClr val="0F6E56"/>
                          </a:solidFill>
                        </a:rPr>
                        <a:t>Yes</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c>
                  <a:txBody>
                    <a:bodyPr/>
                    <a:lstStyle/>
                    <a:p>
                      <a:pPr algn="ctr" indent="0" marL="0">
                        <a:buNone/>
                      </a:pPr>
                      <a:r>
                        <a:rPr lang="en-US" sz="1100" b="1" dirty="0">
                          <a:solidFill>
                            <a:srgbClr val="0F6E56"/>
                          </a:solidFill>
                        </a:rPr>
                        <a:t>Yes</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c>
                  <a:txBody>
                    <a:bodyPr/>
                    <a:lstStyle/>
                    <a:p>
                      <a:pPr algn="ctr" indent="0" marL="0">
                        <a:buNone/>
                      </a:pPr>
                      <a:r>
                        <a:rPr lang="en-US" sz="1100" b="1" dirty="0">
                          <a:solidFill>
                            <a:srgbClr val="0F6E56"/>
                          </a:solidFill>
                        </a:rPr>
                        <a:t>Yes</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c>
                  <a:txBody>
                    <a:bodyPr/>
                    <a:lstStyle/>
                    <a:p>
                      <a:pPr algn="ctr" indent="0" marL="0">
                        <a:buNone/>
                      </a:pPr>
                      <a:r>
                        <a:rPr lang="en-US" sz="1100" b="1" dirty="0">
                          <a:solidFill>
                            <a:srgbClr val="0F6E56"/>
                          </a:solidFill>
                        </a:rPr>
                        <a:t>Yes</a:t>
                      </a:r>
                      <a:endParaRPr lang="en-US" sz="1100" dirty="0"/>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r>
            </a:tbl>
          </a:graphicData>
        </a:graphic>
      </p:graphicFrame>
      <p:sp>
        <p:nvSpPr>
          <p:cNvPr id="8" name="Text 5"/>
          <p:cNvSpPr/>
          <p:nvPr/>
        </p:nvSpPr>
        <p:spPr>
          <a:xfrm>
            <a:off x="457200" y="3291840"/>
            <a:ext cx="1828800" cy="320040"/>
          </a:xfrm>
          <a:prstGeom prst="rect">
            <a:avLst/>
          </a:prstGeom>
          <a:noFill/>
          <a:ln/>
        </p:spPr>
        <p:txBody>
          <a:bodyPr wrap="square" rtlCol="0" anchor="ctr"/>
          <a:lstStyle/>
          <a:p>
            <a:pPr indent="0" marL="0">
              <a:buNone/>
            </a:pPr>
            <a:r>
              <a:rPr lang="en-US" sz="1200" b="1" dirty="0">
                <a:solidFill>
                  <a:srgbClr val="FFFFFF"/>
                </a:solidFill>
              </a:rPr>
              <a:t>Global context:</a:t>
            </a:r>
            <a:endParaRPr lang="en-US" sz="1200" dirty="0"/>
          </a:p>
        </p:txBody>
      </p:sp>
      <p:sp>
        <p:nvSpPr>
          <p:cNvPr id="9" name="Text 6"/>
          <p:cNvSpPr/>
          <p:nvPr/>
        </p:nvSpPr>
        <p:spPr>
          <a:xfrm>
            <a:off x="457200" y="3611880"/>
            <a:ext cx="8229600" cy="914400"/>
          </a:xfrm>
          <a:prstGeom prst="rect">
            <a:avLst/>
          </a:prstGeom>
          <a:noFill/>
          <a:ln/>
        </p:spPr>
        <p:txBody>
          <a:bodyPr wrap="square" rtlCol="0" anchor="ctr"/>
          <a:lstStyle/>
          <a:p>
            <a:pPr indent="0" marL="0">
              <a:buNone/>
            </a:pPr>
            <a:r>
              <a:rPr lang="en-US" sz="1100" b="1" dirty="0">
                <a:solidFill>
                  <a:srgbClr val="FBBF24"/>
                </a:solidFill>
              </a:rPr>
              <a:t>Santander: </a:t>
            </a:r>
            <a:pPr indent="0" marL="0">
              <a:buNone/>
            </a:pPr>
            <a:r>
              <a:rPr lang="en-US" sz="1000" dirty="0">
                <a:solidFill>
                  <a:srgbClr val="CBD5E1"/>
                </a:solidFill>
              </a:rPr>
              <a:t>€200M saved in 2024, AI in 40% of contact centre, targeting €1B by 2028</a:t>
            </a:r>
            <a:endParaRPr lang="en-US" sz="1100" dirty="0"/>
          </a:p>
          <a:p>
            <a:pPr indent="0" marL="0">
              <a:buNone/>
            </a:pPr>
            <a:r>
              <a:rPr lang="en-US" sz="1100" b="1" dirty="0">
                <a:solidFill>
                  <a:srgbClr val="FBBF24"/>
                </a:solidFill>
              </a:rPr>
              <a:t>Visa: </a:t>
            </a:r>
            <a:pPr indent="0" marL="0">
              <a:buNone/>
            </a:pPr>
            <a:r>
              <a:rPr lang="en-US" sz="1000" dirty="0">
                <a:solidFill>
                  <a:srgbClr val="CBD5E1"/>
                </a:solidFill>
              </a:rPr>
              <a:t>100+ partners building agentic commerce, hundreds of AI-initiated transactions completed</a:t>
            </a:r>
            <a:endParaRPr lang="en-US" sz="1100" dirty="0"/>
          </a:p>
          <a:p>
            <a:pPr indent="0" marL="0">
              <a:buNone/>
            </a:pPr>
            <a:r>
              <a:rPr lang="en-US" sz="1100" b="1" dirty="0">
                <a:solidFill>
                  <a:srgbClr val="FBBF24"/>
                </a:solidFill>
              </a:rPr>
              <a:t>Grasshopper Bank: </a:t>
            </a:r>
            <a:pPr indent="0" marL="0">
              <a:buNone/>
            </a:pPr>
            <a:r>
              <a:rPr lang="en-US" sz="1000" dirty="0">
                <a:solidFill>
                  <a:srgbClr val="CBD5E1"/>
                </a:solidFill>
              </a:rPr>
              <a:t>First US bank with MCP server — customers query accounts through Claude AI</a:t>
            </a:r>
            <a:endParaRPr lang="en-US" sz="1100" dirty="0"/>
          </a:p>
        </p:txBody>
      </p:sp>
      <p:sp>
        <p:nvSpPr>
          <p:cNvPr id="10" name="Text 7"/>
          <p:cNvSpPr/>
          <p:nvPr/>
        </p:nvSpPr>
        <p:spPr>
          <a:xfrm>
            <a:off x="457200" y="4709160"/>
            <a:ext cx="8229600" cy="274320"/>
          </a:xfrm>
          <a:prstGeom prst="rect">
            <a:avLst/>
          </a:prstGeom>
          <a:noFill/>
          <a:ln/>
        </p:spPr>
        <p:txBody>
          <a:bodyPr wrap="square" rtlCol="0" anchor="ctr"/>
          <a:lstStyle/>
          <a:p>
            <a:pPr indent="0" marL="0">
              <a:buNone/>
            </a:pPr>
            <a:r>
              <a:rPr lang="en-US" sz="1100" b="1" i="1" dirty="0">
                <a:solidFill>
                  <a:srgbClr val="9C1D26"/>
                </a:solidFill>
              </a:rPr>
              <a:t>The question is not whether AI agents will enter banking. The question is whether we lead or follow.</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1B2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9C1D26"/>
          </a:solidFill>
          <a:ln/>
        </p:spPr>
      </p:sp>
      <p:sp>
        <p:nvSpPr>
          <p:cNvPr id="3" name="Shape 1"/>
          <p:cNvSpPr/>
          <p:nvPr/>
        </p:nvSpPr>
        <p:spPr>
          <a:xfrm>
            <a:off x="0" y="5065776"/>
            <a:ext cx="9144000" cy="73152"/>
          </a:xfrm>
          <a:prstGeom prst="rect">
            <a:avLst/>
          </a:prstGeom>
          <a:solidFill>
            <a:srgbClr val="9C1D26"/>
          </a:solidFill>
          <a:ln/>
        </p:spPr>
      </p:sp>
      <p:sp>
        <p:nvSpPr>
          <p:cNvPr id="4" name="Text 2"/>
          <p:cNvSpPr/>
          <p:nvPr/>
        </p:nvSpPr>
        <p:spPr>
          <a:xfrm>
            <a:off x="731520" y="365760"/>
            <a:ext cx="7315200" cy="640080"/>
          </a:xfrm>
          <a:prstGeom prst="rect">
            <a:avLst/>
          </a:prstGeom>
          <a:noFill/>
          <a:ln/>
        </p:spPr>
        <p:txBody>
          <a:bodyPr wrap="square" rtlCol="0" anchor="ctr"/>
          <a:lstStyle/>
          <a:p>
            <a:pPr indent="0" marL="0">
              <a:buNone/>
            </a:pPr>
            <a:r>
              <a:rPr lang="en-US" sz="1400" b="1" spc="600" kern="0" dirty="0">
                <a:solidFill>
                  <a:srgbClr val="9C1D26"/>
                </a:solidFill>
              </a:rPr>
              <a:t>IDFC FIRST Bank</a:t>
            </a:r>
            <a:endParaRPr lang="en-US" sz="1400" dirty="0"/>
          </a:p>
          <a:p>
            <a:pPr indent="0" marL="0">
              <a:buNone/>
            </a:pPr>
            <a:r>
              <a:rPr lang="en-US" sz="1100" dirty="0">
                <a:solidFill>
                  <a:srgbClr val="94A3B8"/>
                </a:solidFill>
              </a:rPr>
              <a:t>AI Agent Platform</a:t>
            </a:r>
            <a:endParaRPr lang="en-US" sz="1400" dirty="0"/>
          </a:p>
        </p:txBody>
      </p:sp>
      <p:sp>
        <p:nvSpPr>
          <p:cNvPr id="5" name="Text 3"/>
          <p:cNvSpPr/>
          <p:nvPr/>
        </p:nvSpPr>
        <p:spPr>
          <a:xfrm>
            <a:off x="731520" y="1371600"/>
            <a:ext cx="7315200" cy="640080"/>
          </a:xfrm>
          <a:prstGeom prst="rect">
            <a:avLst/>
          </a:prstGeom>
          <a:noFill/>
          <a:ln/>
        </p:spPr>
        <p:txBody>
          <a:bodyPr wrap="square" rtlCol="0" anchor="ctr"/>
          <a:lstStyle/>
          <a:p>
            <a:pPr indent="0" marL="0">
              <a:buNone/>
            </a:pPr>
            <a:r>
              <a:rPr lang="en-US" sz="3600" b="1" dirty="0">
                <a:solidFill>
                  <a:srgbClr val="10B981"/>
                </a:solidFill>
              </a:rPr>
              <a:t>Safe.</a:t>
            </a:r>
            <a:endParaRPr lang="en-US" sz="3600" dirty="0"/>
          </a:p>
        </p:txBody>
      </p:sp>
      <p:sp>
        <p:nvSpPr>
          <p:cNvPr id="6" name="Text 4"/>
          <p:cNvSpPr/>
          <p:nvPr/>
        </p:nvSpPr>
        <p:spPr>
          <a:xfrm>
            <a:off x="731520" y="1828800"/>
            <a:ext cx="6400800" cy="365760"/>
          </a:xfrm>
          <a:prstGeom prst="rect">
            <a:avLst/>
          </a:prstGeom>
          <a:noFill/>
          <a:ln/>
        </p:spPr>
        <p:txBody>
          <a:bodyPr wrap="square" rtlCol="0" anchor="ctr"/>
          <a:lstStyle/>
          <a:p>
            <a:pPr indent="0" marL="0">
              <a:buNone/>
            </a:pPr>
            <a:r>
              <a:rPr lang="en-US" sz="1200" dirty="0">
                <a:solidFill>
                  <a:srgbClr val="94A3B8"/>
                </a:solidFill>
              </a:rPr>
              <a:t>Vault governance makes AI compliance architectural, not aspirational.</a:t>
            </a:r>
            <a:endParaRPr lang="en-US" sz="1200" dirty="0"/>
          </a:p>
        </p:txBody>
      </p:sp>
      <p:sp>
        <p:nvSpPr>
          <p:cNvPr id="7" name="Text 5"/>
          <p:cNvSpPr/>
          <p:nvPr/>
        </p:nvSpPr>
        <p:spPr>
          <a:xfrm>
            <a:off x="731520" y="2286000"/>
            <a:ext cx="7315200" cy="640080"/>
          </a:xfrm>
          <a:prstGeom prst="rect">
            <a:avLst/>
          </a:prstGeom>
          <a:noFill/>
          <a:ln/>
        </p:spPr>
        <p:txBody>
          <a:bodyPr wrap="square" rtlCol="0" anchor="ctr"/>
          <a:lstStyle/>
          <a:p>
            <a:pPr indent="0" marL="0">
              <a:buNone/>
            </a:pPr>
            <a:r>
              <a:rPr lang="en-US" sz="3600" b="1" dirty="0">
                <a:solidFill>
                  <a:srgbClr val="F59E0B"/>
                </a:solidFill>
              </a:rPr>
              <a:t>Governed.</a:t>
            </a:r>
            <a:endParaRPr lang="en-US" sz="3600" dirty="0"/>
          </a:p>
        </p:txBody>
      </p:sp>
      <p:sp>
        <p:nvSpPr>
          <p:cNvPr id="8" name="Text 6"/>
          <p:cNvSpPr/>
          <p:nvPr/>
        </p:nvSpPr>
        <p:spPr>
          <a:xfrm>
            <a:off x="731520" y="2743200"/>
            <a:ext cx="6400800" cy="365760"/>
          </a:xfrm>
          <a:prstGeom prst="rect">
            <a:avLst/>
          </a:prstGeom>
          <a:noFill/>
          <a:ln/>
        </p:spPr>
        <p:txBody>
          <a:bodyPr wrap="square" rtlCol="0" anchor="ctr"/>
          <a:lstStyle/>
          <a:p>
            <a:pPr indent="0" marL="0">
              <a:buNone/>
            </a:pPr>
            <a:r>
              <a:rPr lang="en-US" sz="1200" dirty="0">
                <a:solidFill>
                  <a:srgbClr val="94A3B8"/>
                </a:solidFill>
              </a:rPr>
              <a:t>Every action authorized by policy engine, every decision audited for 7 years.</a:t>
            </a:r>
            <a:endParaRPr lang="en-US" sz="1200" dirty="0"/>
          </a:p>
        </p:txBody>
      </p:sp>
      <p:sp>
        <p:nvSpPr>
          <p:cNvPr id="9" name="Text 7"/>
          <p:cNvSpPr/>
          <p:nvPr/>
        </p:nvSpPr>
        <p:spPr>
          <a:xfrm>
            <a:off x="731520" y="3200400"/>
            <a:ext cx="7315200" cy="640080"/>
          </a:xfrm>
          <a:prstGeom prst="rect">
            <a:avLst/>
          </a:prstGeom>
          <a:noFill/>
          <a:ln/>
        </p:spPr>
        <p:txBody>
          <a:bodyPr wrap="square" rtlCol="0" anchor="ctr"/>
          <a:lstStyle/>
          <a:p>
            <a:pPr indent="0" marL="0">
              <a:buNone/>
            </a:pPr>
            <a:r>
              <a:rPr lang="en-US" sz="3600" b="1" dirty="0">
                <a:solidFill>
                  <a:srgbClr val="3B82F6"/>
                </a:solidFill>
              </a:rPr>
              <a:t>Feasible.</a:t>
            </a:r>
            <a:endParaRPr lang="en-US" sz="3600" dirty="0"/>
          </a:p>
        </p:txBody>
      </p:sp>
      <p:sp>
        <p:nvSpPr>
          <p:cNvPr id="10" name="Text 8"/>
          <p:cNvSpPr/>
          <p:nvPr/>
        </p:nvSpPr>
        <p:spPr>
          <a:xfrm>
            <a:off x="731520" y="3657600"/>
            <a:ext cx="6400800" cy="365760"/>
          </a:xfrm>
          <a:prstGeom prst="rect">
            <a:avLst/>
          </a:prstGeom>
          <a:noFill/>
          <a:ln/>
        </p:spPr>
        <p:txBody>
          <a:bodyPr wrap="square" rtlCol="0" anchor="ctr"/>
          <a:lstStyle/>
          <a:p>
            <a:pPr indent="0" marL="0">
              <a:buNone/>
            </a:pPr>
            <a:r>
              <a:rPr lang="en-US" sz="1200" dirty="0">
                <a:solidFill>
                  <a:srgbClr val="94A3B8"/>
                </a:solidFill>
              </a:rPr>
              <a:t>Java 21 + Spring Boot. Same stack, same team. No new technology risk.</a:t>
            </a:r>
            <a:endParaRPr lang="en-US" sz="1200" dirty="0"/>
          </a:p>
        </p:txBody>
      </p:sp>
      <p:sp>
        <p:nvSpPr>
          <p:cNvPr id="11" name="Shape 9"/>
          <p:cNvSpPr/>
          <p:nvPr/>
        </p:nvSpPr>
        <p:spPr>
          <a:xfrm>
            <a:off x="731520" y="4206240"/>
            <a:ext cx="1097280" cy="36576"/>
          </a:xfrm>
          <a:prstGeom prst="rect">
            <a:avLst/>
          </a:prstGeom>
          <a:solidFill>
            <a:srgbClr val="9C1D26"/>
          </a:solidFill>
          <a:ln/>
        </p:spPr>
      </p:sp>
      <p:sp>
        <p:nvSpPr>
          <p:cNvPr id="12" name="Text 10"/>
          <p:cNvSpPr/>
          <p:nvPr/>
        </p:nvSpPr>
        <p:spPr>
          <a:xfrm>
            <a:off x="731520" y="4389120"/>
            <a:ext cx="7315200" cy="320040"/>
          </a:xfrm>
          <a:prstGeom prst="rect">
            <a:avLst/>
          </a:prstGeom>
          <a:noFill/>
          <a:ln/>
        </p:spPr>
        <p:txBody>
          <a:bodyPr wrap="square" rtlCol="0" anchor="ctr"/>
          <a:lstStyle/>
          <a:p>
            <a:pPr indent="0" marL="0">
              <a:buNone/>
            </a:pPr>
            <a:r>
              <a:rPr lang="en-US" sz="1100" dirty="0">
                <a:solidFill>
                  <a:srgbClr val="666666"/>
                </a:solidFill>
              </a:rPr>
              <a:t>10-document BRD suite  |  6 TDD documents  |  Working prototype  |  Ready to scale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Agent Platform - Safe, Governed, Feasible</dc:title>
  <dc:subject>PptxGenJS Presentation</dc:subject>
  <dc:creator>IDFC First Bank</dc:creator>
  <cp:lastModifiedBy>IDFC First Bank</cp:lastModifiedBy>
  <cp:revision>1</cp:revision>
  <dcterms:created xsi:type="dcterms:W3CDTF">2026-04-09T15:28:17Z</dcterms:created>
  <dcterms:modified xsi:type="dcterms:W3CDTF">2026-04-09T15:28:17Z</dcterms:modified>
</cp:coreProperties>
</file>